
<file path=[Content_Types].xml><?xml version="1.0" encoding="utf-8"?>
<Types xmlns="http://schemas.openxmlformats.org/package/2006/content-types">
  <Default Extension="xml" ContentType="application/vnd.openxmlformats-package.core-properties+xml"/>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38d9c44694e4a13" /><Relationship Type="http://schemas.openxmlformats.org/officeDocument/2006/relationships/extended-properties" Target="/docProps/app.xml" Id="Rda7c0c688b8a409c" /><Relationship Type="http://schemas.openxmlformats.org/officeDocument/2006/relationships/officeDocument" Target="/ppt/presentation.xml" Id="Rc4e904d4288b4eda" /></Relationships>
</file>

<file path=ppt/presentation.xml><?xml version="1.0" encoding="utf-8"?>
<p:presentation xmlns:p="http://schemas.openxmlformats.org/presentationml/2006/main">
  <p:sldMasterIdLst>
    <p:sldMasterId xmlns:r="http://schemas.openxmlformats.org/officeDocument/2006/relationships" id="2147483648" r:id="R5db94682708543df"/>
  </p:sldMasterIdLst>
  <p:notesMasterIdLst>
    <p:notesMasterId xmlns:r="http://schemas.openxmlformats.org/officeDocument/2006/relationships" r:id="R71b89373d1194d44"/>
  </p:notesMasterIdLst>
  <p:sldIdLst>
    <p:sldId xmlns:r="http://schemas.openxmlformats.org/officeDocument/2006/relationships" id="256" r:id="R9880ca5d966349bc"/>
    <p:sldId xmlns:r="http://schemas.openxmlformats.org/officeDocument/2006/relationships" id="257" r:id="R657c9bb228c54f49"/>
    <p:sldId xmlns:r="http://schemas.openxmlformats.org/officeDocument/2006/relationships" id="258" r:id="R5ad339e696d4438e"/>
    <p:sldId xmlns:r="http://schemas.openxmlformats.org/officeDocument/2006/relationships" id="259" r:id="R54160abc702a4f52"/>
    <p:sldId xmlns:r="http://schemas.openxmlformats.org/officeDocument/2006/relationships" id="260" r:id="Rbf99100710d54586"/>
    <p:sldId xmlns:r="http://schemas.openxmlformats.org/officeDocument/2006/relationships" id="261" r:id="R5f2cf2d35abc4204"/>
    <p:sldId xmlns:r="http://schemas.openxmlformats.org/officeDocument/2006/relationships" id="262" r:id="Rce3c87089e1f4263"/>
    <p:sldId xmlns:r="http://schemas.openxmlformats.org/officeDocument/2006/relationships" id="263" r:id="Rcca174710c89467e"/>
    <p:sldId xmlns:r="http://schemas.openxmlformats.org/officeDocument/2006/relationships" id="264" r:id="Rb20bc6cb2306459d"/>
    <p:sldId xmlns:r="http://schemas.openxmlformats.org/officeDocument/2006/relationships" id="265" r:id="R273a510106804ef9"/>
    <p:sldId xmlns:r="http://schemas.openxmlformats.org/officeDocument/2006/relationships" id="266" r:id="Rf7933e81595d42da"/>
    <p:sldId xmlns:r="http://schemas.openxmlformats.org/officeDocument/2006/relationships" id="267" r:id="R66a29e15bd044b60"/>
    <p:sldId xmlns:r="http://schemas.openxmlformats.org/officeDocument/2006/relationships" id="268" r:id="R5eae10a2336740b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369c3dade44b69" /><Relationship Type="http://schemas.openxmlformats.org/officeDocument/2006/relationships/slideMaster" Target="/ppt/slideMasters/slideMaster1.xml" Id="R5db94682708543df" /><Relationship Type="http://schemas.openxmlformats.org/officeDocument/2006/relationships/notesMaster" Target="/ppt/notesMasters/notesMaster1.xml" Id="R71b89373d1194d44" /><Relationship Type="http://schemas.openxmlformats.org/officeDocument/2006/relationships/presProps" Target="/ppt/presProps.xml" Id="Rdbccd692cad14073" /><Relationship Type="http://schemas.openxmlformats.org/officeDocument/2006/relationships/tableStyles" Target="/ppt/tableStyles.xml" Id="Ra1e3d5f566474cd7" /><Relationship Type="http://schemas.openxmlformats.org/officeDocument/2006/relationships/slide" Target="/ppt/slides/slide1.xml" Id="R9880ca5d966349bc" /><Relationship Type="http://schemas.openxmlformats.org/officeDocument/2006/relationships/slide" Target="/ppt/slides/slide2.xml" Id="R657c9bb228c54f49" /><Relationship Type="http://schemas.openxmlformats.org/officeDocument/2006/relationships/slide" Target="/ppt/slides/slide3.xml" Id="R5ad339e696d4438e" /><Relationship Type="http://schemas.openxmlformats.org/officeDocument/2006/relationships/slide" Target="/ppt/slides/slide4.xml" Id="R54160abc702a4f52" /><Relationship Type="http://schemas.openxmlformats.org/officeDocument/2006/relationships/slide" Target="/ppt/slides/slide5.xml" Id="Rbf99100710d54586" /><Relationship Type="http://schemas.openxmlformats.org/officeDocument/2006/relationships/slide" Target="/ppt/slides/slide6.xml" Id="R5f2cf2d35abc4204" /><Relationship Type="http://schemas.openxmlformats.org/officeDocument/2006/relationships/slide" Target="/ppt/slides/slide7.xml" Id="Rce3c87089e1f4263" /><Relationship Type="http://schemas.openxmlformats.org/officeDocument/2006/relationships/slide" Target="/ppt/slides/slide8.xml" Id="Rcca174710c89467e" /><Relationship Type="http://schemas.openxmlformats.org/officeDocument/2006/relationships/slide" Target="/ppt/slides/slide9.xml" Id="Rb20bc6cb2306459d" /><Relationship Type="http://schemas.openxmlformats.org/officeDocument/2006/relationships/slide" Target="/ppt/slides/slide10.xml" Id="R273a510106804ef9" /><Relationship Type="http://schemas.openxmlformats.org/officeDocument/2006/relationships/slide" Target="/ppt/slides/slide11.xml" Id="Rf7933e81595d42da" /><Relationship Type="http://schemas.openxmlformats.org/officeDocument/2006/relationships/slide" Target="/ppt/slides/slide12.xml" Id="R66a29e15bd044b60" /><Relationship Type="http://schemas.openxmlformats.org/officeDocument/2006/relationships/slide" Target="/ppt/slides/slide13.xml" Id="R5eae10a2336740b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f389909fe4544a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bbda349c59425e" /><Relationship Type="http://schemas.openxmlformats.org/officeDocument/2006/relationships/notesMaster" Target="/ppt/notesMasters/notesMaster1.xml" Id="R67f10606846d4b05" /></Relationships>
</file>

<file path=ppt/notesSlides/_rels/notesSlide2.xml.rels>&#65279;<?xml version="1.0" encoding="utf-8"?><Relationships xmlns="http://schemas.openxmlformats.org/package/2006/relationships"><Relationship Type="http://schemas.openxmlformats.org/officeDocument/2006/relationships/slide" Target="/ppt/slides/slide2.xml" Id="R01420d9ab9df4195" /><Relationship Type="http://schemas.openxmlformats.org/officeDocument/2006/relationships/notesMaster" Target="/ppt/notesMasters/notesMaster1.xml" Id="Racdfed4e9bb947e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4ec0727f4ad440f" /><Relationship Type="http://schemas.openxmlformats.org/officeDocument/2006/relationships/notesMaster" Target="/ppt/notesMasters/notesMaster1.xml" Id="R44cba72edbbf491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ff622988a741fa" /><Relationship Type="http://schemas.openxmlformats.org/officeDocument/2006/relationships/notesMaster" Target="/ppt/notesMasters/notesMaster1.xml" Id="Rc47a6f03758744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64632398df48a4" /><Relationship Type="http://schemas.openxmlformats.org/officeDocument/2006/relationships/notesMaster" Target="/ppt/notesMasters/notesMaster1.xml" Id="R1e7d3993dcd944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50f6ccdaf1004dc6" /><Relationship Type="http://schemas.openxmlformats.org/officeDocument/2006/relationships/notesMaster" Target="/ppt/notesMasters/notesMaster1.xml" Id="R53a3a95369c345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86570f22da9d45fd" /><Relationship Type="http://schemas.openxmlformats.org/officeDocument/2006/relationships/notesMaster" Target="/ppt/notesMasters/notesMaster1.xml" Id="R5e91ddf166b144aa"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0a3c4095ca4de1" /><Relationship Type="http://schemas.openxmlformats.org/officeDocument/2006/relationships/notesMaster" Target="/ppt/notesMasters/notesMaster1.xml" Id="R37ccdc4e38584f6f" /></Relationships>
</file>

<file path=ppt/notesSlides/_rels/notesSlide9.xml.rels>&#65279;<?xml version="1.0" encoding="utf-8"?><Relationships xmlns="http://schemas.openxmlformats.org/package/2006/relationships"><Relationship Type="http://schemas.openxmlformats.org/officeDocument/2006/relationships/slide" Target="/ppt/slides/slide9.xml" Id="Rad4c40d0d7974194" /><Relationship Type="http://schemas.openxmlformats.org/officeDocument/2006/relationships/notesMaster" Target="/ppt/notesMasters/notesMaster1.xml" Id="R31409c5f320843a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5f13cb35c844854" /><Relationship Type="http://schemas.openxmlformats.org/officeDocument/2006/relationships/notesMaster" Target="/ppt/notesMasters/notesMaster1.xml" Id="Ra2553b1c8c6d405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4897ab6ee564086" /><Relationship Type="http://schemas.openxmlformats.org/officeDocument/2006/relationships/notesMaster" Target="/ppt/notesMasters/notesMaster1.xml" Id="R84f1a3ce5db443c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9c0726c4b72461a" /><Relationship Type="http://schemas.openxmlformats.org/officeDocument/2006/relationships/notesMaster" Target="/ppt/notesMasters/notesMaster1.xml" Id="Rced5fd9ab84641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03fc56d34c94bb6" /><Relationship Type="http://schemas.openxmlformats.org/officeDocument/2006/relationships/notesMaster" Target="/ppt/notesMasters/notesMaster1.xml" Id="R3ad4509222c8473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Markov helps an operations team respond when a supplier event invalidates the production plan. The agent keeps watching, gathers the relevant business context, and prepares a mitigation for the people who own the next action. The example will show allocation and line resequencing while the supplier restriction stays unresolved.</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definition is retained: any event that makes the plan currently being executed impossible to execute as written, and therefore obliges someone to decide quickly what replaces it. The demo uses the export licence suspension affecting Altiplano Rare Earth. That external cause remains unresolved while Markov identifies workable allocation and production changes.</a:t>
            </a:r>
          </a:p>
          <a:p xmlns:a="http://schemas.openxmlformats.org/drawingml/2006/main">
            <a:r>
              <a:t/>
            </a:r>
          </a:p>
          <a:p xmlns:a="http://schemas.openxmlformats.org/drawingml/2006/main">
            <a:r>
              <a:t>Sources:</a:t>
            </a:r>
          </a:p>
          <a:p xmlns:a="http://schemas.openxmlformats.org/drawingml/2006/main">
            <a:r>
              <a:t>Markov 40-hour worked example: frontend/src/operations-demo.js and fixtures/operations-scenario.json.</a:t>
            </a:r>
          </a:p>
          <a:p xmlns:a="http://schemas.openxmlformats.org/drawingml/2006/main">
            <a:r>
              <a:t>https://github.com/andrewchou0/Markovathon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Defense offers a demanding use case because supplier relationships, qualifications, and program schedules can be sensitive. The 300,000 ecosystem estimate covers defense and private-sector suppliers. Brookings discusses incomplete DoD visibility into more than 12,000 small and midsize subcontractors. The consolidation figure refers to aerospace and defense primes, from 51 in 1993 to 5 in 2000, reported by DoD in 2022. The original 100,000-plus figure appears in a 2021 industrial-capabilities graphic reproduced in the 2024 strategy; its scope is not directly comparable with the broad 300,000 estimate.</a:t>
            </a:r>
          </a:p>
          <a:p xmlns:a="http://schemas.openxmlformats.org/drawingml/2006/main">
            <a:r>
              <a:t/>
            </a:r>
          </a:p>
          <a:p xmlns:a="http://schemas.openxmlformats.org/drawingml/2006/main">
            <a:r>
              <a:t>Sources:</a:t>
            </a:r>
          </a:p>
          <a:p xmlns:a="http://schemas.openxmlformats.org/drawingml/2006/main">
            <a:r>
              <a:t>DoD, Defense Industrial Base Cybersecurity Strategy, 2024. Appendix II.</a:t>
            </a:r>
          </a:p>
          <a:p xmlns:a="http://schemas.openxmlformats.org/drawingml/2006/main">
            <a:r>
              <a:t>https://dodcio.defense.gov/Portals/0/Documents/Library/DIB-CS-Strategy.pdf</a:t>
            </a:r>
          </a:p>
          <a:p xmlns:a="http://schemas.openxmlformats.org/drawingml/2006/main">
            <a:r>
              <a:t/>
            </a:r>
          </a:p>
          <a:p xmlns:a="http://schemas.openxmlformats.org/drawingml/2006/main">
            <a:r>
              <a:t>O’Hanlon and Rocha, Brookings, June 20, 2024.</a:t>
            </a:r>
          </a:p>
          <a:p xmlns:a="http://schemas.openxmlformats.org/drawingml/2006/main">
            <a:r>
              <a:t>https://www.brookings.edu/articles/strengthening-americas-defense-industrial-base/</a:t>
            </a:r>
          </a:p>
          <a:p xmlns:a="http://schemas.openxmlformats.org/drawingml/2006/main">
            <a:r>
              <a:t/>
            </a:r>
          </a:p>
          <a:p xmlns:a="http://schemas.openxmlformats.org/drawingml/2006/main">
            <a:r>
              <a:t>DoD, State of Competition within the Defense Industrial Base, February 2022.</a:t>
            </a:r>
          </a:p>
          <a:p xmlns:a="http://schemas.openxmlformats.org/drawingml/2006/main">
            <a:r>
              <a:t>https://media.defense.gov/2022/Feb/15/2002939087/-1/-1/1/STATE-OF-COMPETITION-WITHIN-THE-DEFENSE-INDUSTRIAL-BASE.PDF</a:t>
            </a:r>
          </a:p>
          <a:p xmlns:a="http://schemas.openxmlformats.org/drawingml/2006/main">
            <a:r>
              <a:t/>
            </a:r>
          </a:p>
          <a:p xmlns:a="http://schemas.openxmlformats.org/drawingml/2006/main">
            <a:r>
              <a:t>NDIA, Vital Signs 2022. Defense vendor base about 69,000 in 2016 to 55,000 in 2020.</a:t>
            </a:r>
          </a:p>
          <a:p xmlns:a="http://schemas.openxmlformats.org/drawingml/2006/main">
            <a:r>
              <a:t>https://www.ndia.org/-/media/sites/ndia/policy/vital-signs/2022/vital-signs_2022---web.pdf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Siemens estimates annual unplanned-downtime losses of $1.4 trillion across the world’s 500 largest companies, equal to 11 percent of revenue, up from 8 percent in 2019. Interos 2023 surveyed 750 leaders and reported an average $82 million annual loss from supply-chain disruptions. Interos 2021 surveyed 900 decision makers at organizations with more than $1 billion revenue and reported $184 million average annual disruption-related lost revenue. These are separate populations and are not a basis for Markov customer savings forecasts.</a:t>
            </a:r>
          </a:p>
          <a:p xmlns:a="http://schemas.openxmlformats.org/drawingml/2006/main">
            <a:r>
              <a:t/>
            </a:r>
          </a:p>
          <a:p xmlns:a="http://schemas.openxmlformats.org/drawingml/2006/main">
            <a:r>
              <a:t>Sources:</a:t>
            </a:r>
          </a:p>
          <a:p xmlns:a="http://schemas.openxmlformats.org/drawingml/2006/main">
            <a:r>
              <a:t>Siemens, The True Cost of Downtime, 2024, pp. 2–3 and 11.</a:t>
            </a:r>
          </a:p>
          <a:p xmlns:a="http://schemas.openxmlformats.org/drawingml/2006/main">
            <a:r>
              <a:t>https://assets.new.siemens.com/siemens/assets/api/uuid:1b43afb5-2d07-47f7-9eb7-893fe7d0bc59/TCOD-2024_original.pdf</a:t>
            </a:r>
          </a:p>
          <a:p xmlns:a="http://schemas.openxmlformats.org/drawingml/2006/main">
            <a:r>
              <a:t/>
            </a:r>
          </a:p>
          <a:p xmlns:a="http://schemas.openxmlformats.org/drawingml/2006/main">
            <a:r>
              <a:t>Interos Annual Global Supply Chain Report, 2023. Survey of 750 leaders.</a:t>
            </a:r>
          </a:p>
          <a:p xmlns:a="http://schemas.openxmlformats.org/drawingml/2006/main">
            <a:r>
              <a:t>https://www.interos.ai/blog/press/interos-annual-supply-chain-report-unveils-37m-benefit-to-organizations-taking-swift-action-on-supply-chain-disruption</a:t>
            </a:r>
          </a:p>
          <a:p xmlns:a="http://schemas.openxmlformats.org/drawingml/2006/main">
            <a:r>
              <a:t/>
            </a:r>
          </a:p>
          <a:p xmlns:a="http://schemas.openxmlformats.org/drawingml/2006/main">
            <a:r>
              <a:t>Interos annual risk report press release, June 24, 2021. 900 decision makers at organizations above $1B revenue.</a:t>
            </a:r>
          </a:p>
          <a:p xmlns:a="http://schemas.openxmlformats.org/drawingml/2006/main">
            <a:r>
              <a:t>https://www.globenewswire.com/news-release/2021/06/24/2252326/0/en/New-Study-Shows-Global-Supply-Chain-Disruptions-Cost-Companies-an-Average-184-Million-Annually.html/</a:t>
            </a:r>
          </a:p>
          <a:p xmlns:a="http://schemas.openxmlformats.org/drawingml/2006/main">
            <a:r>
              <a:t/>
            </a:r>
          </a:p>
          <a:p xmlns:a="http://schemas.openxmlformats.org/drawingml/2006/main">
            <a:r>
              <a:t>Sheer Logistics, December 4, 2024, reporting Interos 2023: average four major disruptions per year and approximately $22M per incident.</a:t>
            </a:r>
          </a:p>
          <a:p xmlns:a="http://schemas.openxmlformats.org/drawingml/2006/main">
            <a:r>
              <a:t>https://sheerlogistics.com/blog/supply-chain-disruption/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Siemens reports $2.3 million per hour of unplanned downtime for large automotive plants. The 2024 report also describes an increase in average recovery time from 49 minutes in the 2019 study to 81 minutes in the 2023 study. It cites lost maintenance skills, supply delays, and harder remaining failures. We do not claim that Markov removes all or any measured share of those restoration minutes. Our own worked example uses explicit inventory, orders, rates, and fee assumptions instead. The live counter uses the 2022 automotive downtime rate rounded down to $33,000/min, accruing continuously at $550 per second from elapsed time. It illustrates elapsed cost at that rate, not measured loss at a particular business. HTML resets to zero each time slide 5 is entered and continues indefinitely. The PowerPoint embeds a 300.1-second animated GIF at ten frames per second, repeating in desktop Slide Show, plus editable rate text. PowerPoint web may show only the first frame; use the HTML deck for the live counter.</a:t>
            </a:r>
          </a:p>
          <a:p xmlns:a="http://schemas.openxmlformats.org/drawingml/2006/main">
            <a:r>
              <a:t/>
            </a:r>
          </a:p>
          <a:p xmlns:a="http://schemas.openxmlformats.org/drawingml/2006/main">
            <a:r>
              <a:t>Sources:</a:t>
            </a:r>
          </a:p>
          <a:p xmlns:a="http://schemas.openxmlformats.org/drawingml/2006/main">
            <a:r>
              <a:t>Siemens, The True Cost of Downtime, 2022, p. 6. Automotive downtime about $2M/hour, rounded down to $33,000/minute.</a:t>
            </a:r>
          </a:p>
          <a:p xmlns:a="http://schemas.openxmlformats.org/drawingml/2006/main">
            <a:r>
              <a:t>https://assets.new.siemens.com/siemens/assets/api/uuid%3A3d606495-dbe0-43e4-80b1-d04e27ada920/dics-b10153-00-7600truecostofdowntime2022-144.pdf</a:t>
            </a:r>
          </a:p>
          <a:p xmlns:a="http://schemas.openxmlformats.org/drawingml/2006/main">
            <a:r>
              <a:t/>
            </a:r>
          </a:p>
          <a:p xmlns:a="http://schemas.openxmlformats.org/drawingml/2006/main">
            <a:r>
              <a:t>Siemens, The True Cost of Downtime, 2024, pp. 2–3 and 11.</a:t>
            </a:r>
          </a:p>
          <a:p xmlns:a="http://schemas.openxmlformats.org/drawingml/2006/main">
            <a:r>
              <a:t>https://assets.new.siemens.com/siemens/assets/api/uuid:1b43afb5-2d07-47f7-9eb7-893fe7d0bc59/TCOD-2024_original.pdf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architecture can reduce third-party exposure of supplier networks, stock positions, customer commitments, and process constraints. Defense is a useful case, but manufacturers, semiconductor suppliers, energy operators, and pharmaceutical operations can have similar needs. DFARS and ITAR do not impose a blanket cloud ban. Qualifying cloud configurations can be permitted, and running locally alone does not establish compliance. This product direction centers on company-controlled data and local inference. ITAR access restrictions concern foreign persons and controlled technical data, not only server geography. Cloud use can be permitted under qualifying controls. We do not assert a blanket ban or an automatic compliance certification.</a:t>
            </a:r>
          </a:p>
          <a:p xmlns:a="http://schemas.openxmlformats.org/drawingml/2006/main">
            <a:r>
              <a:t/>
            </a:r>
          </a:p>
          <a:p xmlns:a="http://schemas.openxmlformats.org/drawingml/2006/main">
            <a:r>
              <a:t>Sources:</a:t>
            </a:r>
          </a:p>
          <a:p xmlns:a="http://schemas.openxmlformats.org/drawingml/2006/main">
            <a:r>
              <a:t>DFARS 252.204-7012, May 2024. Security and incident-reporting requirements, including qualifying external cloud services.</a:t>
            </a:r>
          </a:p>
          <a:p xmlns:a="http://schemas.openxmlformats.org/drawingml/2006/main">
            <a:r>
              <a:t>https://www.acquisition.gov/dfars/252.204-7012-safeguarding-covered-defense-information-and-cyber-incident-reporting</a:t>
            </a:r>
          </a:p>
          <a:p xmlns:a="http://schemas.openxmlformats.org/drawingml/2006/main">
            <a:r>
              <a:t/>
            </a:r>
          </a:p>
          <a:p xmlns:a="http://schemas.openxmlformats.org/drawingml/2006/main">
            <a:r>
              <a:t>22 CFR 120.54, 2025 edition. Conditional encrypted technical-data storage/transmission exclusion.</a:t>
            </a:r>
          </a:p>
          <a:p xmlns:a="http://schemas.openxmlformats.org/drawingml/2006/main">
            <a:r>
              <a:t>https://www.govinfo.gov/content/pkg/CFR-2025-title22-vol1/pdf/CFR-2025-title22-vol1-sec120-54.pdf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 workflow starts with a disruption, joins supplier and operational context, compares feasible operating choices, and prepares a mitigation with owners and timing. In the worked example, warehouse stock, the MES queue and approved kit BOM, customer deadlines and fees, and quality restrictions determine the decision. The comparison uses transparent calculations. A language model can explain and draft the result while human owners approve physical and commercial actions. The backend agent README records a 0.57-second fallback response in an earlier integration run with the model down; it is not a universal latency claim. Current verification includes more than 200 automated backend checks. Cloud LLM calls are not required by the local architecture.</a:t>
            </a:r>
          </a:p>
          <a:p xmlns:a="http://schemas.openxmlformats.org/drawingml/2006/main">
            <a:r>
              <a:t/>
            </a:r>
          </a:p>
          <a:p xmlns:a="http://schemas.openxmlformats.org/drawingml/2006/main">
            <a:r>
              <a:t>Sources:</a:t>
            </a:r>
          </a:p>
          <a:p xmlns:a="http://schemas.openxmlformats.org/drawingml/2006/main">
            <a:r>
              <a:t>Markov source: backend/agent/propagation.py, monitor.py, narrate.py, openclaw.py.</a:t>
            </a:r>
          </a:p>
          <a:p xmlns:a="http://schemas.openxmlformats.org/drawingml/2006/main">
            <a:r>
              <a:t>https://github.com/andrewchou0/Markovathon</a:t>
            </a:r>
          </a:p>
          <a:p xmlns:a="http://schemas.openxmlformats.org/drawingml/2006/main">
            <a:r>
              <a:t/>
            </a:r>
          </a:p>
          <a:p xmlns:a="http://schemas.openxmlformats.org/drawingml/2006/main">
            <a:r>
              <a:t>Markov 40-hour worked example: frontend/src/operations-demo.js and fixtures/operations-scenario.json.</a:t>
            </a:r>
          </a:p>
          <a:p xmlns:a="http://schemas.openxmlformats.org/drawingml/2006/main">
            <a:r>
              <a:t>https://github.com/andrewchou0/Markovathon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target platform is NVIDIA GB10. Qwen serves as the language model through Ollama. MongoDB stores supplier and event records. FastAPI exposes the analysis and monitor. React provides the workspace. Deterministic code determines supplier exposure and compares the worked operational options. The independent monitor scans over time. The narration layer can use the optional OpenClaw gateway, direct Ollama, or template wording. Component configuration and integration determine the deployment behavior.</a:t>
            </a:r>
          </a:p>
          <a:p xmlns:a="http://schemas.openxmlformats.org/drawingml/2006/main">
            <a:r>
              <a:t/>
            </a:r>
          </a:p>
          <a:p xmlns:a="http://schemas.openxmlformats.org/drawingml/2006/main">
            <a:r>
              <a:t>Sources:</a:t>
            </a:r>
          </a:p>
          <a:p xmlns:a="http://schemas.openxmlformats.org/drawingml/2006/main">
            <a:r>
              <a:t>Markov source: backend/agent/propagation.py, monitor.py, narrate.py, openclaw.py.</a:t>
            </a:r>
          </a:p>
          <a:p xmlns:a="http://schemas.openxmlformats.org/drawingml/2006/main">
            <a:r>
              <a:t>https://github.com/andrewchou0/Markovathon</a:t>
            </a:r>
          </a:p>
          <a:p xmlns:a="http://schemas.openxmlformats.org/drawingml/2006/main">
            <a:r>
              <a:t/>
            </a:r>
          </a:p>
          <a:p xmlns:a="http://schemas.openxmlformats.org/drawingml/2006/main">
            <a:r>
              <a:t>Markov 40-hour worked example: frontend/src/operations-demo.js and fixtures/operations-scenario.json.</a:t>
            </a:r>
          </a:p>
          <a:p xmlns:a="http://schemas.openxmlformats.org/drawingml/2006/main">
            <a:r>
              <a:t>https://github.com/andrewchou0/Markovathon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OpenClaw has two roles in the code: an optional model harness through an OpenAI-compatible chat endpoint and optional dispatch of a review packet through tools/invoke. The wording path tries the enabled gateway, falls back to direct Ollama, and then to deterministic templates. A disabled or unavailable review channel records an undelivered outcome. This is distinct from automatically executing a supplier order, inventory reservation, or production change. Such physical and commercial decisions require accountable approval.</a:t>
            </a:r>
          </a:p>
          <a:p xmlns:a="http://schemas.openxmlformats.org/drawingml/2006/main">
            <a:r>
              <a:t/>
            </a:r>
          </a:p>
          <a:p xmlns:a="http://schemas.openxmlformats.org/drawingml/2006/main">
            <a:r>
              <a:t>Sources:</a:t>
            </a:r>
          </a:p>
          <a:p xmlns:a="http://schemas.openxmlformats.org/drawingml/2006/main">
            <a:r>
              <a:t>Markov source: backend/agent/propagation.py, monitor.py, narrate.py, openclaw.py.</a:t>
            </a:r>
          </a:p>
          <a:p xmlns:a="http://schemas.openxmlformats.org/drawingml/2006/main">
            <a:r>
              <a:t>https://github.com/andrewchou0/Markovathon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savings arithmetic is preserved with explicit scope. At the rounded 2022 large-automotive-plant downtime rate of $33,000 per minute, ten avoided minutes imply $330,000 and three imply $99,000. Ten minutes is roughly 12 percent of an 81-minute restoration window, not a verified avoidable share. Twelve such events at ten minutes each imply $3.96 million at the same rate. These assumptions are not extrapolated across small subcontractors or presented as national savings. Defense programs also care about schedule and readiness, which are not reduced to a fabricated dollar total.</a:t>
            </a:r>
          </a:p>
          <a:p xmlns:a="http://schemas.openxmlformats.org/drawingml/2006/main">
            <a:r>
              <a:t/>
            </a:r>
          </a:p>
          <a:p xmlns:a="http://schemas.openxmlformats.org/drawingml/2006/main">
            <a:r>
              <a:t>Sources:</a:t>
            </a:r>
          </a:p>
          <a:p xmlns:a="http://schemas.openxmlformats.org/drawingml/2006/main">
            <a:r>
              <a:t>Siemens, The True Cost of Downtime, 2022, p. 6. Automotive downtime about $2M/hour, rounded down to $33,000/minute.</a:t>
            </a:r>
          </a:p>
          <a:p xmlns:a="http://schemas.openxmlformats.org/drawingml/2006/main">
            <a:r>
              <a:t>https://assets.new.siemens.com/siemens/assets/api/uuid%3A3d606495-dbe0-43e4-80b1-d04e27ada920/dics-b10153-00-7600truecostofdowntime2022-144.pdf</a:t>
            </a:r>
          </a:p>
          <a:p xmlns:a="http://schemas.openxmlformats.org/drawingml/2006/main">
            <a:r>
              <a:t/>
            </a:r>
          </a:p>
          <a:p xmlns:a="http://schemas.openxmlformats.org/drawingml/2006/main">
            <a:r>
              <a:t>Siemens, The True Cost of Downtime, 2024, pp. 2–3 and 11.</a:t>
            </a:r>
          </a:p>
          <a:p xmlns:a="http://schemas.openxmlformats.org/drawingml/2006/main">
            <a:r>
              <a:t>https://assets.new.siemens.com/siemens/assets/api/uuid:1b43afb5-2d07-47f7-9eb7-893fe7d0bc59/TCOD-2024_original.pdf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default comparison uses 160 released sensor arrays, 40 finished modules, and 40 quality-held sensors that stay excluded. A single line builds 20 modules/hour. Priority demand is 180 modules due by hour 16 at $150 per late unit. Standard demand is 180 due by hour 40 at $25 per late unit. The kit order is 160 due by hour 40 at $10 per late unit. Independent kits use 10/hour after a two-hour, $600 changeover and require released stock, an approved BOM, and qualified crew. Current sequence costs $25,600; priority allocation costs $5,600; priority plus resequencing costs $4,600, comprising $4,000 late fees and $600 setup. The $21,000 difference is modeled fees plus setup, not measured revenue savings. Productive time rises from 8 to 24 hours. 180 priority modules and 160 kits finish on time; 160 standard modules remain late. Alternate qualification requires 120 scheduled hours and no dated receipt is committed, so waiting for an alternate is excluded.</a:t>
            </a:r>
          </a:p>
          <a:p xmlns:a="http://schemas.openxmlformats.org/drawingml/2006/main">
            <a:r>
              <a:t/>
            </a:r>
          </a:p>
          <a:p xmlns:a="http://schemas.openxmlformats.org/drawingml/2006/main">
            <a:r>
              <a:t>Sources:</a:t>
            </a:r>
          </a:p>
          <a:p xmlns:a="http://schemas.openxmlformats.org/drawingml/2006/main">
            <a:r>
              <a:t>Markov 40-hour worked example: frontend/src/operations-demo.js and fixtures/operations-scenario.json.</a:t>
            </a:r>
          </a:p>
          <a:p xmlns:a="http://schemas.openxmlformats.org/drawingml/2006/main">
            <a:r>
              <a:t>https://github.com/andrewchou0/Markovathon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planner and warehouse lead first approve 40 finished modules and 140 sensors for priority work. The line produces 140 priority modules during hours zero through seven and 20 standard modules during hours seven through eight. At hour eight, the scheduler parks the incomplete standard job rather than blocking independent work. Quality and the supervisor approve a two-hour changeover, then 160 kits run during hours ten through twenty-six. The account owner reviews the remaining 160 late standard modules and procurement keeps monitoring the restriction and actual receipts. The general product serves operational workflows with dependencies, constrained alternatives, and sensitive data.</a:t>
            </a:r>
          </a:p>
          <a:p xmlns:a="http://schemas.openxmlformats.org/drawingml/2006/main">
            <a:r>
              <a:t/>
            </a:r>
          </a:p>
          <a:p xmlns:a="http://schemas.openxmlformats.org/drawingml/2006/main">
            <a:r>
              <a:t>Sources:</a:t>
            </a:r>
          </a:p>
          <a:p xmlns:a="http://schemas.openxmlformats.org/drawingml/2006/main">
            <a:r>
              <a:t>Markov 40-hour worked example: frontend/src/operations-demo.js and fixtures/operations-scenario.json.</a:t>
            </a:r>
          </a:p>
          <a:p xmlns:a="http://schemas.openxmlformats.org/drawingml/2006/main">
            <a:r>
              <a:t>https://github.com/andrewchou0/Markovathon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three original conditions are dependency graphs, events that invalidate plans, and sensitive data. Target use cases include pharmaceuticals and validated supply, semiconductors and allocation, energy assets and long-lead equipment, hospital consumables and sensitive data, and banking vendor concentration. Local execution is useful wherever companies prefer to retain control of their operational context.</a:t>
            </a:r>
          </a:p>
          <a:p xmlns:a="http://schemas.openxmlformats.org/drawingml/2006/main">
            <a:r>
              <a:t/>
            </a:r>
          </a:p>
          <a:p xmlns:a="http://schemas.openxmlformats.org/drawingml/2006/main">
            <a:r>
              <a:t>Sources:</a:t>
            </a:r>
          </a:p>
          <a:p xmlns:a="http://schemas.openxmlformats.org/drawingml/2006/main">
            <a:r>
              <a:t>Markov source: backend/agent/propagation.py, monitor.py, narrate.py, openclaw.py.</a:t>
            </a:r>
          </a:p>
          <a:p xmlns:a="http://schemas.openxmlformats.org/drawingml/2006/main">
            <a:r>
              <a:t>https://github.com/andrewchou0/Markovathon</a:t>
            </a:r>
          </a:p>
          <a:p xmlns:a="http://schemas.openxmlformats.org/drawingml/2006/main">
            <a:r>
              <a:t/>
            </a:r>
          </a:p>
          <a:p xmlns:a="http://schemas.openxmlformats.org/drawingml/2006/main">
            <a:r>
              <a:t>Markov 40-hour worked example: frontend/src/operations-demo.js and fixtures/operations-scenario.json.</a:t>
            </a:r>
          </a:p>
          <a:p xmlns:a="http://schemas.openxmlformats.org/drawingml/2006/main">
            <a:r>
              <a:t>https://github.com/andrewchou0/Markovathon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9033d5846948b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78216031d4f4f6b" /><Relationship Type="http://schemas.openxmlformats.org/officeDocument/2006/relationships/slideLayout" Target="/ppt/slideLayouts/slideLayout1.xml" Id="Rbf84c266325440e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84c266325440e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168591053b34eeb" /><Relationship Type="http://schemas.openxmlformats.org/officeDocument/2006/relationships/notesSlide" Target="/ppt/notesSlides/notesSlide1.xml" Id="Rded1ab565b3b40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1e79aff68124e8e" /><Relationship Type="http://schemas.openxmlformats.org/officeDocument/2006/relationships/notesSlide" Target="/ppt/notesSlides/notesSlide2.xml" Id="Rbd7662571aa446c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15e77ea1fca4ea3" /><Relationship Type="http://schemas.openxmlformats.org/officeDocument/2006/relationships/notesSlide" Target="/ppt/notesSlides/notesSlide3.xml" Id="R0e35d2df192e44d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66930425b0c449b" /><Relationship Type="http://schemas.openxmlformats.org/officeDocument/2006/relationships/notesSlide" Target="/ppt/notesSlides/notesSlide4.xml" Id="R6805ec22bddf4e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31be32fbad145ac" /><Relationship Type="http://schemas.openxmlformats.org/officeDocument/2006/relationships/image" Target="/ppt/media/image.gif" Id="R4e53bb8ae56d42c3" /><Relationship Type="http://schemas.openxmlformats.org/officeDocument/2006/relationships/notesSlide" Target="/ppt/notesSlides/notesSlide5.xml" Id="R678cb631fdea448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e039125b6734bd1" /><Relationship Type="http://schemas.openxmlformats.org/officeDocument/2006/relationships/notesSlide" Target="/ppt/notesSlides/notesSlide6.xml" Id="R38f8c83be67d44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e2c48cf7f5d4612" /><Relationship Type="http://schemas.openxmlformats.org/officeDocument/2006/relationships/notesSlide" Target="/ppt/notesSlides/notesSlide7.xml" Id="R180219da498047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e7b04890e6b4289" /><Relationship Type="http://schemas.openxmlformats.org/officeDocument/2006/relationships/notesSlide" Target="/ppt/notesSlides/notesSlide8.xml" Id="R117f58b127ac4e8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00319643d642cd" /><Relationship Type="http://schemas.openxmlformats.org/officeDocument/2006/relationships/notesSlide" Target="/ppt/notesSlides/notesSlide9.xml" Id="R477c3d43efd1463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30c36c6c1d34011" /><Relationship Type="http://schemas.openxmlformats.org/officeDocument/2006/relationships/notesSlide" Target="/ppt/notesSlides/notesSlide10.xml" Id="Re9679bfbd05b4ba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6f07bda77b44359" /><Relationship Type="http://schemas.openxmlformats.org/officeDocument/2006/relationships/notesSlide" Target="/ppt/notesSlides/notesSlide11.xml" Id="R4bcb15e6e9a8431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a2f9f35ba084c67" /><Relationship Type="http://schemas.openxmlformats.org/officeDocument/2006/relationships/notesSlide" Target="/ppt/notesSlides/notesSlide12.xml" Id="Rb6d35fe4c7d940a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2fd4a02f6d44f7c" /><Relationship Type="http://schemas.openxmlformats.org/officeDocument/2006/relationships/notesSlide" Target="/ppt/notesSlides/notesSlide13.xml" Id="R2e87207b44d147db" /></Relationships>
</file>

<file path=ppt/slides/slide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D781A448-EEFA-4CCD-9CBB-A4EC7C23B7B7}"/>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FE8A13-D68E-4C08-AC28-3C52F109E915}"/>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11D81334-06E7-43F7-9E69-E1389EBA3BA7}"/>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B2BEC1BF-97F7-488A-AC7B-F0E1C6D3714A}"/>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571840E0-254D-49A2-815D-A0DE20C90A1E}"/>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F740B27B-E292-4868-97C8-DF6050B274BD}"/>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01 / 13">
            <a:extLst xmlns:a="http://schemas.openxmlformats.org/drawingml/2006/main">
              <a:ext uri="{FF2B5EF4-FFF2-40B4-BE49-F238E27FC236}">
                <a16:creationId xmlns:a16="http://schemas.microsoft.com/office/drawing/2014/main" id="{B644C2AD-03AD-485D-93BF-919F2C90E5DD}"/>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01 / 13</a:t>
            </a:r>
          </a:p>
        </p:txBody>
      </p:sp>
      <p:sp>
        <p:nvSpPr>
          <p:cNvPr id="8" name="Cornell NVIDIA × Dell Hackathon · NVIDIA GB10 · Local infere">
            <a:extLst xmlns:a="http://schemas.openxmlformats.org/drawingml/2006/main">
              <a:ext uri="{FF2B5EF4-FFF2-40B4-BE49-F238E27FC236}">
                <a16:creationId xmlns:a16="http://schemas.microsoft.com/office/drawing/2014/main" id="{0D9BC693-B004-4ECC-AABE-7633E936BA49}"/>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Cornell NVIDIA × Dell Hackathon · NVIDIA GB10 · Local inference</a:t>
            </a:r>
          </a:p>
        </p:txBody>
      </p:sp>
      <p:sp>
        <p:nvSpPr>
          <p:cNvPr id="9" name="Markov brand bar 1">
            <a:extLst xmlns:a="http://schemas.openxmlformats.org/drawingml/2006/main">
              <a:ext uri="{FF2B5EF4-FFF2-40B4-BE49-F238E27FC236}">
                <a16:creationId xmlns:a16="http://schemas.microsoft.com/office/drawing/2014/main" id="{9F854C3E-14D9-4D71-BDA3-3336096EDD45}"/>
              </a:ext>
            </a:extLst>
          </p:cNvPr>
          <p:cNvSpPr>
            <a:spLocks xmlns:a="http://schemas.openxmlformats.org/drawingml/2006/main" noGrp="1"/>
          </p:cNvSpPr>
          <p:nvPr/>
        </p:nvSpPr>
        <p:spPr>
          <a:xfrm xmlns:a="http://schemas.openxmlformats.org/drawingml/2006/main">
            <a:off x="609600" y="1695450"/>
            <a:ext cx="142875" cy="635112"/>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10" name="Markov brand bar 2">
            <a:extLst xmlns:a="http://schemas.openxmlformats.org/drawingml/2006/main">
              <a:ext uri="{FF2B5EF4-FFF2-40B4-BE49-F238E27FC236}">
                <a16:creationId xmlns:a16="http://schemas.microsoft.com/office/drawing/2014/main" id="{F673D15D-E076-4841-9DA4-586C549D29FE}"/>
              </a:ext>
            </a:extLst>
          </p:cNvPr>
          <p:cNvSpPr>
            <a:spLocks xmlns:a="http://schemas.openxmlformats.org/drawingml/2006/main" noGrp="1"/>
          </p:cNvSpPr>
          <p:nvPr/>
        </p:nvSpPr>
        <p:spPr>
          <a:xfrm xmlns:a="http://schemas.openxmlformats.org/drawingml/2006/main">
            <a:off x="838200" y="1795463"/>
            <a:ext cx="142875" cy="435087"/>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11" name="Markov brand bar 3">
            <a:extLst xmlns:a="http://schemas.openxmlformats.org/drawingml/2006/main">
              <a:ext uri="{FF2B5EF4-FFF2-40B4-BE49-F238E27FC236}">
                <a16:creationId xmlns:a16="http://schemas.microsoft.com/office/drawing/2014/main" id="{F3216C2E-B170-4C6F-8D49-A2AC2C442F23}"/>
              </a:ext>
            </a:extLst>
          </p:cNvPr>
          <p:cNvSpPr>
            <a:spLocks xmlns:a="http://schemas.openxmlformats.org/drawingml/2006/main" noGrp="1"/>
          </p:cNvSpPr>
          <p:nvPr/>
        </p:nvSpPr>
        <p:spPr>
          <a:xfrm xmlns:a="http://schemas.openxmlformats.org/drawingml/2006/main">
            <a:off x="1066800" y="1638300"/>
            <a:ext cx="142875" cy="749412"/>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12" name="Markov">
            <a:extLst xmlns:a="http://schemas.openxmlformats.org/drawingml/2006/main">
              <a:ext uri="{FF2B5EF4-FFF2-40B4-BE49-F238E27FC236}">
                <a16:creationId xmlns:a16="http://schemas.microsoft.com/office/drawing/2014/main" id="{7BE2DD98-4588-4E77-8BEF-3C118AC7E0A6}"/>
              </a:ext>
            </a:extLst>
          </p:cNvPr>
          <p:cNvSpPr>
            <a:spLocks xmlns:a="http://schemas.openxmlformats.org/drawingml/2006/main" noGrp="1"/>
          </p:cNvSpPr>
          <p:nvPr/>
        </p:nvSpPr>
        <p:spPr>
          <a:xfrm xmlns:a="http://schemas.openxmlformats.org/drawingml/2006/main">
            <a:off x="1571625" y="1514475"/>
            <a:ext cx="7620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750" b="1">
                <a:solidFill>
                  <a:srgbClr val="203047"/>
                </a:solidFill>
                <a:latin typeface="Avenir Next"/>
                <a:ea typeface="Avenir Next"/>
                <a:cs typeface="Avenir Next"/>
              </a:defRPr>
            </a:pPr>
            <a:r>
              <a:rPr sz="6750" b="1">
                <a:solidFill>
                  <a:srgbClr val="203047"/>
                </a:solidFill>
                <a:latin typeface="Avenir Next"/>
                <a:ea typeface="Avenir Next"/>
                <a:cs typeface="Avenir Next"/>
              </a:rPr>
              <a:t>Markov</a:t>
            </a:r>
          </a:p>
        </p:txBody>
      </p:sp>
      <p:sp>
        <p:nvSpPr>
          <p:cNvPr id="13" name="A local agent for plans that cannot wait">
            <a:extLst xmlns:a="http://schemas.openxmlformats.org/drawingml/2006/main">
              <a:ext uri="{FF2B5EF4-FFF2-40B4-BE49-F238E27FC236}">
                <a16:creationId xmlns:a16="http://schemas.microsoft.com/office/drawing/2014/main" id="{C3C4C3D6-B34E-4DC2-9B85-9E87A3DCB8F6}"/>
              </a:ext>
            </a:extLst>
          </p:cNvPr>
          <p:cNvSpPr>
            <a:spLocks xmlns:a="http://schemas.openxmlformats.org/drawingml/2006/main" noGrp="1"/>
          </p:cNvSpPr>
          <p:nvPr/>
        </p:nvSpPr>
        <p:spPr>
          <a:xfrm xmlns:a="http://schemas.openxmlformats.org/drawingml/2006/main">
            <a:off x="609600" y="2867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A local agent for plans that cannot wait</a:t>
            </a:r>
          </a:p>
        </p:txBody>
      </p:sp>
      <p:sp>
        <p:nvSpPr>
          <p:cNvPr id="14" name="Sensitive supply chains need the same agent capabilities as ">
            <a:extLst xmlns:a="http://schemas.openxmlformats.org/drawingml/2006/main">
              <a:ext uri="{FF2B5EF4-FFF2-40B4-BE49-F238E27FC236}">
                <a16:creationId xmlns:a16="http://schemas.microsoft.com/office/drawing/2014/main" id="{44004414-F855-4B84-9300-A6C573C215E2}"/>
              </a:ext>
            </a:extLst>
          </p:cNvPr>
          <p:cNvSpPr>
            <a:spLocks xmlns:a="http://schemas.openxmlformats.org/drawingml/2006/main" noGrp="1"/>
          </p:cNvSpPr>
          <p:nvPr/>
        </p:nvSpPr>
        <p:spPr>
          <a:xfrm xmlns:a="http://schemas.openxmlformats.org/drawingml/2006/main">
            <a:off x="609600" y="3638550"/>
            <a:ext cx="990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596779"/>
                </a:solidFill>
                <a:latin typeface="Avenir Next"/>
                <a:ea typeface="Avenir Next"/>
                <a:cs typeface="Avenir Next"/>
              </a:defRPr>
            </a:pPr>
            <a:r>
              <a:rPr sz="2100" b="0">
                <a:solidFill>
                  <a:srgbClr val="596779"/>
                </a:solidFill>
                <a:latin typeface="Avenir Next"/>
                <a:ea typeface="Avenir Next"/>
                <a:cs typeface="Avenir Next"/>
              </a:rPr>
              <a:t>Sensitive supply chains need the same agent capabilities as everyone else. Markov watches on company-controlled hardware, finds what changed, and prepares the next decision.</a:t>
            </a:r>
          </a:p>
        </p:txBody>
      </p:sp>
      <p:sp>
        <p:nvSpPr>
          <p:cNvPr id="15" name="">
            <a:extLst xmlns:a="http://schemas.openxmlformats.org/drawingml/2006/main">
              <a:ext uri="{FF2B5EF4-FFF2-40B4-BE49-F238E27FC236}">
                <a16:creationId xmlns:a16="http://schemas.microsoft.com/office/drawing/2014/main" id="{C21C233D-DB17-4718-9870-20A626446C77}"/>
              </a:ext>
            </a:extLst>
          </p:cNvPr>
          <p:cNvSpPr>
            <a:spLocks xmlns:a="http://schemas.openxmlformats.org/drawingml/2006/main" noGrp="1"/>
          </p:cNvSpPr>
          <p:nvPr/>
        </p:nvSpPr>
        <p:spPr>
          <a:xfrm xmlns:a="http://schemas.openxmlformats.org/drawingml/2006/main">
            <a:off x="609600" y="4962525"/>
            <a:ext cx="2638425" cy="1038225"/>
          </a:xfrm>
          <a:prstGeom xmlns:a="http://schemas.openxmlformats.org/drawingml/2006/main" prst="roundRect">
            <a:avLst>
              <a:gd name="adj" fmla="val 8257"/>
            </a:avLst>
          </a:prstGeom>
          <a:solidFill xmlns:a="http://schemas.openxmlformats.org/drawingml/2006/main">
            <a:srgbClr val="203047"/>
          </a:solidFill>
          <a:ln xmlns:a="http://schemas.openxmlformats.org/drawingml/2006/main" w="0">
            <a:noFill/>
          </a:ln>
        </p:spPr>
      </p:sp>
      <p:sp>
        <p:nvSpPr>
          <p:cNvPr id="16" name="Watch">
            <a:extLst xmlns:a="http://schemas.openxmlformats.org/drawingml/2006/main">
              <a:ext uri="{FF2B5EF4-FFF2-40B4-BE49-F238E27FC236}">
                <a16:creationId xmlns:a16="http://schemas.microsoft.com/office/drawing/2014/main" id="{72EE8564-A051-4483-B187-E28E0B8D2507}"/>
              </a:ext>
            </a:extLst>
          </p:cNvPr>
          <p:cNvSpPr>
            <a:spLocks xmlns:a="http://schemas.openxmlformats.org/drawingml/2006/main" noGrp="1"/>
          </p:cNvSpPr>
          <p:nvPr/>
        </p:nvSpPr>
        <p:spPr>
          <a:xfrm xmlns:a="http://schemas.openxmlformats.org/drawingml/2006/main">
            <a:off x="752475" y="5086350"/>
            <a:ext cx="2352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Watch</a:t>
            </a:r>
          </a:p>
        </p:txBody>
      </p:sp>
      <p:sp>
        <p:nvSpPr>
          <p:cNvPr id="17" name="Continuously">
            <a:extLst xmlns:a="http://schemas.openxmlformats.org/drawingml/2006/main">
              <a:ext uri="{FF2B5EF4-FFF2-40B4-BE49-F238E27FC236}">
                <a16:creationId xmlns:a16="http://schemas.microsoft.com/office/drawing/2014/main" id="{A4F01080-4805-4052-9ECE-86C4D794A417}"/>
              </a:ext>
            </a:extLst>
          </p:cNvPr>
          <p:cNvSpPr>
            <a:spLocks xmlns:a="http://schemas.openxmlformats.org/drawingml/2006/main" noGrp="1"/>
          </p:cNvSpPr>
          <p:nvPr/>
        </p:nvSpPr>
        <p:spPr>
          <a:xfrm xmlns:a="http://schemas.openxmlformats.org/drawingml/2006/main">
            <a:off x="752475" y="5676900"/>
            <a:ext cx="2352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Continuously</a:t>
            </a:r>
          </a:p>
        </p:txBody>
      </p:sp>
      <p:sp>
        <p:nvSpPr>
          <p:cNvPr id="18" name="">
            <a:extLst xmlns:a="http://schemas.openxmlformats.org/drawingml/2006/main">
              <a:ext uri="{FF2B5EF4-FFF2-40B4-BE49-F238E27FC236}">
                <a16:creationId xmlns:a16="http://schemas.microsoft.com/office/drawing/2014/main" id="{7641511B-4742-4FA1-B838-5D1CF22555BF}"/>
              </a:ext>
            </a:extLst>
          </p:cNvPr>
          <p:cNvSpPr>
            <a:spLocks xmlns:a="http://schemas.openxmlformats.org/drawingml/2006/main" noGrp="1"/>
          </p:cNvSpPr>
          <p:nvPr/>
        </p:nvSpPr>
        <p:spPr>
          <a:xfrm xmlns:a="http://schemas.openxmlformats.org/drawingml/2006/main">
            <a:off x="3381375" y="4962525"/>
            <a:ext cx="2638425" cy="1038225"/>
          </a:xfrm>
          <a:prstGeom xmlns:a="http://schemas.openxmlformats.org/drawingml/2006/main" prst="roundRect">
            <a:avLst>
              <a:gd name="adj" fmla="val 8257"/>
            </a:avLst>
          </a:prstGeom>
          <a:solidFill xmlns:a="http://schemas.openxmlformats.org/drawingml/2006/main">
            <a:srgbClr val="203047"/>
          </a:solidFill>
          <a:ln xmlns:a="http://schemas.openxmlformats.org/drawingml/2006/main" w="0">
            <a:noFill/>
          </a:ln>
        </p:spPr>
      </p:sp>
      <p:sp>
        <p:nvSpPr>
          <p:cNvPr id="19" name="Trace">
            <a:extLst xmlns:a="http://schemas.openxmlformats.org/drawingml/2006/main">
              <a:ext uri="{FF2B5EF4-FFF2-40B4-BE49-F238E27FC236}">
                <a16:creationId xmlns:a16="http://schemas.microsoft.com/office/drawing/2014/main" id="{69A53431-32D9-4CBA-B394-AA43F4B69193}"/>
              </a:ext>
            </a:extLst>
          </p:cNvPr>
          <p:cNvSpPr>
            <a:spLocks xmlns:a="http://schemas.openxmlformats.org/drawingml/2006/main" noGrp="1"/>
          </p:cNvSpPr>
          <p:nvPr/>
        </p:nvSpPr>
        <p:spPr>
          <a:xfrm xmlns:a="http://schemas.openxmlformats.org/drawingml/2006/main">
            <a:off x="3524250" y="5086350"/>
            <a:ext cx="2352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Trace</a:t>
            </a:r>
          </a:p>
        </p:txBody>
      </p:sp>
      <p:sp>
        <p:nvSpPr>
          <p:cNvPr id="20" name="Dependencies">
            <a:extLst xmlns:a="http://schemas.openxmlformats.org/drawingml/2006/main">
              <a:ext uri="{FF2B5EF4-FFF2-40B4-BE49-F238E27FC236}">
                <a16:creationId xmlns:a16="http://schemas.microsoft.com/office/drawing/2014/main" id="{3E8BC250-6254-4339-A69B-085F1FA49667}"/>
              </a:ext>
            </a:extLst>
          </p:cNvPr>
          <p:cNvSpPr>
            <a:spLocks xmlns:a="http://schemas.openxmlformats.org/drawingml/2006/main" noGrp="1"/>
          </p:cNvSpPr>
          <p:nvPr/>
        </p:nvSpPr>
        <p:spPr>
          <a:xfrm xmlns:a="http://schemas.openxmlformats.org/drawingml/2006/main">
            <a:off x="3524250" y="5676900"/>
            <a:ext cx="2352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Dependencies</a:t>
            </a:r>
          </a:p>
        </p:txBody>
      </p:sp>
      <p:cxnSp>
        <p:nvCxnSpPr>
          <p:cNvPr id="50" name=""/>
          <p:cNvCxnSpPr>
            <a:stCxn xmlns:a="http://schemas.openxmlformats.org/drawingml/2006/main" id="15" idx="3"/>
            <a:endCxn xmlns:a="http://schemas.openxmlformats.org/drawingml/2006/main" id="18" idx="1"/>
          </p:cNvCxnSpPr>
          <p:nvPr/>
        </p:nvCxnSpPr>
        <p:spPr>
          <a:xfrm xmlns:a="http://schemas.openxmlformats.org/drawingml/2006/main">
            <a:off x="3248025" y="5481638"/>
            <a:ext cx="133350" cy="0"/>
          </a:xfrm>
          <a:prstGeom xmlns:a="http://schemas.openxmlformats.org/drawingml/2006/main" prst="straightConnector1">
            <a:avLst/>
          </a:prstGeom>
          <a:ln xmlns:a="http://schemas.openxmlformats.org/drawingml/2006/main" w="19050">
            <a:solidFill>
              <a:srgbClr val="71839C"/>
            </a:solidFill>
            <a:tailEnd type="triangle" w="sm" len="sm"/>
          </a:ln>
        </p:spPr>
      </p:cxnSp>
      <p:sp>
        <p:nvSpPr>
          <p:cNvPr id="22" name="">
            <a:extLst xmlns:a="http://schemas.openxmlformats.org/drawingml/2006/main">
              <a:ext uri="{FF2B5EF4-FFF2-40B4-BE49-F238E27FC236}">
                <a16:creationId xmlns:a16="http://schemas.microsoft.com/office/drawing/2014/main" id="{DA1705B2-326F-4B05-AE3D-505328E23692}"/>
              </a:ext>
            </a:extLst>
          </p:cNvPr>
          <p:cNvSpPr>
            <a:spLocks xmlns:a="http://schemas.openxmlformats.org/drawingml/2006/main" noGrp="1"/>
          </p:cNvSpPr>
          <p:nvPr/>
        </p:nvSpPr>
        <p:spPr>
          <a:xfrm xmlns:a="http://schemas.openxmlformats.org/drawingml/2006/main">
            <a:off x="6153150" y="4962525"/>
            <a:ext cx="2638425" cy="1038225"/>
          </a:xfrm>
          <a:prstGeom xmlns:a="http://schemas.openxmlformats.org/drawingml/2006/main" prst="roundRect">
            <a:avLst>
              <a:gd name="adj" fmla="val 8257"/>
            </a:avLst>
          </a:prstGeom>
          <a:solidFill xmlns:a="http://schemas.openxmlformats.org/drawingml/2006/main">
            <a:srgbClr val="203047"/>
          </a:solidFill>
          <a:ln xmlns:a="http://schemas.openxmlformats.org/drawingml/2006/main" w="0">
            <a:noFill/>
          </a:ln>
        </p:spPr>
      </p:sp>
      <p:sp>
        <p:nvSpPr>
          <p:cNvPr id="23" name="Plan">
            <a:extLst xmlns:a="http://schemas.openxmlformats.org/drawingml/2006/main">
              <a:ext uri="{FF2B5EF4-FFF2-40B4-BE49-F238E27FC236}">
                <a16:creationId xmlns:a16="http://schemas.microsoft.com/office/drawing/2014/main" id="{EFD9D29F-3C06-44FD-A9CB-7F1B059726E5}"/>
              </a:ext>
            </a:extLst>
          </p:cNvPr>
          <p:cNvSpPr>
            <a:spLocks xmlns:a="http://schemas.openxmlformats.org/drawingml/2006/main" noGrp="1"/>
          </p:cNvSpPr>
          <p:nvPr/>
        </p:nvSpPr>
        <p:spPr>
          <a:xfrm xmlns:a="http://schemas.openxmlformats.org/drawingml/2006/main">
            <a:off x="6296025" y="5086350"/>
            <a:ext cx="2352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Plan</a:t>
            </a:r>
          </a:p>
        </p:txBody>
      </p:sp>
      <p:sp>
        <p:nvSpPr>
          <p:cNvPr id="24" name="Feasible responses">
            <a:extLst xmlns:a="http://schemas.openxmlformats.org/drawingml/2006/main">
              <a:ext uri="{FF2B5EF4-FFF2-40B4-BE49-F238E27FC236}">
                <a16:creationId xmlns:a16="http://schemas.microsoft.com/office/drawing/2014/main" id="{7E3A8BF2-3F98-4D41-936E-61E386ABDE2C}"/>
              </a:ext>
            </a:extLst>
          </p:cNvPr>
          <p:cNvSpPr>
            <a:spLocks xmlns:a="http://schemas.openxmlformats.org/drawingml/2006/main" noGrp="1"/>
          </p:cNvSpPr>
          <p:nvPr/>
        </p:nvSpPr>
        <p:spPr>
          <a:xfrm xmlns:a="http://schemas.openxmlformats.org/drawingml/2006/main">
            <a:off x="6296025" y="5676900"/>
            <a:ext cx="2352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Feasible responses</a:t>
            </a:r>
          </a:p>
        </p:txBody>
      </p:sp>
      <p:cxnSp>
        <p:nvCxnSpPr>
          <p:cNvPr id="54" name=""/>
          <p:cNvCxnSpPr>
            <a:stCxn xmlns:a="http://schemas.openxmlformats.org/drawingml/2006/main" id="18" idx="3"/>
            <a:endCxn xmlns:a="http://schemas.openxmlformats.org/drawingml/2006/main" id="22" idx="1"/>
          </p:cNvCxnSpPr>
          <p:nvPr/>
        </p:nvCxnSpPr>
        <p:spPr>
          <a:xfrm xmlns:a="http://schemas.openxmlformats.org/drawingml/2006/main">
            <a:off x="6019800" y="5481638"/>
            <a:ext cx="133350" cy="0"/>
          </a:xfrm>
          <a:prstGeom xmlns:a="http://schemas.openxmlformats.org/drawingml/2006/main" prst="straightConnector1">
            <a:avLst/>
          </a:prstGeom>
          <a:ln xmlns:a="http://schemas.openxmlformats.org/drawingml/2006/main" w="19050">
            <a:solidFill>
              <a:srgbClr val="71839C"/>
            </a:solidFill>
            <a:tailEnd type="triangle" w="sm" len="sm"/>
          </a:ln>
        </p:spPr>
      </p:cxnSp>
      <p:sp>
        <p:nvSpPr>
          <p:cNvPr id="26" name="">
            <a:extLst xmlns:a="http://schemas.openxmlformats.org/drawingml/2006/main">
              <a:ext uri="{FF2B5EF4-FFF2-40B4-BE49-F238E27FC236}">
                <a16:creationId xmlns:a16="http://schemas.microsoft.com/office/drawing/2014/main" id="{11E8A4EF-14E1-49AD-93E3-69C3A5021B22}"/>
              </a:ext>
            </a:extLst>
          </p:cNvPr>
          <p:cNvSpPr>
            <a:spLocks xmlns:a="http://schemas.openxmlformats.org/drawingml/2006/main" noGrp="1"/>
          </p:cNvSpPr>
          <p:nvPr/>
        </p:nvSpPr>
        <p:spPr>
          <a:xfrm xmlns:a="http://schemas.openxmlformats.org/drawingml/2006/main">
            <a:off x="8924925" y="4962525"/>
            <a:ext cx="2638425" cy="1038225"/>
          </a:xfrm>
          <a:prstGeom xmlns:a="http://schemas.openxmlformats.org/drawingml/2006/main" prst="roundRect">
            <a:avLst>
              <a:gd name="adj" fmla="val 8257"/>
            </a:avLst>
          </a:prstGeom>
          <a:solidFill xmlns:a="http://schemas.openxmlformats.org/drawingml/2006/main">
            <a:srgbClr val="203047"/>
          </a:solidFill>
          <a:ln xmlns:a="http://schemas.openxmlformats.org/drawingml/2006/main" w="0">
            <a:noFill/>
          </a:ln>
        </p:spPr>
      </p:sp>
      <p:sp>
        <p:nvSpPr>
          <p:cNvPr id="27" name="Review">
            <a:extLst xmlns:a="http://schemas.openxmlformats.org/drawingml/2006/main">
              <a:ext uri="{FF2B5EF4-FFF2-40B4-BE49-F238E27FC236}">
                <a16:creationId xmlns:a16="http://schemas.microsoft.com/office/drawing/2014/main" id="{EF722F94-2D50-4893-BAF9-FE6268B53742}"/>
              </a:ext>
            </a:extLst>
          </p:cNvPr>
          <p:cNvSpPr>
            <a:spLocks xmlns:a="http://schemas.openxmlformats.org/drawingml/2006/main" noGrp="1"/>
          </p:cNvSpPr>
          <p:nvPr/>
        </p:nvSpPr>
        <p:spPr>
          <a:xfrm xmlns:a="http://schemas.openxmlformats.org/drawingml/2006/main">
            <a:off x="9067800" y="5086350"/>
            <a:ext cx="2352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Review</a:t>
            </a:r>
          </a:p>
        </p:txBody>
      </p:sp>
      <p:sp>
        <p:nvSpPr>
          <p:cNvPr id="28" name="Accountable owner">
            <a:extLst xmlns:a="http://schemas.openxmlformats.org/drawingml/2006/main">
              <a:ext uri="{FF2B5EF4-FFF2-40B4-BE49-F238E27FC236}">
                <a16:creationId xmlns:a16="http://schemas.microsoft.com/office/drawing/2014/main" id="{208A9328-2889-41E5-BAEF-E5CDCD81BC54}"/>
              </a:ext>
            </a:extLst>
          </p:cNvPr>
          <p:cNvSpPr>
            <a:spLocks xmlns:a="http://schemas.openxmlformats.org/drawingml/2006/main" noGrp="1"/>
          </p:cNvSpPr>
          <p:nvPr/>
        </p:nvSpPr>
        <p:spPr>
          <a:xfrm xmlns:a="http://schemas.openxmlformats.org/drawingml/2006/main">
            <a:off x="9067800" y="5676900"/>
            <a:ext cx="2352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Accountable owner</a:t>
            </a:r>
          </a:p>
        </p:txBody>
      </p:sp>
      <p:cxnSp>
        <p:nvCxnSpPr>
          <p:cNvPr id="58" name=""/>
          <p:cNvCxnSpPr>
            <a:stCxn xmlns:a="http://schemas.openxmlformats.org/drawingml/2006/main" id="22" idx="3"/>
            <a:endCxn xmlns:a="http://schemas.openxmlformats.org/drawingml/2006/main" id="26" idx="1"/>
          </p:cNvCxnSpPr>
          <p:nvPr/>
        </p:nvCxnSpPr>
        <p:spPr>
          <a:xfrm xmlns:a="http://schemas.openxmlformats.org/drawingml/2006/main">
            <a:off x="8791575" y="5481638"/>
            <a:ext cx="133350" cy="0"/>
          </a:xfrm>
          <a:prstGeom xmlns:a="http://schemas.openxmlformats.org/drawingml/2006/main" prst="straightConnector1">
            <a:avLst/>
          </a:prstGeom>
          <a:ln xmlns:a="http://schemas.openxmlformats.org/drawingml/2006/main" w="19050">
            <a:solidFill>
              <a:srgbClr val="71839C"/>
            </a:solidFill>
            <a:tailEnd type="triangle" w="sm" len="sm"/>
          </a:ln>
        </p:spPr>
      </p:cxnSp>
    </p:spTree>
    <p:extLst>
      <p:ext uri="{BB962C8B-B14F-4D97-AF65-F5344CB8AC3E}">
        <p14:creationId xmlns:p14="http://schemas.microsoft.com/office/powerpoint/2010/main" val="761002969"/>
      </p:ext>
    </p:extLst>
  </p:cSld>
</p:sld>
</file>

<file path=ppt/slides/slide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75C8B8E-ED45-4E9B-953D-F6C6F944B939}"/>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4123C4-75E7-4658-BCD4-C231ECFB95AA}"/>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2F3FFA0F-52DB-4B4C-BF1B-59BA3B3DA6FF}"/>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DAD05928-167A-4B62-BE2F-8821AD01CA07}"/>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0634E736-98D2-4D87-A952-4742E60C0BE9}"/>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9CDA3873-AD43-4EF2-A34D-9A40EFE50E4F}"/>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02 / 13">
            <a:extLst xmlns:a="http://schemas.openxmlformats.org/drawingml/2006/main">
              <a:ext uri="{FF2B5EF4-FFF2-40B4-BE49-F238E27FC236}">
                <a16:creationId xmlns:a16="http://schemas.microsoft.com/office/drawing/2014/main" id="{72FCCDE1-9031-41A3-92E0-872F6A28548F}"/>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02 / 13</a:t>
            </a:r>
          </a:p>
        </p:txBody>
      </p:sp>
      <p:sp>
        <p:nvSpPr>
          <p:cNvPr id="8" name="A disruption can invalidate the plan">
            <a:extLst xmlns:a="http://schemas.openxmlformats.org/drawingml/2006/main">
              <a:ext uri="{FF2B5EF4-FFF2-40B4-BE49-F238E27FC236}">
                <a16:creationId xmlns:a16="http://schemas.microsoft.com/office/drawing/2014/main" id="{F195A8AB-9E6C-41C1-B84C-99922325A558}"/>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A disruption can invalidate the plan</a:t>
            </a:r>
          </a:p>
        </p:txBody>
      </p:sp>
      <p:sp>
        <p:nvSpPr>
          <p:cNvPr id="9" name="A plan-invalidating event makes the current plan impossible ">
            <a:extLst xmlns:a="http://schemas.openxmlformats.org/drawingml/2006/main">
              <a:ext uri="{FF2B5EF4-FFF2-40B4-BE49-F238E27FC236}">
                <a16:creationId xmlns:a16="http://schemas.microsoft.com/office/drawing/2014/main" id="{59E3F177-8B40-4A93-ABAB-FCD741C154F9}"/>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A plan-invalidating event makes the current plan impossible to execute as written.</a:t>
            </a:r>
          </a:p>
        </p:txBody>
      </p:sp>
      <p:sp>
        <p:nvSpPr>
          <p:cNvPr id="10" name="A changed schedule, an impossible delivery, or an exposed co">
            <a:extLst xmlns:a="http://schemas.openxmlformats.org/drawingml/2006/main">
              <a:ext uri="{FF2B5EF4-FFF2-40B4-BE49-F238E27FC236}">
                <a16:creationId xmlns:a16="http://schemas.microsoft.com/office/drawing/2014/main" id="{AF468069-55D0-40B4-A594-05401F28DD38}"/>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A changed schedule, an impossible delivery, or an exposed commitment requires a replacement decision.</a:t>
            </a:r>
          </a:p>
        </p:txBody>
      </p:sp>
      <p:sp>
        <p:nvSpPr>
          <p:cNvPr id="11" name="">
            <a:extLst xmlns:a="http://schemas.openxmlformats.org/drawingml/2006/main">
              <a:ext uri="{FF2B5EF4-FFF2-40B4-BE49-F238E27FC236}">
                <a16:creationId xmlns:a16="http://schemas.microsoft.com/office/drawing/2014/main" id="{90250594-5778-49A8-BEB5-B06525AD78D8}"/>
              </a:ext>
            </a:extLst>
          </p:cNvPr>
          <p:cNvSpPr>
            <a:spLocks xmlns:a="http://schemas.openxmlformats.org/drawingml/2006/main" noGrp="1"/>
          </p:cNvSpPr>
          <p:nvPr/>
        </p:nvSpPr>
        <p:spPr>
          <a:xfrm xmlns:a="http://schemas.openxmlformats.org/drawingml/2006/main">
            <a:off x="590550" y="2705100"/>
            <a:ext cx="10953750" cy="15811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Plan-invalidating event">
            <a:extLst xmlns:a="http://schemas.openxmlformats.org/drawingml/2006/main">
              <a:ext uri="{FF2B5EF4-FFF2-40B4-BE49-F238E27FC236}">
                <a16:creationId xmlns:a16="http://schemas.microsoft.com/office/drawing/2014/main" id="{09429C19-854C-4A8C-8945-DD2D4C0033AB}"/>
              </a:ext>
            </a:extLst>
          </p:cNvPr>
          <p:cNvSpPr>
            <a:spLocks xmlns:a="http://schemas.openxmlformats.org/drawingml/2006/main" noGrp="1"/>
          </p:cNvSpPr>
          <p:nvPr/>
        </p:nvSpPr>
        <p:spPr>
          <a:xfrm xmlns:a="http://schemas.openxmlformats.org/drawingml/2006/main">
            <a:off x="819150" y="2867025"/>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85BD0"/>
                </a:solidFill>
                <a:latin typeface="Avenir Next"/>
                <a:ea typeface="Avenir Next"/>
                <a:cs typeface="Avenir Next"/>
              </a:defRPr>
            </a:pPr>
            <a:r>
              <a:rPr sz="2250" b="1">
                <a:solidFill>
                  <a:srgbClr val="285BD0"/>
                </a:solidFill>
                <a:latin typeface="Avenir Next"/>
                <a:ea typeface="Avenir Next"/>
                <a:cs typeface="Avenir Next"/>
              </a:rPr>
              <a:t>Plan-invalidating event</a:t>
            </a:r>
          </a:p>
        </p:txBody>
      </p:sp>
      <p:sp>
        <p:nvSpPr>
          <p:cNvPr id="13" name="Any event that makes the current plan impossible to execute ">
            <a:extLst xmlns:a="http://schemas.openxmlformats.org/drawingml/2006/main">
              <a:ext uri="{FF2B5EF4-FFF2-40B4-BE49-F238E27FC236}">
                <a16:creationId xmlns:a16="http://schemas.microsoft.com/office/drawing/2014/main" id="{232B5775-5ACE-483F-B3D2-CED96A5EE4E6}"/>
              </a:ext>
            </a:extLst>
          </p:cNvPr>
          <p:cNvSpPr>
            <a:spLocks xmlns:a="http://schemas.openxmlformats.org/drawingml/2006/main" noGrp="1"/>
          </p:cNvSpPr>
          <p:nvPr/>
        </p:nvSpPr>
        <p:spPr>
          <a:xfrm xmlns:a="http://schemas.openxmlformats.org/drawingml/2006/main">
            <a:off x="819150" y="3419475"/>
            <a:ext cx="1009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03047"/>
                </a:solidFill>
                <a:latin typeface="Avenir Next"/>
                <a:ea typeface="Avenir Next"/>
                <a:cs typeface="Avenir Next"/>
              </a:defRPr>
            </a:pPr>
            <a:r>
              <a:rPr sz="2025" b="0">
                <a:solidFill>
                  <a:srgbClr val="203047"/>
                </a:solidFill>
                <a:latin typeface="Avenir Next"/>
                <a:ea typeface="Avenir Next"/>
                <a:cs typeface="Avenir Next"/>
              </a:rPr>
              <a:t>Any event that makes the current plan impossible to execute as written—and obliges someone to decide, quickly, what replaces it.</a:t>
            </a:r>
          </a:p>
        </p:txBody>
      </p:sp>
      <p:sp>
        <p:nvSpPr>
          <p:cNvPr id="14" name="The event">
            <a:extLst xmlns:a="http://schemas.openxmlformats.org/drawingml/2006/main">
              <a:ext uri="{FF2B5EF4-FFF2-40B4-BE49-F238E27FC236}">
                <a16:creationId xmlns:a16="http://schemas.microsoft.com/office/drawing/2014/main" id="{67F62503-93E0-471A-B9B6-F450AEAE1F59}"/>
              </a:ext>
            </a:extLst>
          </p:cNvPr>
          <p:cNvSpPr>
            <a:spLocks xmlns:a="http://schemas.openxmlformats.org/drawingml/2006/main" noGrp="1"/>
          </p:cNvSpPr>
          <p:nvPr/>
        </p:nvSpPr>
        <p:spPr>
          <a:xfrm xmlns:a="http://schemas.openxmlformats.org/drawingml/2006/main">
            <a:off x="590550" y="4629150"/>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The event</a:t>
            </a:r>
          </a:p>
        </p:txBody>
      </p:sp>
      <p:sp>
        <p:nvSpPr>
          <p:cNvPr id="15" name="A rare-earth export licence is suspended indefinitely.">
            <a:extLst xmlns:a="http://schemas.openxmlformats.org/drawingml/2006/main">
              <a:ext uri="{FF2B5EF4-FFF2-40B4-BE49-F238E27FC236}">
                <a16:creationId xmlns:a16="http://schemas.microsoft.com/office/drawing/2014/main" id="{FDE2C674-3148-4BBB-908C-542845ED7654}"/>
              </a:ext>
            </a:extLst>
          </p:cNvPr>
          <p:cNvSpPr>
            <a:spLocks xmlns:a="http://schemas.openxmlformats.org/drawingml/2006/main" noGrp="1"/>
          </p:cNvSpPr>
          <p:nvPr/>
        </p:nvSpPr>
        <p:spPr>
          <a:xfrm xmlns:a="http://schemas.openxmlformats.org/drawingml/2006/main">
            <a:off x="590550" y="5086350"/>
            <a:ext cx="34353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96779"/>
                </a:solidFill>
                <a:latin typeface="Avenir Next"/>
                <a:ea typeface="Avenir Next"/>
                <a:cs typeface="Avenir Next"/>
              </a:defRPr>
            </a:pPr>
            <a:r>
              <a:rPr sz="1650" b="0">
                <a:solidFill>
                  <a:srgbClr val="596779"/>
                </a:solidFill>
                <a:latin typeface="Avenir Next"/>
                <a:ea typeface="Avenir Next"/>
                <a:cs typeface="Avenir Next"/>
              </a:rPr>
              <a:t>A rare-earth export licence is suspended indefinitely.</a:t>
            </a:r>
          </a:p>
        </p:txBody>
      </p:sp>
      <p:sp>
        <p:nvSpPr>
          <p:cNvPr id="16" name="What it invalidates">
            <a:extLst xmlns:a="http://schemas.openxmlformats.org/drawingml/2006/main">
              <a:ext uri="{FF2B5EF4-FFF2-40B4-BE49-F238E27FC236}">
                <a16:creationId xmlns:a16="http://schemas.microsoft.com/office/drawing/2014/main" id="{35AAFC16-409B-4ABF-84B2-48556BA95E6B}"/>
              </a:ext>
            </a:extLst>
          </p:cNvPr>
          <p:cNvSpPr>
            <a:spLocks xmlns:a="http://schemas.openxmlformats.org/drawingml/2006/main" noGrp="1"/>
          </p:cNvSpPr>
          <p:nvPr/>
        </p:nvSpPr>
        <p:spPr>
          <a:xfrm xmlns:a="http://schemas.openxmlformats.org/drawingml/2006/main">
            <a:off x="4349750" y="4629150"/>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What it invalidates</a:t>
            </a:r>
          </a:p>
        </p:txBody>
      </p:sp>
      <p:sp>
        <p:nvSpPr>
          <p:cNvPr id="17" name="The build sequence for assemblies that require the magnet bi">
            <a:extLst xmlns:a="http://schemas.openxmlformats.org/drawingml/2006/main">
              <a:ext uri="{FF2B5EF4-FFF2-40B4-BE49-F238E27FC236}">
                <a16:creationId xmlns:a16="http://schemas.microsoft.com/office/drawing/2014/main" id="{B266E0D4-85E9-4590-8ADE-136661026E03}"/>
              </a:ext>
            </a:extLst>
          </p:cNvPr>
          <p:cNvSpPr>
            <a:spLocks xmlns:a="http://schemas.openxmlformats.org/drawingml/2006/main" noGrp="1"/>
          </p:cNvSpPr>
          <p:nvPr/>
        </p:nvSpPr>
        <p:spPr>
          <a:xfrm xmlns:a="http://schemas.openxmlformats.org/drawingml/2006/main">
            <a:off x="4349750" y="5086350"/>
            <a:ext cx="34353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96779"/>
                </a:solidFill>
                <a:latin typeface="Avenir Next"/>
                <a:ea typeface="Avenir Next"/>
                <a:cs typeface="Avenir Next"/>
              </a:defRPr>
            </a:pPr>
            <a:r>
              <a:rPr sz="1650" b="0">
                <a:solidFill>
                  <a:srgbClr val="596779"/>
                </a:solidFill>
                <a:latin typeface="Avenir Next"/>
                <a:ea typeface="Avenir Next"/>
                <a:cs typeface="Avenir Next"/>
              </a:rPr>
              <a:t>The build sequence for assemblies that require the magnet billet.</a:t>
            </a:r>
          </a:p>
        </p:txBody>
      </p:sp>
      <p:sp>
        <p:nvSpPr>
          <p:cNvPr id="18" name="Who decides">
            <a:extLst xmlns:a="http://schemas.openxmlformats.org/drawingml/2006/main">
              <a:ext uri="{FF2B5EF4-FFF2-40B4-BE49-F238E27FC236}">
                <a16:creationId xmlns:a16="http://schemas.microsoft.com/office/drawing/2014/main" id="{42B813B7-1D70-44D7-809E-C1053B33C0BA}"/>
              </a:ext>
            </a:extLst>
          </p:cNvPr>
          <p:cNvSpPr>
            <a:spLocks xmlns:a="http://schemas.openxmlformats.org/drawingml/2006/main" noGrp="1"/>
          </p:cNvSpPr>
          <p:nvPr/>
        </p:nvSpPr>
        <p:spPr>
          <a:xfrm xmlns:a="http://schemas.openxmlformats.org/drawingml/2006/main">
            <a:off x="8108950" y="4629150"/>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Who decides</a:t>
            </a:r>
          </a:p>
        </p:txBody>
      </p:sp>
      <p:sp>
        <p:nvSpPr>
          <p:cNvPr id="19" name="A named person, inside hours, with authority to commit to a ">
            <a:extLst xmlns:a="http://schemas.openxmlformats.org/drawingml/2006/main">
              <a:ext uri="{FF2B5EF4-FFF2-40B4-BE49-F238E27FC236}">
                <a16:creationId xmlns:a16="http://schemas.microsoft.com/office/drawing/2014/main" id="{D461050F-70CE-471B-AB92-6343132B6252}"/>
              </a:ext>
            </a:extLst>
          </p:cNvPr>
          <p:cNvSpPr>
            <a:spLocks xmlns:a="http://schemas.openxmlformats.org/drawingml/2006/main" noGrp="1"/>
          </p:cNvSpPr>
          <p:nvPr/>
        </p:nvSpPr>
        <p:spPr>
          <a:xfrm xmlns:a="http://schemas.openxmlformats.org/drawingml/2006/main">
            <a:off x="8108950" y="5086350"/>
            <a:ext cx="34353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96779"/>
                </a:solidFill>
                <a:latin typeface="Avenir Next"/>
                <a:ea typeface="Avenir Next"/>
                <a:cs typeface="Avenir Next"/>
              </a:defRPr>
            </a:pPr>
            <a:r>
              <a:rPr sz="1650" b="0">
                <a:solidFill>
                  <a:srgbClr val="596779"/>
                </a:solidFill>
                <a:latin typeface="Avenir Next"/>
                <a:ea typeface="Avenir Next"/>
                <a:cs typeface="Avenir Next"/>
              </a:rPr>
              <a:t>A named person, inside hours, with authority to commit to a replacement.</a:t>
            </a:r>
          </a:p>
        </p:txBody>
      </p:sp>
    </p:spTree>
    <p:extLst>
      <p:ext uri="{BB962C8B-B14F-4D97-AF65-F5344CB8AC3E}">
        <p14:creationId xmlns:p14="http://schemas.microsoft.com/office/powerpoint/2010/main" val="729274190"/>
      </p:ext>
    </p:extLst>
  </p:cSld>
</p:sld>
</file>

<file path=ppt/slides/slide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F6D382D-5AE9-4D79-A14A-3AD565EC9503}"/>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586F25-F807-4A77-886F-2959CF50F9E0}"/>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66B5CA41-7AEC-47DD-88B0-F548674D06C2}"/>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D41C1430-C69F-4178-8A38-2FC508C141D5}"/>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805BB085-6D43-43F8-8C8D-FB85FCC5718F}"/>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9483906A-B836-4A51-A5E7-DE19DE1B8745}"/>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03 / 13">
            <a:extLst xmlns:a="http://schemas.openxmlformats.org/drawingml/2006/main">
              <a:ext uri="{FF2B5EF4-FFF2-40B4-BE49-F238E27FC236}">
                <a16:creationId xmlns:a16="http://schemas.microsoft.com/office/drawing/2014/main" id="{4A4363A3-BF68-4F8A-9A77-81A8296B90EE}"/>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03 / 13</a:t>
            </a:r>
          </a:p>
        </p:txBody>
      </p:sp>
      <p:sp>
        <p:nvSpPr>
          <p:cNvPr id="8" name="The supplier that stops the program may be invisible">
            <a:extLst xmlns:a="http://schemas.openxmlformats.org/drawingml/2006/main">
              <a:ext uri="{FF2B5EF4-FFF2-40B4-BE49-F238E27FC236}">
                <a16:creationId xmlns:a16="http://schemas.microsoft.com/office/drawing/2014/main" id="{5A0C7E71-4716-49F0-906E-86261D780A79}"/>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The supplier that stops the program may be invisible</a:t>
            </a:r>
          </a:p>
        </p:txBody>
      </p:sp>
      <p:sp>
        <p:nvSpPr>
          <p:cNvPr id="9" name="A hundred thousand companies—and incomplete visibility into ">
            <a:extLst xmlns:a="http://schemas.openxmlformats.org/drawingml/2006/main">
              <a:ext uri="{FF2B5EF4-FFF2-40B4-BE49-F238E27FC236}">
                <a16:creationId xmlns:a16="http://schemas.microsoft.com/office/drawing/2014/main" id="{4BA63E44-9D9E-4E3A-B4D0-47BBC3B0EBD9}"/>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A hundred thousand companies—and incomplete visibility into the specialists programs depend on.</a:t>
            </a:r>
          </a:p>
        </p:txBody>
      </p:sp>
      <p:sp>
        <p:nvSpPr>
          <p:cNvPr id="10" name="The vendor base fell from about 69,000 firms in 2016 to 55,0">
            <a:extLst xmlns:a="http://schemas.openxmlformats.org/drawingml/2006/main">
              <a:ext uri="{FF2B5EF4-FFF2-40B4-BE49-F238E27FC236}">
                <a16:creationId xmlns:a16="http://schemas.microsoft.com/office/drawing/2014/main" id="{6F34F82C-4112-417C-8CFF-686EC78334A6}"/>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The vendor base fell from about 69,000 firms in 2016 to 55,000 in 2020. Each remaining dependency matters.</a:t>
            </a:r>
          </a:p>
        </p:txBody>
      </p:sp>
      <p:sp>
        <p:nvSpPr>
          <p:cNvPr id="11" name="">
            <a:extLst xmlns:a="http://schemas.openxmlformats.org/drawingml/2006/main">
              <a:ext uri="{FF2B5EF4-FFF2-40B4-BE49-F238E27FC236}">
                <a16:creationId xmlns:a16="http://schemas.microsoft.com/office/drawing/2014/main" id="{FC2FE86C-792A-4A03-A939-FF29E251D40B}"/>
              </a:ext>
            </a:extLst>
          </p:cNvPr>
          <p:cNvSpPr>
            <a:spLocks xmlns:a="http://schemas.openxmlformats.org/drawingml/2006/main" noGrp="1"/>
          </p:cNvSpPr>
          <p:nvPr/>
        </p:nvSpPr>
        <p:spPr>
          <a:xfrm xmlns:a="http://schemas.openxmlformats.org/drawingml/2006/main">
            <a:off x="590550" y="2686050"/>
            <a:ext cx="2609850" cy="25622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100,000+">
            <a:extLst xmlns:a="http://schemas.openxmlformats.org/drawingml/2006/main">
              <a:ext uri="{FF2B5EF4-FFF2-40B4-BE49-F238E27FC236}">
                <a16:creationId xmlns:a16="http://schemas.microsoft.com/office/drawing/2014/main" id="{0EB53321-2026-4453-AA34-CF085CAD34C4}"/>
              </a:ext>
            </a:extLst>
          </p:cNvPr>
          <p:cNvSpPr>
            <a:spLocks xmlns:a="http://schemas.openxmlformats.org/drawingml/2006/main" noGrp="1"/>
          </p:cNvSpPr>
          <p:nvPr/>
        </p:nvSpPr>
        <p:spPr>
          <a:xfrm xmlns:a="http://schemas.openxmlformats.org/drawingml/2006/main">
            <a:off x="742950" y="2809875"/>
            <a:ext cx="2305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85BD0"/>
                </a:solidFill>
                <a:latin typeface="Avenir Next"/>
                <a:ea typeface="Avenir Next"/>
                <a:cs typeface="Avenir Next"/>
              </a:defRPr>
            </a:pPr>
            <a:r>
              <a:rPr sz="3600" b="1">
                <a:solidFill>
                  <a:srgbClr val="285BD0"/>
                </a:solidFill>
                <a:latin typeface="Avenir Next"/>
                <a:ea typeface="Avenir Next"/>
                <a:cs typeface="Avenir Next"/>
              </a:rPr>
              <a:t>100,000+</a:t>
            </a:r>
          </a:p>
        </p:txBody>
      </p:sp>
      <p:sp>
        <p:nvSpPr>
          <p:cNvPr id="13" name="Companies and subcontractors in the defense industrial base">
            <a:extLst xmlns:a="http://schemas.openxmlformats.org/drawingml/2006/main">
              <a:ext uri="{FF2B5EF4-FFF2-40B4-BE49-F238E27FC236}">
                <a16:creationId xmlns:a16="http://schemas.microsoft.com/office/drawing/2014/main" id="{894EDE50-7A7D-4091-8793-35C851DAA609}"/>
              </a:ext>
            </a:extLst>
          </p:cNvPr>
          <p:cNvSpPr>
            <a:spLocks xmlns:a="http://schemas.openxmlformats.org/drawingml/2006/main" noGrp="1"/>
          </p:cNvSpPr>
          <p:nvPr/>
        </p:nvSpPr>
        <p:spPr>
          <a:xfrm xmlns:a="http://schemas.openxmlformats.org/drawingml/2006/main">
            <a:off x="742950" y="3533775"/>
            <a:ext cx="23050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203047"/>
                </a:solidFill>
                <a:latin typeface="Avenir Next"/>
                <a:ea typeface="Avenir Next"/>
                <a:cs typeface="Avenir Next"/>
              </a:defRPr>
            </a:pPr>
            <a:r>
              <a:rPr sz="1425" b="0">
                <a:solidFill>
                  <a:srgbClr val="203047"/>
                </a:solidFill>
                <a:latin typeface="Avenir Next"/>
                <a:ea typeface="Avenir Next"/>
                <a:cs typeface="Avenir Next"/>
              </a:rPr>
              <a:t>Companies and subcontractors in the defense industrial base</a:t>
            </a:r>
          </a:p>
        </p:txBody>
      </p:sp>
      <p:sp>
        <p:nvSpPr>
          <p:cNvPr id="14" name="DoD, 2021 graphic">
            <a:extLst xmlns:a="http://schemas.openxmlformats.org/drawingml/2006/main">
              <a:ext uri="{FF2B5EF4-FFF2-40B4-BE49-F238E27FC236}">
                <a16:creationId xmlns:a16="http://schemas.microsoft.com/office/drawing/2014/main" id="{E58BD48C-70A1-4CD3-A1C3-8689EFD82079}"/>
              </a:ext>
            </a:extLst>
          </p:cNvPr>
          <p:cNvSpPr>
            <a:spLocks xmlns:a="http://schemas.openxmlformats.org/drawingml/2006/main" noGrp="1"/>
          </p:cNvSpPr>
          <p:nvPr/>
        </p:nvSpPr>
        <p:spPr>
          <a:xfrm xmlns:a="http://schemas.openxmlformats.org/drawingml/2006/main">
            <a:off x="742950" y="4972050"/>
            <a:ext cx="2305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96779"/>
                </a:solidFill>
                <a:latin typeface="Avenir Next"/>
                <a:ea typeface="Avenir Next"/>
                <a:cs typeface="Avenir Next"/>
              </a:defRPr>
            </a:pPr>
            <a:r>
              <a:rPr sz="1050" b="0">
                <a:solidFill>
                  <a:srgbClr val="596779"/>
                </a:solidFill>
                <a:latin typeface="Avenir Next"/>
                <a:ea typeface="Avenir Next"/>
                <a:cs typeface="Avenir Next"/>
              </a:rPr>
              <a:t>DoD, 2021 graphic</a:t>
            </a:r>
          </a:p>
        </p:txBody>
      </p:sp>
      <p:sp>
        <p:nvSpPr>
          <p:cNvPr id="15" name="">
            <a:extLst xmlns:a="http://schemas.openxmlformats.org/drawingml/2006/main">
              <a:ext uri="{FF2B5EF4-FFF2-40B4-BE49-F238E27FC236}">
                <a16:creationId xmlns:a16="http://schemas.microsoft.com/office/drawing/2014/main" id="{12FA9B28-C26E-49E8-B9B9-27D6560BF8CD}"/>
              </a:ext>
            </a:extLst>
          </p:cNvPr>
          <p:cNvSpPr>
            <a:spLocks xmlns:a="http://schemas.openxmlformats.org/drawingml/2006/main" noGrp="1"/>
          </p:cNvSpPr>
          <p:nvPr/>
        </p:nvSpPr>
        <p:spPr>
          <a:xfrm xmlns:a="http://schemas.openxmlformats.org/drawingml/2006/main">
            <a:off x="3371850" y="2686050"/>
            <a:ext cx="2609850" cy="25622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300,000">
            <a:extLst xmlns:a="http://schemas.openxmlformats.org/drawingml/2006/main">
              <a:ext uri="{FF2B5EF4-FFF2-40B4-BE49-F238E27FC236}">
                <a16:creationId xmlns:a16="http://schemas.microsoft.com/office/drawing/2014/main" id="{DAB97C07-4E44-4462-AD79-6483DD51414A}"/>
              </a:ext>
            </a:extLst>
          </p:cNvPr>
          <p:cNvSpPr>
            <a:spLocks xmlns:a="http://schemas.openxmlformats.org/drawingml/2006/main" noGrp="1"/>
          </p:cNvSpPr>
          <p:nvPr/>
        </p:nvSpPr>
        <p:spPr>
          <a:xfrm xmlns:a="http://schemas.openxmlformats.org/drawingml/2006/main">
            <a:off x="3524250" y="2809875"/>
            <a:ext cx="2305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85BD0"/>
                </a:solidFill>
                <a:latin typeface="Avenir Next"/>
                <a:ea typeface="Avenir Next"/>
                <a:cs typeface="Avenir Next"/>
              </a:defRPr>
            </a:pPr>
            <a:r>
              <a:rPr sz="3600" b="1">
                <a:solidFill>
                  <a:srgbClr val="285BD0"/>
                </a:solidFill>
                <a:latin typeface="Avenir Next"/>
                <a:ea typeface="Avenir Next"/>
                <a:cs typeface="Avenir Next"/>
              </a:rPr>
              <a:t>~300,000</a:t>
            </a:r>
          </a:p>
        </p:txBody>
      </p:sp>
      <p:sp>
        <p:nvSpPr>
          <p:cNvPr id="17" name="Companies and suppliers in the broader defense ecosystem">
            <a:extLst xmlns:a="http://schemas.openxmlformats.org/drawingml/2006/main">
              <a:ext uri="{FF2B5EF4-FFF2-40B4-BE49-F238E27FC236}">
                <a16:creationId xmlns:a16="http://schemas.microsoft.com/office/drawing/2014/main" id="{5E07DE5D-9B5C-472D-83C0-016F37D847FA}"/>
              </a:ext>
            </a:extLst>
          </p:cNvPr>
          <p:cNvSpPr>
            <a:spLocks xmlns:a="http://schemas.openxmlformats.org/drawingml/2006/main" noGrp="1"/>
          </p:cNvSpPr>
          <p:nvPr/>
        </p:nvSpPr>
        <p:spPr>
          <a:xfrm xmlns:a="http://schemas.openxmlformats.org/drawingml/2006/main">
            <a:off x="3524250" y="3533775"/>
            <a:ext cx="23050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203047"/>
                </a:solidFill>
                <a:latin typeface="Avenir Next"/>
                <a:ea typeface="Avenir Next"/>
                <a:cs typeface="Avenir Next"/>
              </a:defRPr>
            </a:pPr>
            <a:r>
              <a:rPr sz="1425" b="0">
                <a:solidFill>
                  <a:srgbClr val="203047"/>
                </a:solidFill>
                <a:latin typeface="Avenir Next"/>
                <a:ea typeface="Avenir Next"/>
                <a:cs typeface="Avenir Next"/>
              </a:rPr>
              <a:t>Companies and suppliers in the broader defense ecosystem</a:t>
            </a:r>
          </a:p>
        </p:txBody>
      </p:sp>
      <p:sp>
        <p:nvSpPr>
          <p:cNvPr id="18" name="DoD strategy, 2024">
            <a:extLst xmlns:a="http://schemas.openxmlformats.org/drawingml/2006/main">
              <a:ext uri="{FF2B5EF4-FFF2-40B4-BE49-F238E27FC236}">
                <a16:creationId xmlns:a16="http://schemas.microsoft.com/office/drawing/2014/main" id="{3345C05A-B477-4D89-864E-6B3DB065AF53}"/>
              </a:ext>
            </a:extLst>
          </p:cNvPr>
          <p:cNvSpPr>
            <a:spLocks xmlns:a="http://schemas.openxmlformats.org/drawingml/2006/main" noGrp="1"/>
          </p:cNvSpPr>
          <p:nvPr/>
        </p:nvSpPr>
        <p:spPr>
          <a:xfrm xmlns:a="http://schemas.openxmlformats.org/drawingml/2006/main">
            <a:off x="3524250" y="4972050"/>
            <a:ext cx="2305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96779"/>
                </a:solidFill>
                <a:latin typeface="Avenir Next"/>
                <a:ea typeface="Avenir Next"/>
                <a:cs typeface="Avenir Next"/>
              </a:defRPr>
            </a:pPr>
            <a:r>
              <a:rPr sz="1050" b="0">
                <a:solidFill>
                  <a:srgbClr val="596779"/>
                </a:solidFill>
                <a:latin typeface="Avenir Next"/>
                <a:ea typeface="Avenir Next"/>
                <a:cs typeface="Avenir Next"/>
              </a:rPr>
              <a:t>DoD strategy, 2024</a:t>
            </a:r>
          </a:p>
        </p:txBody>
      </p:sp>
      <p:sp>
        <p:nvSpPr>
          <p:cNvPr id="19" name="">
            <a:extLst xmlns:a="http://schemas.openxmlformats.org/drawingml/2006/main">
              <a:ext uri="{FF2B5EF4-FFF2-40B4-BE49-F238E27FC236}">
                <a16:creationId xmlns:a16="http://schemas.microsoft.com/office/drawing/2014/main" id="{8AA82182-C47C-4A54-9F6A-509029F6E424}"/>
              </a:ext>
            </a:extLst>
          </p:cNvPr>
          <p:cNvSpPr>
            <a:spLocks xmlns:a="http://schemas.openxmlformats.org/drawingml/2006/main" noGrp="1"/>
          </p:cNvSpPr>
          <p:nvPr/>
        </p:nvSpPr>
        <p:spPr>
          <a:xfrm xmlns:a="http://schemas.openxmlformats.org/drawingml/2006/main">
            <a:off x="6153150" y="2686050"/>
            <a:ext cx="2609850" cy="25622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0" name="12,000+">
            <a:extLst xmlns:a="http://schemas.openxmlformats.org/drawingml/2006/main">
              <a:ext uri="{FF2B5EF4-FFF2-40B4-BE49-F238E27FC236}">
                <a16:creationId xmlns:a16="http://schemas.microsoft.com/office/drawing/2014/main" id="{8A50F3A8-1934-4BDA-B574-7D5B66C1F10C}"/>
              </a:ext>
            </a:extLst>
          </p:cNvPr>
          <p:cNvSpPr>
            <a:spLocks xmlns:a="http://schemas.openxmlformats.org/drawingml/2006/main" noGrp="1"/>
          </p:cNvSpPr>
          <p:nvPr/>
        </p:nvSpPr>
        <p:spPr>
          <a:xfrm xmlns:a="http://schemas.openxmlformats.org/drawingml/2006/main">
            <a:off x="6305550" y="2809875"/>
            <a:ext cx="2305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85BD0"/>
                </a:solidFill>
                <a:latin typeface="Avenir Next"/>
                <a:ea typeface="Avenir Next"/>
                <a:cs typeface="Avenir Next"/>
              </a:defRPr>
            </a:pPr>
            <a:r>
              <a:rPr sz="3600" b="1">
                <a:solidFill>
                  <a:srgbClr val="285BD0"/>
                </a:solidFill>
                <a:latin typeface="Avenir Next"/>
                <a:ea typeface="Avenir Next"/>
                <a:cs typeface="Avenir Next"/>
              </a:rPr>
              <a:t>12,000+</a:t>
            </a:r>
          </a:p>
        </p:txBody>
      </p:sp>
      <p:sp>
        <p:nvSpPr>
          <p:cNvPr id="21" name="Small and midsize subcontractors with incomplete DoD capacit">
            <a:extLst xmlns:a="http://schemas.openxmlformats.org/drawingml/2006/main">
              <a:ext uri="{FF2B5EF4-FFF2-40B4-BE49-F238E27FC236}">
                <a16:creationId xmlns:a16="http://schemas.microsoft.com/office/drawing/2014/main" id="{628A4A93-E2E1-4A9C-9D2F-F88BEE59F0D3}"/>
              </a:ext>
            </a:extLst>
          </p:cNvPr>
          <p:cNvSpPr>
            <a:spLocks xmlns:a="http://schemas.openxmlformats.org/drawingml/2006/main" noGrp="1"/>
          </p:cNvSpPr>
          <p:nvPr/>
        </p:nvSpPr>
        <p:spPr>
          <a:xfrm xmlns:a="http://schemas.openxmlformats.org/drawingml/2006/main">
            <a:off x="6305550" y="3533775"/>
            <a:ext cx="23050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203047"/>
                </a:solidFill>
                <a:latin typeface="Avenir Next"/>
                <a:ea typeface="Avenir Next"/>
                <a:cs typeface="Avenir Next"/>
              </a:defRPr>
            </a:pPr>
            <a:r>
              <a:rPr sz="1425" b="0">
                <a:solidFill>
                  <a:srgbClr val="203047"/>
                </a:solidFill>
                <a:latin typeface="Avenir Next"/>
                <a:ea typeface="Avenir Next"/>
                <a:cs typeface="Avenir Next"/>
              </a:rPr>
              <a:t>Small and midsize subcontractors with incomplete DoD capacity visibility</a:t>
            </a:r>
          </a:p>
        </p:txBody>
      </p:sp>
      <p:sp>
        <p:nvSpPr>
          <p:cNvPr id="22" name="Brookings, 2024">
            <a:extLst xmlns:a="http://schemas.openxmlformats.org/drawingml/2006/main">
              <a:ext uri="{FF2B5EF4-FFF2-40B4-BE49-F238E27FC236}">
                <a16:creationId xmlns:a16="http://schemas.microsoft.com/office/drawing/2014/main" id="{92836749-326B-425C-9D4A-AE87C414EC0E}"/>
              </a:ext>
            </a:extLst>
          </p:cNvPr>
          <p:cNvSpPr>
            <a:spLocks xmlns:a="http://schemas.openxmlformats.org/drawingml/2006/main" noGrp="1"/>
          </p:cNvSpPr>
          <p:nvPr/>
        </p:nvSpPr>
        <p:spPr>
          <a:xfrm xmlns:a="http://schemas.openxmlformats.org/drawingml/2006/main">
            <a:off x="6305550" y="4972050"/>
            <a:ext cx="2305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96779"/>
                </a:solidFill>
                <a:latin typeface="Avenir Next"/>
                <a:ea typeface="Avenir Next"/>
                <a:cs typeface="Avenir Next"/>
              </a:defRPr>
            </a:pPr>
            <a:r>
              <a:rPr sz="1050" b="0">
                <a:solidFill>
                  <a:srgbClr val="596779"/>
                </a:solidFill>
                <a:latin typeface="Avenir Next"/>
                <a:ea typeface="Avenir Next"/>
                <a:cs typeface="Avenir Next"/>
              </a:rPr>
              <a:t>Brookings, 2024</a:t>
            </a:r>
          </a:p>
        </p:txBody>
      </p:sp>
      <p:sp>
        <p:nvSpPr>
          <p:cNvPr id="23" name="">
            <a:extLst xmlns:a="http://schemas.openxmlformats.org/drawingml/2006/main">
              <a:ext uri="{FF2B5EF4-FFF2-40B4-BE49-F238E27FC236}">
                <a16:creationId xmlns:a16="http://schemas.microsoft.com/office/drawing/2014/main" id="{972E9BC4-D47F-4D83-87D1-F1FCB6AAF6C9}"/>
              </a:ext>
            </a:extLst>
          </p:cNvPr>
          <p:cNvSpPr>
            <a:spLocks xmlns:a="http://schemas.openxmlformats.org/drawingml/2006/main" noGrp="1"/>
          </p:cNvSpPr>
          <p:nvPr/>
        </p:nvSpPr>
        <p:spPr>
          <a:xfrm xmlns:a="http://schemas.openxmlformats.org/drawingml/2006/main">
            <a:off x="8934450" y="2686050"/>
            <a:ext cx="2609850" cy="25622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4" name="51 → 5">
            <a:extLst xmlns:a="http://schemas.openxmlformats.org/drawingml/2006/main">
              <a:ext uri="{FF2B5EF4-FFF2-40B4-BE49-F238E27FC236}">
                <a16:creationId xmlns:a16="http://schemas.microsoft.com/office/drawing/2014/main" id="{C49FEA12-2684-4F1E-9C3E-6A767FAAFEBD}"/>
              </a:ext>
            </a:extLst>
          </p:cNvPr>
          <p:cNvSpPr>
            <a:spLocks xmlns:a="http://schemas.openxmlformats.org/drawingml/2006/main" noGrp="1"/>
          </p:cNvSpPr>
          <p:nvPr/>
        </p:nvSpPr>
        <p:spPr>
          <a:xfrm xmlns:a="http://schemas.openxmlformats.org/drawingml/2006/main">
            <a:off x="9086850" y="2809875"/>
            <a:ext cx="2305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85BD0"/>
                </a:solidFill>
                <a:latin typeface="Avenir Next"/>
                <a:ea typeface="Avenir Next"/>
                <a:cs typeface="Avenir Next"/>
              </a:defRPr>
            </a:pPr>
            <a:r>
              <a:rPr sz="3600" b="1">
                <a:solidFill>
                  <a:srgbClr val="285BD0"/>
                </a:solidFill>
                <a:latin typeface="Avenir Next"/>
                <a:ea typeface="Avenir Next"/>
                <a:cs typeface="Avenir Next"/>
              </a:rPr>
              <a:t>51 → 5</a:t>
            </a:r>
          </a:p>
        </p:txBody>
      </p:sp>
      <p:sp>
        <p:nvSpPr>
          <p:cNvPr id="25" name="Aerospace and defense primes after consolidation, 1993–2000">
            <a:extLst xmlns:a="http://schemas.openxmlformats.org/drawingml/2006/main">
              <a:ext uri="{FF2B5EF4-FFF2-40B4-BE49-F238E27FC236}">
                <a16:creationId xmlns:a16="http://schemas.microsoft.com/office/drawing/2014/main" id="{5E3AE51F-51EA-455E-A05D-AC1708AF28E0}"/>
              </a:ext>
            </a:extLst>
          </p:cNvPr>
          <p:cNvSpPr>
            <a:spLocks xmlns:a="http://schemas.openxmlformats.org/drawingml/2006/main" noGrp="1"/>
          </p:cNvSpPr>
          <p:nvPr/>
        </p:nvSpPr>
        <p:spPr>
          <a:xfrm xmlns:a="http://schemas.openxmlformats.org/drawingml/2006/main">
            <a:off x="9086850" y="3533775"/>
            <a:ext cx="23050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203047"/>
                </a:solidFill>
                <a:latin typeface="Avenir Next"/>
                <a:ea typeface="Avenir Next"/>
                <a:cs typeface="Avenir Next"/>
              </a:defRPr>
            </a:pPr>
            <a:r>
              <a:rPr sz="1425" b="0">
                <a:solidFill>
                  <a:srgbClr val="203047"/>
                </a:solidFill>
                <a:latin typeface="Avenir Next"/>
                <a:ea typeface="Avenir Next"/>
                <a:cs typeface="Avenir Next"/>
              </a:rPr>
              <a:t>Aerospace and defense primes after consolidation, 1993–2000</a:t>
            </a:r>
          </a:p>
        </p:txBody>
      </p:sp>
      <p:sp>
        <p:nvSpPr>
          <p:cNvPr id="26" name="DoD, 2022">
            <a:extLst xmlns:a="http://schemas.openxmlformats.org/drawingml/2006/main">
              <a:ext uri="{FF2B5EF4-FFF2-40B4-BE49-F238E27FC236}">
                <a16:creationId xmlns:a16="http://schemas.microsoft.com/office/drawing/2014/main" id="{1570E757-DDC5-4039-B18A-526D97DEA7C6}"/>
              </a:ext>
            </a:extLst>
          </p:cNvPr>
          <p:cNvSpPr>
            <a:spLocks xmlns:a="http://schemas.openxmlformats.org/drawingml/2006/main" noGrp="1"/>
          </p:cNvSpPr>
          <p:nvPr/>
        </p:nvSpPr>
        <p:spPr>
          <a:xfrm xmlns:a="http://schemas.openxmlformats.org/drawingml/2006/main">
            <a:off x="9086850" y="4972050"/>
            <a:ext cx="2305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96779"/>
                </a:solidFill>
                <a:latin typeface="Avenir Next"/>
                <a:ea typeface="Avenir Next"/>
                <a:cs typeface="Avenir Next"/>
              </a:defRPr>
            </a:pPr>
            <a:r>
              <a:rPr sz="1050" b="0">
                <a:solidFill>
                  <a:srgbClr val="596779"/>
                </a:solidFill>
                <a:latin typeface="Avenir Next"/>
                <a:ea typeface="Avenir Next"/>
                <a:cs typeface="Avenir Next"/>
              </a:rPr>
              <a:t>DoD, 2022</a:t>
            </a:r>
          </a:p>
        </p:txBody>
      </p:sp>
      <p:sp>
        <p:nvSpPr>
          <p:cNvPr id="27" name="You cannot manage exposure through a supplier you cannot ide">
            <a:extLst xmlns:a="http://schemas.openxmlformats.org/drawingml/2006/main">
              <a:ext uri="{FF2B5EF4-FFF2-40B4-BE49-F238E27FC236}">
                <a16:creationId xmlns:a16="http://schemas.microsoft.com/office/drawing/2014/main" id="{EDB36A0E-AC0B-496E-A27E-C09BDA7144DE}"/>
              </a:ext>
            </a:extLst>
          </p:cNvPr>
          <p:cNvSpPr>
            <a:spLocks xmlns:a="http://schemas.openxmlformats.org/drawingml/2006/main" noGrp="1"/>
          </p:cNvSpPr>
          <p:nvPr/>
        </p:nvSpPr>
        <p:spPr>
          <a:xfrm xmlns:a="http://schemas.openxmlformats.org/drawingml/2006/main">
            <a:off x="590550" y="5524500"/>
            <a:ext cx="10858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03047"/>
                </a:solidFill>
                <a:latin typeface="Avenir Next"/>
                <a:ea typeface="Avenir Next"/>
                <a:cs typeface="Avenir Next"/>
              </a:defRPr>
            </a:pPr>
            <a:r>
              <a:rPr sz="2175" b="1">
                <a:solidFill>
                  <a:srgbClr val="203047"/>
                </a:solidFill>
                <a:latin typeface="Avenir Next"/>
                <a:ea typeface="Avenir Next"/>
                <a:cs typeface="Avenir Next"/>
              </a:rPr>
              <a:t>You cannot manage exposure through a supplier you cannot identify.</a:t>
            </a:r>
          </a:p>
        </p:txBody>
      </p:sp>
    </p:spTree>
    <p:extLst>
      <p:ext uri="{BB962C8B-B14F-4D97-AF65-F5344CB8AC3E}">
        <p14:creationId xmlns:p14="http://schemas.microsoft.com/office/powerpoint/2010/main" val="574698312"/>
      </p:ext>
    </p:extLst>
  </p:cSld>
</p:sld>
</file>

<file path=ppt/slides/slide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677BA46-BDE2-452A-8597-28426F5AD7E2}"/>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7EBBED-0DB9-42E8-AA5F-6872B48918A0}"/>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6C36C1AC-E235-4DCB-A220-DDB9A1CC6003}"/>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25E9C8C4-2B5C-4590-B79C-E5A51A046F55}"/>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FDAF1FF6-DAB9-4CF1-894A-2BFE58B7B3A0}"/>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6BDADA72-1CE1-4BAD-A085-DBD6E2C71B8F}"/>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04 / 13">
            <a:extLst xmlns:a="http://schemas.openxmlformats.org/drawingml/2006/main">
              <a:ext uri="{FF2B5EF4-FFF2-40B4-BE49-F238E27FC236}">
                <a16:creationId xmlns:a16="http://schemas.microsoft.com/office/drawing/2014/main" id="{B66B98FE-EE72-4264-A56E-24DF74ADC1FE}"/>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04 / 13</a:t>
            </a:r>
          </a:p>
        </p:txBody>
      </p:sp>
      <p:sp>
        <p:nvSpPr>
          <p:cNvPr id="8" name="What a year of unexecutable plans costs">
            <a:extLst xmlns:a="http://schemas.openxmlformats.org/drawingml/2006/main">
              <a:ext uri="{FF2B5EF4-FFF2-40B4-BE49-F238E27FC236}">
                <a16:creationId xmlns:a16="http://schemas.microsoft.com/office/drawing/2014/main" id="{0AD1134F-1C54-4FA1-BB2F-4BA7CF918678}"/>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What a year of unexecutable plans costs</a:t>
            </a:r>
          </a:p>
        </p:txBody>
      </p:sp>
      <p:sp>
        <p:nvSpPr>
          <p:cNvPr id="9" name="Downtime consumes 11% of revenue at the world’s 500 largest ">
            <a:extLst xmlns:a="http://schemas.openxmlformats.org/drawingml/2006/main">
              <a:ext uri="{FF2B5EF4-FFF2-40B4-BE49-F238E27FC236}">
                <a16:creationId xmlns:a16="http://schemas.microsoft.com/office/drawing/2014/main" id="{2C0A7DF2-1A96-4C05-93E7-A6AF55AF3005}"/>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Downtime consumes 11% of revenue at the world’s 500 largest companies, up from 8% in 2019.</a:t>
            </a:r>
          </a:p>
        </p:txBody>
      </p:sp>
      <p:sp>
        <p:nvSpPr>
          <p:cNvPr id="10" name="Separate studies and surveyed populations; the figures are n">
            <a:extLst xmlns:a="http://schemas.openxmlformats.org/drawingml/2006/main">
              <a:ext uri="{FF2B5EF4-FFF2-40B4-BE49-F238E27FC236}">
                <a16:creationId xmlns:a16="http://schemas.microsoft.com/office/drawing/2014/main" id="{C640BBBA-0C1A-4BD3-B4DB-D92E03FE0333}"/>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Separate studies and surveyed populations; the figures are not added together.</a:t>
            </a:r>
          </a:p>
        </p:txBody>
      </p:sp>
      <p:sp>
        <p:nvSpPr>
          <p:cNvPr id="11" name="">
            <a:extLst xmlns:a="http://schemas.openxmlformats.org/drawingml/2006/main">
              <a:ext uri="{FF2B5EF4-FFF2-40B4-BE49-F238E27FC236}">
                <a16:creationId xmlns:a16="http://schemas.microsoft.com/office/drawing/2014/main" id="{BED3F4A5-016C-4A9E-82EE-32D2AEF3AE3E}"/>
              </a:ext>
            </a:extLst>
          </p:cNvPr>
          <p:cNvSpPr>
            <a:spLocks xmlns:a="http://schemas.openxmlformats.org/drawingml/2006/main" noGrp="1"/>
          </p:cNvSpPr>
          <p:nvPr/>
        </p:nvSpPr>
        <p:spPr>
          <a:xfrm xmlns:a="http://schemas.openxmlformats.org/drawingml/2006/main">
            <a:off x="590550" y="2667000"/>
            <a:ext cx="2609850" cy="19907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1.4T">
            <a:extLst xmlns:a="http://schemas.openxmlformats.org/drawingml/2006/main">
              <a:ext uri="{FF2B5EF4-FFF2-40B4-BE49-F238E27FC236}">
                <a16:creationId xmlns:a16="http://schemas.microsoft.com/office/drawing/2014/main" id="{20FED784-E080-4C45-8A36-8C4468591C38}"/>
              </a:ext>
            </a:extLst>
          </p:cNvPr>
          <p:cNvSpPr>
            <a:spLocks xmlns:a="http://schemas.openxmlformats.org/drawingml/2006/main" noGrp="1"/>
          </p:cNvSpPr>
          <p:nvPr/>
        </p:nvSpPr>
        <p:spPr>
          <a:xfrm xmlns:a="http://schemas.openxmlformats.org/drawingml/2006/main">
            <a:off x="742950" y="2790825"/>
            <a:ext cx="2305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125" b="1">
                <a:solidFill>
                  <a:srgbClr val="B33B34"/>
                </a:solidFill>
                <a:latin typeface="Avenir Next"/>
                <a:ea typeface="Avenir Next"/>
                <a:cs typeface="Avenir Next"/>
              </a:defRPr>
            </a:pPr>
            <a:r>
              <a:rPr sz="4125" b="1">
                <a:solidFill>
                  <a:srgbClr val="B33B34"/>
                </a:solidFill>
                <a:latin typeface="Avenir Next"/>
                <a:ea typeface="Avenir Next"/>
                <a:cs typeface="Avenir Next"/>
              </a:rPr>
              <a:t>$1.4T</a:t>
            </a:r>
          </a:p>
        </p:txBody>
      </p:sp>
      <p:sp>
        <p:nvSpPr>
          <p:cNvPr id="13" name="Annual downtime across the world’s 500 largest companies">
            <a:extLst xmlns:a="http://schemas.openxmlformats.org/drawingml/2006/main">
              <a:ext uri="{FF2B5EF4-FFF2-40B4-BE49-F238E27FC236}">
                <a16:creationId xmlns:a16="http://schemas.microsoft.com/office/drawing/2014/main" id="{AC32B315-6960-4E9F-81B4-69163EB23440}"/>
              </a:ext>
            </a:extLst>
          </p:cNvPr>
          <p:cNvSpPr>
            <a:spLocks xmlns:a="http://schemas.openxmlformats.org/drawingml/2006/main" noGrp="1"/>
          </p:cNvSpPr>
          <p:nvPr/>
        </p:nvSpPr>
        <p:spPr>
          <a:xfrm xmlns:a="http://schemas.openxmlformats.org/drawingml/2006/main">
            <a:off x="742950" y="3514725"/>
            <a:ext cx="23050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203047"/>
                </a:solidFill>
                <a:latin typeface="Avenir Next"/>
                <a:ea typeface="Avenir Next"/>
                <a:cs typeface="Avenir Next"/>
              </a:defRPr>
            </a:pPr>
            <a:r>
              <a:rPr sz="1425" b="0">
                <a:solidFill>
                  <a:srgbClr val="203047"/>
                </a:solidFill>
                <a:latin typeface="Avenir Next"/>
                <a:ea typeface="Avenir Next"/>
                <a:cs typeface="Avenir Next"/>
              </a:rPr>
              <a:t>Annual downtime across the world’s 500 largest companies</a:t>
            </a:r>
          </a:p>
        </p:txBody>
      </p:sp>
      <p:sp>
        <p:nvSpPr>
          <p:cNvPr id="14" name="Siemens, 2024">
            <a:extLst xmlns:a="http://schemas.openxmlformats.org/drawingml/2006/main">
              <a:ext uri="{FF2B5EF4-FFF2-40B4-BE49-F238E27FC236}">
                <a16:creationId xmlns:a16="http://schemas.microsoft.com/office/drawing/2014/main" id="{CFA9A31B-4E0C-444A-B628-2502A1ECD355}"/>
              </a:ext>
            </a:extLst>
          </p:cNvPr>
          <p:cNvSpPr>
            <a:spLocks xmlns:a="http://schemas.openxmlformats.org/drawingml/2006/main" noGrp="1"/>
          </p:cNvSpPr>
          <p:nvPr/>
        </p:nvSpPr>
        <p:spPr>
          <a:xfrm xmlns:a="http://schemas.openxmlformats.org/drawingml/2006/main">
            <a:off x="742950" y="4381500"/>
            <a:ext cx="2305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96779"/>
                </a:solidFill>
                <a:latin typeface="Avenir Next"/>
                <a:ea typeface="Avenir Next"/>
                <a:cs typeface="Avenir Next"/>
              </a:defRPr>
            </a:pPr>
            <a:r>
              <a:rPr sz="1050" b="0">
                <a:solidFill>
                  <a:srgbClr val="596779"/>
                </a:solidFill>
                <a:latin typeface="Avenir Next"/>
                <a:ea typeface="Avenir Next"/>
                <a:cs typeface="Avenir Next"/>
              </a:rPr>
              <a:t>Siemens, 2024</a:t>
            </a:r>
          </a:p>
        </p:txBody>
      </p:sp>
      <p:sp>
        <p:nvSpPr>
          <p:cNvPr id="15" name="">
            <a:extLst xmlns:a="http://schemas.openxmlformats.org/drawingml/2006/main">
              <a:ext uri="{FF2B5EF4-FFF2-40B4-BE49-F238E27FC236}">
                <a16:creationId xmlns:a16="http://schemas.microsoft.com/office/drawing/2014/main" id="{AA7AE0F4-D9CB-47C4-90A5-7B996AF209C7}"/>
              </a:ext>
            </a:extLst>
          </p:cNvPr>
          <p:cNvSpPr>
            <a:spLocks xmlns:a="http://schemas.openxmlformats.org/drawingml/2006/main" noGrp="1"/>
          </p:cNvSpPr>
          <p:nvPr/>
        </p:nvSpPr>
        <p:spPr>
          <a:xfrm xmlns:a="http://schemas.openxmlformats.org/drawingml/2006/main">
            <a:off x="3371850" y="2667000"/>
            <a:ext cx="2609850" cy="19907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82M">
            <a:extLst xmlns:a="http://schemas.openxmlformats.org/drawingml/2006/main">
              <a:ext uri="{FF2B5EF4-FFF2-40B4-BE49-F238E27FC236}">
                <a16:creationId xmlns:a16="http://schemas.microsoft.com/office/drawing/2014/main" id="{7A7CFC6E-9B74-4DD2-B2D8-C95EB880F85B}"/>
              </a:ext>
            </a:extLst>
          </p:cNvPr>
          <p:cNvSpPr>
            <a:spLocks xmlns:a="http://schemas.openxmlformats.org/drawingml/2006/main" noGrp="1"/>
          </p:cNvSpPr>
          <p:nvPr/>
        </p:nvSpPr>
        <p:spPr>
          <a:xfrm xmlns:a="http://schemas.openxmlformats.org/drawingml/2006/main">
            <a:off x="3524250" y="2790825"/>
            <a:ext cx="2305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125" b="1">
                <a:solidFill>
                  <a:srgbClr val="B33B34"/>
                </a:solidFill>
                <a:latin typeface="Avenir Next"/>
                <a:ea typeface="Avenir Next"/>
                <a:cs typeface="Avenir Next"/>
              </a:defRPr>
            </a:pPr>
            <a:r>
              <a:rPr sz="4125" b="1">
                <a:solidFill>
                  <a:srgbClr val="B33B34"/>
                </a:solidFill>
                <a:latin typeface="Avenir Next"/>
                <a:ea typeface="Avenir Next"/>
                <a:cs typeface="Avenir Next"/>
              </a:rPr>
              <a:t>$82M</a:t>
            </a:r>
          </a:p>
        </p:txBody>
      </p:sp>
      <p:sp>
        <p:nvSpPr>
          <p:cNvPr id="17" name="Annual disruption losses per company in the 2023 survey">
            <a:extLst xmlns:a="http://schemas.openxmlformats.org/drawingml/2006/main">
              <a:ext uri="{FF2B5EF4-FFF2-40B4-BE49-F238E27FC236}">
                <a16:creationId xmlns:a16="http://schemas.microsoft.com/office/drawing/2014/main" id="{CB57FD69-104E-4D15-B5DC-DF0FD58E2113}"/>
              </a:ext>
            </a:extLst>
          </p:cNvPr>
          <p:cNvSpPr>
            <a:spLocks xmlns:a="http://schemas.openxmlformats.org/drawingml/2006/main" noGrp="1"/>
          </p:cNvSpPr>
          <p:nvPr/>
        </p:nvSpPr>
        <p:spPr>
          <a:xfrm xmlns:a="http://schemas.openxmlformats.org/drawingml/2006/main">
            <a:off x="3524250" y="3514725"/>
            <a:ext cx="23050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203047"/>
                </a:solidFill>
                <a:latin typeface="Avenir Next"/>
                <a:ea typeface="Avenir Next"/>
                <a:cs typeface="Avenir Next"/>
              </a:defRPr>
            </a:pPr>
            <a:r>
              <a:rPr sz="1425" b="0">
                <a:solidFill>
                  <a:srgbClr val="203047"/>
                </a:solidFill>
                <a:latin typeface="Avenir Next"/>
                <a:ea typeface="Avenir Next"/>
                <a:cs typeface="Avenir Next"/>
              </a:rPr>
              <a:t>Annual disruption losses per company in the 2023 survey</a:t>
            </a:r>
          </a:p>
        </p:txBody>
      </p:sp>
      <p:sp>
        <p:nvSpPr>
          <p:cNvPr id="18" name="Interos, 2023">
            <a:extLst xmlns:a="http://schemas.openxmlformats.org/drawingml/2006/main">
              <a:ext uri="{FF2B5EF4-FFF2-40B4-BE49-F238E27FC236}">
                <a16:creationId xmlns:a16="http://schemas.microsoft.com/office/drawing/2014/main" id="{62DB2F34-C163-4E4C-B163-89A9F4DA094F}"/>
              </a:ext>
            </a:extLst>
          </p:cNvPr>
          <p:cNvSpPr>
            <a:spLocks xmlns:a="http://schemas.openxmlformats.org/drawingml/2006/main" noGrp="1"/>
          </p:cNvSpPr>
          <p:nvPr/>
        </p:nvSpPr>
        <p:spPr>
          <a:xfrm xmlns:a="http://schemas.openxmlformats.org/drawingml/2006/main">
            <a:off x="3524250" y="4381500"/>
            <a:ext cx="2305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96779"/>
                </a:solidFill>
                <a:latin typeface="Avenir Next"/>
                <a:ea typeface="Avenir Next"/>
                <a:cs typeface="Avenir Next"/>
              </a:defRPr>
            </a:pPr>
            <a:r>
              <a:rPr sz="1050" b="0">
                <a:solidFill>
                  <a:srgbClr val="596779"/>
                </a:solidFill>
                <a:latin typeface="Avenir Next"/>
                <a:ea typeface="Avenir Next"/>
                <a:cs typeface="Avenir Next"/>
              </a:rPr>
              <a:t>Interos, 2023</a:t>
            </a:r>
          </a:p>
        </p:txBody>
      </p:sp>
      <p:sp>
        <p:nvSpPr>
          <p:cNvPr id="19" name="">
            <a:extLst xmlns:a="http://schemas.openxmlformats.org/drawingml/2006/main">
              <a:ext uri="{FF2B5EF4-FFF2-40B4-BE49-F238E27FC236}">
                <a16:creationId xmlns:a16="http://schemas.microsoft.com/office/drawing/2014/main" id="{7C7F2D05-8909-4254-B4CA-CBE42056AEA8}"/>
              </a:ext>
            </a:extLst>
          </p:cNvPr>
          <p:cNvSpPr>
            <a:spLocks xmlns:a="http://schemas.openxmlformats.org/drawingml/2006/main" noGrp="1"/>
          </p:cNvSpPr>
          <p:nvPr/>
        </p:nvSpPr>
        <p:spPr>
          <a:xfrm xmlns:a="http://schemas.openxmlformats.org/drawingml/2006/main">
            <a:off x="6153150" y="2667000"/>
            <a:ext cx="2609850" cy="19907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0" name="$184M">
            <a:extLst xmlns:a="http://schemas.openxmlformats.org/drawingml/2006/main">
              <a:ext uri="{FF2B5EF4-FFF2-40B4-BE49-F238E27FC236}">
                <a16:creationId xmlns:a16="http://schemas.microsoft.com/office/drawing/2014/main" id="{F733AA3F-13CB-4EAD-B912-A6617B58B6BB}"/>
              </a:ext>
            </a:extLst>
          </p:cNvPr>
          <p:cNvSpPr>
            <a:spLocks xmlns:a="http://schemas.openxmlformats.org/drawingml/2006/main" noGrp="1"/>
          </p:cNvSpPr>
          <p:nvPr/>
        </p:nvSpPr>
        <p:spPr>
          <a:xfrm xmlns:a="http://schemas.openxmlformats.org/drawingml/2006/main">
            <a:off x="6305550" y="2790825"/>
            <a:ext cx="2305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125" b="1">
                <a:solidFill>
                  <a:srgbClr val="B33B34"/>
                </a:solidFill>
                <a:latin typeface="Avenir Next"/>
                <a:ea typeface="Avenir Next"/>
                <a:cs typeface="Avenir Next"/>
              </a:defRPr>
            </a:pPr>
            <a:r>
              <a:rPr sz="4125" b="1">
                <a:solidFill>
                  <a:srgbClr val="B33B34"/>
                </a:solidFill>
                <a:latin typeface="Avenir Next"/>
                <a:ea typeface="Avenir Next"/>
                <a:cs typeface="Avenir Next"/>
              </a:rPr>
              <a:t>$184M</a:t>
            </a:r>
          </a:p>
        </p:txBody>
      </p:sp>
      <p:sp>
        <p:nvSpPr>
          <p:cNvPr id="21" name="Annual lost revenue at surveyed large organizations">
            <a:extLst xmlns:a="http://schemas.openxmlformats.org/drawingml/2006/main">
              <a:ext uri="{FF2B5EF4-FFF2-40B4-BE49-F238E27FC236}">
                <a16:creationId xmlns:a16="http://schemas.microsoft.com/office/drawing/2014/main" id="{CE200F6D-EB5E-4813-B5F2-78EB63207E0E}"/>
              </a:ext>
            </a:extLst>
          </p:cNvPr>
          <p:cNvSpPr>
            <a:spLocks xmlns:a="http://schemas.openxmlformats.org/drawingml/2006/main" noGrp="1"/>
          </p:cNvSpPr>
          <p:nvPr/>
        </p:nvSpPr>
        <p:spPr>
          <a:xfrm xmlns:a="http://schemas.openxmlformats.org/drawingml/2006/main">
            <a:off x="6305550" y="3514725"/>
            <a:ext cx="23050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203047"/>
                </a:solidFill>
                <a:latin typeface="Avenir Next"/>
                <a:ea typeface="Avenir Next"/>
                <a:cs typeface="Avenir Next"/>
              </a:defRPr>
            </a:pPr>
            <a:r>
              <a:rPr sz="1425" b="0">
                <a:solidFill>
                  <a:srgbClr val="203047"/>
                </a:solidFill>
                <a:latin typeface="Avenir Next"/>
                <a:ea typeface="Avenir Next"/>
                <a:cs typeface="Avenir Next"/>
              </a:rPr>
              <a:t>Annual lost revenue at surveyed large organizations</a:t>
            </a:r>
          </a:p>
        </p:txBody>
      </p:sp>
      <p:sp>
        <p:nvSpPr>
          <p:cNvPr id="22" name="Interos, 2021">
            <a:extLst xmlns:a="http://schemas.openxmlformats.org/drawingml/2006/main">
              <a:ext uri="{FF2B5EF4-FFF2-40B4-BE49-F238E27FC236}">
                <a16:creationId xmlns:a16="http://schemas.microsoft.com/office/drawing/2014/main" id="{DC9DF25C-1675-486C-8437-A40B694C25D7}"/>
              </a:ext>
            </a:extLst>
          </p:cNvPr>
          <p:cNvSpPr>
            <a:spLocks xmlns:a="http://schemas.openxmlformats.org/drawingml/2006/main" noGrp="1"/>
          </p:cNvSpPr>
          <p:nvPr/>
        </p:nvSpPr>
        <p:spPr>
          <a:xfrm xmlns:a="http://schemas.openxmlformats.org/drawingml/2006/main">
            <a:off x="6305550" y="4381500"/>
            <a:ext cx="2305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96779"/>
                </a:solidFill>
                <a:latin typeface="Avenir Next"/>
                <a:ea typeface="Avenir Next"/>
                <a:cs typeface="Avenir Next"/>
              </a:defRPr>
            </a:pPr>
            <a:r>
              <a:rPr sz="1050" b="0">
                <a:solidFill>
                  <a:srgbClr val="596779"/>
                </a:solidFill>
                <a:latin typeface="Avenir Next"/>
                <a:ea typeface="Avenir Next"/>
                <a:cs typeface="Avenir Next"/>
              </a:rPr>
              <a:t>Interos, 2021</a:t>
            </a:r>
          </a:p>
        </p:txBody>
      </p:sp>
      <p:sp>
        <p:nvSpPr>
          <p:cNvPr id="23" name="">
            <a:extLst xmlns:a="http://schemas.openxmlformats.org/drawingml/2006/main">
              <a:ext uri="{FF2B5EF4-FFF2-40B4-BE49-F238E27FC236}">
                <a16:creationId xmlns:a16="http://schemas.microsoft.com/office/drawing/2014/main" id="{831CBCD2-5D13-46A6-A785-00B252AEC564}"/>
              </a:ext>
            </a:extLst>
          </p:cNvPr>
          <p:cNvSpPr>
            <a:spLocks xmlns:a="http://schemas.openxmlformats.org/drawingml/2006/main" noGrp="1"/>
          </p:cNvSpPr>
          <p:nvPr/>
        </p:nvSpPr>
        <p:spPr>
          <a:xfrm xmlns:a="http://schemas.openxmlformats.org/drawingml/2006/main">
            <a:off x="8934450" y="2667000"/>
            <a:ext cx="2609850" cy="19907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4" name="$22M">
            <a:extLst xmlns:a="http://schemas.openxmlformats.org/drawingml/2006/main">
              <a:ext uri="{FF2B5EF4-FFF2-40B4-BE49-F238E27FC236}">
                <a16:creationId xmlns:a16="http://schemas.microsoft.com/office/drawing/2014/main" id="{27FD1A35-C19F-43E7-9824-3894D637CA9F}"/>
              </a:ext>
            </a:extLst>
          </p:cNvPr>
          <p:cNvSpPr>
            <a:spLocks xmlns:a="http://schemas.openxmlformats.org/drawingml/2006/main" noGrp="1"/>
          </p:cNvSpPr>
          <p:nvPr/>
        </p:nvSpPr>
        <p:spPr>
          <a:xfrm xmlns:a="http://schemas.openxmlformats.org/drawingml/2006/main">
            <a:off x="9086850" y="2790825"/>
            <a:ext cx="2305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125" b="1">
                <a:solidFill>
                  <a:srgbClr val="B33B34"/>
                </a:solidFill>
                <a:latin typeface="Avenir Next"/>
                <a:ea typeface="Avenir Next"/>
                <a:cs typeface="Avenir Next"/>
              </a:defRPr>
            </a:pPr>
            <a:r>
              <a:rPr sz="4125" b="1">
                <a:solidFill>
                  <a:srgbClr val="B33B34"/>
                </a:solidFill>
                <a:latin typeface="Avenir Next"/>
                <a:ea typeface="Avenir Next"/>
                <a:cs typeface="Avenir Next"/>
              </a:rPr>
              <a:t>$22M</a:t>
            </a:r>
          </a:p>
        </p:txBody>
      </p:sp>
      <p:sp>
        <p:nvSpPr>
          <p:cNvPr id="25" name="Average cost per major disruption in the 2023 survey">
            <a:extLst xmlns:a="http://schemas.openxmlformats.org/drawingml/2006/main">
              <a:ext uri="{FF2B5EF4-FFF2-40B4-BE49-F238E27FC236}">
                <a16:creationId xmlns:a16="http://schemas.microsoft.com/office/drawing/2014/main" id="{E8F553FC-6594-4422-ACA0-0B498D38804A}"/>
              </a:ext>
            </a:extLst>
          </p:cNvPr>
          <p:cNvSpPr>
            <a:spLocks xmlns:a="http://schemas.openxmlformats.org/drawingml/2006/main" noGrp="1"/>
          </p:cNvSpPr>
          <p:nvPr/>
        </p:nvSpPr>
        <p:spPr>
          <a:xfrm xmlns:a="http://schemas.openxmlformats.org/drawingml/2006/main">
            <a:off x="9086850" y="3514725"/>
            <a:ext cx="23050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203047"/>
                </a:solidFill>
                <a:latin typeface="Avenir Next"/>
                <a:ea typeface="Avenir Next"/>
                <a:cs typeface="Avenir Next"/>
              </a:defRPr>
            </a:pPr>
            <a:r>
              <a:rPr sz="1425" b="0">
                <a:solidFill>
                  <a:srgbClr val="203047"/>
                </a:solidFill>
                <a:latin typeface="Avenir Next"/>
                <a:ea typeface="Avenir Next"/>
                <a:cs typeface="Avenir Next"/>
              </a:rPr>
              <a:t>Average cost per major disruption in the 2023 survey</a:t>
            </a:r>
          </a:p>
        </p:txBody>
      </p:sp>
      <p:sp>
        <p:nvSpPr>
          <p:cNvPr id="26" name="Interos via Sheer, 2024">
            <a:extLst xmlns:a="http://schemas.openxmlformats.org/drawingml/2006/main">
              <a:ext uri="{FF2B5EF4-FFF2-40B4-BE49-F238E27FC236}">
                <a16:creationId xmlns:a16="http://schemas.microsoft.com/office/drawing/2014/main" id="{401A1CF3-8805-4177-84D1-33546AEF4B17}"/>
              </a:ext>
            </a:extLst>
          </p:cNvPr>
          <p:cNvSpPr>
            <a:spLocks xmlns:a="http://schemas.openxmlformats.org/drawingml/2006/main" noGrp="1"/>
          </p:cNvSpPr>
          <p:nvPr/>
        </p:nvSpPr>
        <p:spPr>
          <a:xfrm xmlns:a="http://schemas.openxmlformats.org/drawingml/2006/main">
            <a:off x="9086850" y="4381500"/>
            <a:ext cx="2305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96779"/>
                </a:solidFill>
                <a:latin typeface="Avenir Next"/>
                <a:ea typeface="Avenir Next"/>
                <a:cs typeface="Avenir Next"/>
              </a:defRPr>
            </a:pPr>
            <a:r>
              <a:rPr sz="1050" b="0">
                <a:solidFill>
                  <a:srgbClr val="596779"/>
                </a:solidFill>
                <a:latin typeface="Avenir Next"/>
                <a:ea typeface="Avenir Next"/>
                <a:cs typeface="Avenir Next"/>
              </a:rPr>
              <a:t>Interos via Sheer, 2024</a:t>
            </a:r>
          </a:p>
        </p:txBody>
      </p:sp>
      <p:sp>
        <p:nvSpPr>
          <p:cNvPr id="27" name="Revenue">
            <a:extLst xmlns:a="http://schemas.openxmlformats.org/drawingml/2006/main">
              <a:ext uri="{FF2B5EF4-FFF2-40B4-BE49-F238E27FC236}">
                <a16:creationId xmlns:a16="http://schemas.microsoft.com/office/drawing/2014/main" id="{464052AE-80AA-4C94-AEFD-1D65F8F3221C}"/>
              </a:ext>
            </a:extLst>
          </p:cNvPr>
          <p:cNvSpPr>
            <a:spLocks xmlns:a="http://schemas.openxmlformats.org/drawingml/2006/main" noGrp="1"/>
          </p:cNvSpPr>
          <p:nvPr/>
        </p:nvSpPr>
        <p:spPr>
          <a:xfrm xmlns:a="http://schemas.openxmlformats.org/drawingml/2006/main">
            <a:off x="590550" y="4876800"/>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Revenue</a:t>
            </a:r>
          </a:p>
        </p:txBody>
      </p:sp>
      <p:sp>
        <p:nvSpPr>
          <p:cNvPr id="28" name="Missed deliveries move revenue and milestone payments beyond">
            <a:extLst xmlns:a="http://schemas.openxmlformats.org/drawingml/2006/main">
              <a:ext uri="{FF2B5EF4-FFF2-40B4-BE49-F238E27FC236}">
                <a16:creationId xmlns:a16="http://schemas.microsoft.com/office/drawing/2014/main" id="{EC989835-E8E4-4C33-B0FC-5166E59443CB}"/>
              </a:ext>
            </a:extLst>
          </p:cNvPr>
          <p:cNvSpPr>
            <a:spLocks xmlns:a="http://schemas.openxmlformats.org/drawingml/2006/main" noGrp="1"/>
          </p:cNvSpPr>
          <p:nvPr/>
        </p:nvSpPr>
        <p:spPr>
          <a:xfrm xmlns:a="http://schemas.openxmlformats.org/drawingml/2006/main">
            <a:off x="590550" y="5276850"/>
            <a:ext cx="34353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96779"/>
                </a:solidFill>
                <a:latin typeface="Avenir Next"/>
                <a:ea typeface="Avenir Next"/>
                <a:cs typeface="Avenir Next"/>
              </a:defRPr>
            </a:pPr>
            <a:r>
              <a:rPr sz="1425" b="0">
                <a:solidFill>
                  <a:srgbClr val="596779"/>
                </a:solidFill>
                <a:latin typeface="Avenir Next"/>
                <a:ea typeface="Avenir Next"/>
                <a:cs typeface="Avenir Next"/>
              </a:rPr>
              <a:t>Missed deliveries move revenue and milestone payments beyond the promised quarter.</a:t>
            </a:r>
          </a:p>
        </p:txBody>
      </p:sp>
      <p:sp>
        <p:nvSpPr>
          <p:cNvPr id="29" name="Labor">
            <a:extLst xmlns:a="http://schemas.openxmlformats.org/drawingml/2006/main">
              <a:ext uri="{FF2B5EF4-FFF2-40B4-BE49-F238E27FC236}">
                <a16:creationId xmlns:a16="http://schemas.microsoft.com/office/drawing/2014/main" id="{9C596C2F-67DE-40CD-94DB-CC470CEFABAA}"/>
              </a:ext>
            </a:extLst>
          </p:cNvPr>
          <p:cNvSpPr>
            <a:spLocks xmlns:a="http://schemas.openxmlformats.org/drawingml/2006/main" noGrp="1"/>
          </p:cNvSpPr>
          <p:nvPr/>
        </p:nvSpPr>
        <p:spPr>
          <a:xfrm xmlns:a="http://schemas.openxmlformats.org/drawingml/2006/main">
            <a:off x="4349750" y="4876800"/>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Labor</a:t>
            </a:r>
          </a:p>
        </p:txBody>
      </p:sp>
      <p:sp>
        <p:nvSpPr>
          <p:cNvPr id="30" name="A stopped line still carries payroll. Recovery can add overt">
            <a:extLst xmlns:a="http://schemas.openxmlformats.org/drawingml/2006/main">
              <a:ext uri="{FF2B5EF4-FFF2-40B4-BE49-F238E27FC236}">
                <a16:creationId xmlns:a16="http://schemas.microsoft.com/office/drawing/2014/main" id="{8D6C214E-9FDE-43DD-BFCA-961039A5F669}"/>
              </a:ext>
            </a:extLst>
          </p:cNvPr>
          <p:cNvSpPr>
            <a:spLocks xmlns:a="http://schemas.openxmlformats.org/drawingml/2006/main" noGrp="1"/>
          </p:cNvSpPr>
          <p:nvPr/>
        </p:nvSpPr>
        <p:spPr>
          <a:xfrm xmlns:a="http://schemas.openxmlformats.org/drawingml/2006/main">
            <a:off x="4349750" y="5276850"/>
            <a:ext cx="34353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96779"/>
                </a:solidFill>
                <a:latin typeface="Avenir Next"/>
                <a:ea typeface="Avenir Next"/>
                <a:cs typeface="Avenir Next"/>
              </a:defRPr>
            </a:pPr>
            <a:r>
              <a:rPr sz="1425" b="0">
                <a:solidFill>
                  <a:srgbClr val="596779"/>
                </a:solidFill>
                <a:latin typeface="Avenir Next"/>
                <a:ea typeface="Avenir Next"/>
                <a:cs typeface="Avenir Next"/>
              </a:rPr>
              <a:t>A stopped line still carries payroll. Recovery can add overtime and expedite costs.</a:t>
            </a:r>
          </a:p>
        </p:txBody>
      </p:sp>
      <p:sp>
        <p:nvSpPr>
          <p:cNvPr id="31" name="Trust">
            <a:extLst xmlns:a="http://schemas.openxmlformats.org/drawingml/2006/main">
              <a:ext uri="{FF2B5EF4-FFF2-40B4-BE49-F238E27FC236}">
                <a16:creationId xmlns:a16="http://schemas.microsoft.com/office/drawing/2014/main" id="{F4157DD3-AA77-4352-BCAF-059EA1066B8E}"/>
              </a:ext>
            </a:extLst>
          </p:cNvPr>
          <p:cNvSpPr>
            <a:spLocks xmlns:a="http://schemas.openxmlformats.org/drawingml/2006/main" noGrp="1"/>
          </p:cNvSpPr>
          <p:nvPr/>
        </p:nvSpPr>
        <p:spPr>
          <a:xfrm xmlns:a="http://schemas.openxmlformats.org/drawingml/2006/main">
            <a:off x="8108950" y="4876800"/>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Trust</a:t>
            </a:r>
          </a:p>
        </p:txBody>
      </p:sp>
      <p:sp>
        <p:nvSpPr>
          <p:cNvPr id="32" name="Repeated surprises weaken customer confidence and future sup">
            <a:extLst xmlns:a="http://schemas.openxmlformats.org/drawingml/2006/main">
              <a:ext uri="{FF2B5EF4-FFF2-40B4-BE49-F238E27FC236}">
                <a16:creationId xmlns:a16="http://schemas.microsoft.com/office/drawing/2014/main" id="{0CD03770-65B5-4FD7-AA3B-200FE1EEC2BA}"/>
              </a:ext>
            </a:extLst>
          </p:cNvPr>
          <p:cNvSpPr>
            <a:spLocks xmlns:a="http://schemas.openxmlformats.org/drawingml/2006/main" noGrp="1"/>
          </p:cNvSpPr>
          <p:nvPr/>
        </p:nvSpPr>
        <p:spPr>
          <a:xfrm xmlns:a="http://schemas.openxmlformats.org/drawingml/2006/main">
            <a:off x="8108950" y="5276850"/>
            <a:ext cx="34353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96779"/>
                </a:solidFill>
                <a:latin typeface="Avenir Next"/>
                <a:ea typeface="Avenir Next"/>
                <a:cs typeface="Avenir Next"/>
              </a:defRPr>
            </a:pPr>
            <a:r>
              <a:rPr sz="1425" b="0">
                <a:solidFill>
                  <a:srgbClr val="596779"/>
                </a:solidFill>
                <a:latin typeface="Avenir Next"/>
                <a:ea typeface="Avenir Next"/>
                <a:cs typeface="Avenir Next"/>
              </a:rPr>
              <a:t>Repeated surprises weaken customer confidence and future supplier opportunities.</a:t>
            </a:r>
          </a:p>
        </p:txBody>
      </p:sp>
    </p:spTree>
    <p:extLst>
      <p:ext uri="{BB962C8B-B14F-4D97-AF65-F5344CB8AC3E}">
        <p14:creationId xmlns:p14="http://schemas.microsoft.com/office/powerpoint/2010/main" val="240013582"/>
      </p:ext>
    </p:extLst>
  </p:cSld>
</p:sld>
</file>

<file path=ppt/slides/slide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0C78C37-0DF1-456A-900E-35D0D5D2991C}"/>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A09216-A33B-4562-BACB-D8FF24954959}"/>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286D77E0-0047-43D4-B901-9224BD42103A}"/>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EACDF02A-90EC-4DB5-A556-36EBAA46804F}"/>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6931573C-78AA-4333-8004-1DCEF412D888}"/>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D1926DDE-723C-4682-A244-A8385A710F2B}"/>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05 / 13">
            <a:extLst xmlns:a="http://schemas.openxmlformats.org/drawingml/2006/main">
              <a:ext uri="{FF2B5EF4-FFF2-40B4-BE49-F238E27FC236}">
                <a16:creationId xmlns:a16="http://schemas.microsoft.com/office/drawing/2014/main" id="{EF8C9633-622F-4967-8D6A-8C489F5E9A87}"/>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05 / 13</a:t>
            </a:r>
          </a:p>
        </p:txBody>
      </p:sp>
      <p:sp>
        <p:nvSpPr>
          <p:cNvPr id="8" name="$33,000 a minute. The clock starts before the decision.">
            <a:extLst xmlns:a="http://schemas.openxmlformats.org/drawingml/2006/main">
              <a:ext uri="{FF2B5EF4-FFF2-40B4-BE49-F238E27FC236}">
                <a16:creationId xmlns:a16="http://schemas.microsoft.com/office/drawing/2014/main" id="{B745CB07-CD10-4D08-9D85-5741D13B65F0}"/>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$33,000 a minute. The clock starts before the decision.</a:t>
            </a:r>
          </a:p>
        </p:txBody>
      </p:sp>
      <p:sp>
        <p:nvSpPr>
          <p:cNvPr id="9" name="Cost accrued using a large automotive plant’s downtime rate,">
            <a:extLst xmlns:a="http://schemas.openxmlformats.org/drawingml/2006/main">
              <a:ext uri="{FF2B5EF4-FFF2-40B4-BE49-F238E27FC236}">
                <a16:creationId xmlns:a16="http://schemas.microsoft.com/office/drawing/2014/main" id="{38037461-F67F-40A7-B07D-AD447386EEDA}"/>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Cost accrued using a large automotive plant’s downtime rate, since this slide appeared.</a:t>
            </a:r>
          </a:p>
        </p:txBody>
      </p:sp>
      <p:sp>
        <p:nvSpPr>
          <p:cNvPr id="10" name="$33,000/min rounds down the 2022 $2M/hour estimate. The 2024">
            <a:extLst xmlns:a="http://schemas.openxmlformats.org/drawingml/2006/main">
              <a:ext uri="{FF2B5EF4-FFF2-40B4-BE49-F238E27FC236}">
                <a16:creationId xmlns:a16="http://schemas.microsoft.com/office/drawing/2014/main" id="{006732FD-2460-4027-B8C4-4B0BDD8ECE9C}"/>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$33,000/min rounds down the 2022 $2M/hour estimate. The 2024 study reports $2.3M/hour.</a:t>
            </a:r>
          </a:p>
        </p:txBody>
      </p:sp>
      <p:sp>
        <p:nvSpPr>
          <p:cNvPr id="11" name="">
            <a:extLst xmlns:a="http://schemas.openxmlformats.org/drawingml/2006/main">
              <a:ext uri="{FF2B5EF4-FFF2-40B4-BE49-F238E27FC236}">
                <a16:creationId xmlns:a16="http://schemas.microsoft.com/office/drawing/2014/main" id="{7F3D0492-85A4-46A5-B1AB-7C1FFCEB9DF4}"/>
              </a:ext>
            </a:extLst>
          </p:cNvPr>
          <p:cNvSpPr>
            <a:spLocks xmlns:a="http://schemas.openxmlformats.org/drawingml/2006/main" noGrp="1"/>
          </p:cNvSpPr>
          <p:nvPr/>
        </p:nvSpPr>
        <p:spPr>
          <a:xfrm xmlns:a="http://schemas.openxmlformats.org/drawingml/2006/main">
            <a:off x="590550" y="2647950"/>
            <a:ext cx="10953750" cy="21526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Accruing at $33,000 per minute">
            <a:extLst xmlns:a="http://schemas.openxmlformats.org/drawingml/2006/main">
              <a:ext uri="{FF2B5EF4-FFF2-40B4-BE49-F238E27FC236}">
                <a16:creationId xmlns:a16="http://schemas.microsoft.com/office/drawing/2014/main" id="{4A2292CB-84CA-4631-89F8-B7316D8E4674}"/>
              </a:ext>
            </a:extLst>
          </p:cNvPr>
          <p:cNvSpPr>
            <a:spLocks xmlns:a="http://schemas.openxmlformats.org/drawingml/2006/main" noGrp="1"/>
          </p:cNvSpPr>
          <p:nvPr/>
        </p:nvSpPr>
        <p:spPr>
          <a:xfrm xmlns:a="http://schemas.openxmlformats.org/drawingml/2006/main">
            <a:off x="809625" y="27717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96779"/>
                </a:solidFill>
                <a:latin typeface="Avenir Next"/>
                <a:ea typeface="Avenir Next"/>
                <a:cs typeface="Avenir Next"/>
              </a:defRPr>
            </a:pPr>
            <a:r>
              <a:rPr sz="1500" b="0">
                <a:solidFill>
                  <a:srgbClr val="596779"/>
                </a:solidFill>
                <a:latin typeface="Avenir Next"/>
                <a:ea typeface="Avenir Next"/>
                <a:cs typeface="Avenir Next"/>
              </a:rPr>
              <a:t>Accruing at $33,000 per minute</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4e53bb8ae56d42c3"/>
          <a:stretch xmlns:a="http://schemas.openxmlformats.org/drawingml/2006/main"/>
        </p:blipFill>
        <p:spPr>
          <a:xfrm xmlns:a="http://schemas.openxmlformats.org/drawingml/2006/main">
            <a:off x="809625" y="3067050"/>
            <a:ext cx="6025413" cy="1297781"/>
          </a:xfrm>
          <a:prstGeom xmlns:a="http://schemas.openxmlformats.org/drawingml/2006/main" prst="rect">
            <a:avLst/>
          </a:prstGeom>
        </p:spPr>
      </p:pic>
      <p:sp>
        <p:nvSpPr>
          <p:cNvPr id="14" name="$550 per second">
            <a:extLst xmlns:a="http://schemas.openxmlformats.org/drawingml/2006/main">
              <a:ext uri="{FF2B5EF4-FFF2-40B4-BE49-F238E27FC236}">
                <a16:creationId xmlns:a16="http://schemas.microsoft.com/office/drawing/2014/main" id="{1F19D88D-ED4B-46C1-8838-7C6F230EBA44}"/>
              </a:ext>
            </a:extLst>
          </p:cNvPr>
          <p:cNvSpPr>
            <a:spLocks xmlns:a="http://schemas.openxmlformats.org/drawingml/2006/main" noGrp="1"/>
          </p:cNvSpPr>
          <p:nvPr/>
        </p:nvSpPr>
        <p:spPr>
          <a:xfrm xmlns:a="http://schemas.openxmlformats.org/drawingml/2006/main">
            <a:off x="809625" y="44196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203047"/>
                </a:solidFill>
                <a:latin typeface="Avenir Next"/>
                <a:ea typeface="Avenir Next"/>
                <a:cs typeface="Avenir Next"/>
              </a:defRPr>
            </a:pPr>
            <a:r>
              <a:rPr sz="1725" b="1">
                <a:solidFill>
                  <a:srgbClr val="203047"/>
                </a:solidFill>
                <a:latin typeface="Avenir Next"/>
                <a:ea typeface="Avenir Next"/>
                <a:cs typeface="Avenir Next"/>
              </a:rPr>
              <a:t>$550 per second</a:t>
            </a:r>
          </a:p>
        </p:txBody>
      </p:sp>
      <p:sp>
        <p:nvSpPr>
          <p:cNvPr id="15" name="Cost accrued since this slide appeared">
            <a:extLst xmlns:a="http://schemas.openxmlformats.org/drawingml/2006/main">
              <a:ext uri="{FF2B5EF4-FFF2-40B4-BE49-F238E27FC236}">
                <a16:creationId xmlns:a16="http://schemas.microsoft.com/office/drawing/2014/main" id="{E62F3261-A190-4F16-83EC-E1FE12D35434}"/>
              </a:ext>
            </a:extLst>
          </p:cNvPr>
          <p:cNvSpPr>
            <a:spLocks xmlns:a="http://schemas.openxmlformats.org/drawingml/2006/main" noGrp="1"/>
          </p:cNvSpPr>
          <p:nvPr/>
        </p:nvSpPr>
        <p:spPr>
          <a:xfrm xmlns:a="http://schemas.openxmlformats.org/drawingml/2006/main">
            <a:off x="6096000" y="4448175"/>
            <a:ext cx="514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96779"/>
                </a:solidFill>
                <a:latin typeface="Avenir Next"/>
                <a:ea typeface="Avenir Next"/>
                <a:cs typeface="Avenir Next"/>
              </a:defRPr>
            </a:pPr>
            <a:r>
              <a:rPr sz="1425" b="0">
                <a:solidFill>
                  <a:srgbClr val="596779"/>
                </a:solidFill>
                <a:latin typeface="Avenir Next"/>
                <a:ea typeface="Avenir Next"/>
                <a:cs typeface="Avenir Next"/>
              </a:rPr>
              <a:t>Cost accrued since this slide appeared</a:t>
            </a:r>
          </a:p>
        </p:txBody>
      </p:sp>
      <p:sp>
        <p:nvSpPr>
          <p:cNvPr id="16" name="$2.3M / hour">
            <a:extLst xmlns:a="http://schemas.openxmlformats.org/drawingml/2006/main">
              <a:ext uri="{FF2B5EF4-FFF2-40B4-BE49-F238E27FC236}">
                <a16:creationId xmlns:a16="http://schemas.microsoft.com/office/drawing/2014/main" id="{12066088-1920-4BDE-ADB2-E81327BE1E05}"/>
              </a:ext>
            </a:extLst>
          </p:cNvPr>
          <p:cNvSpPr>
            <a:spLocks xmlns:a="http://schemas.openxmlformats.org/drawingml/2006/main" noGrp="1"/>
          </p:cNvSpPr>
          <p:nvPr/>
        </p:nvSpPr>
        <p:spPr>
          <a:xfrm xmlns:a="http://schemas.openxmlformats.org/drawingml/2006/main">
            <a:off x="590550" y="5010150"/>
            <a:ext cx="523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03047"/>
                </a:solidFill>
                <a:latin typeface="Avenir Next"/>
                <a:ea typeface="Avenir Next"/>
                <a:cs typeface="Avenir Next"/>
              </a:defRPr>
            </a:pPr>
            <a:r>
              <a:rPr sz="2175" b="1">
                <a:solidFill>
                  <a:srgbClr val="203047"/>
                </a:solidFill>
                <a:latin typeface="Avenir Next"/>
                <a:ea typeface="Avenir Next"/>
                <a:cs typeface="Avenir Next"/>
              </a:rPr>
              <a:t>$2.3M / hour</a:t>
            </a:r>
          </a:p>
        </p:txBody>
      </p:sp>
      <p:sp>
        <p:nvSpPr>
          <p:cNvPr id="17" name="Large automotive plants · Siemens 2024">
            <a:extLst xmlns:a="http://schemas.openxmlformats.org/drawingml/2006/main">
              <a:ext uri="{FF2B5EF4-FFF2-40B4-BE49-F238E27FC236}">
                <a16:creationId xmlns:a16="http://schemas.microsoft.com/office/drawing/2014/main" id="{8F707B98-31AF-4A11-B6B8-38629BF738D5}"/>
              </a:ext>
            </a:extLst>
          </p:cNvPr>
          <p:cNvSpPr>
            <a:spLocks xmlns:a="http://schemas.openxmlformats.org/drawingml/2006/main" noGrp="1"/>
          </p:cNvSpPr>
          <p:nvPr/>
        </p:nvSpPr>
        <p:spPr>
          <a:xfrm xmlns:a="http://schemas.openxmlformats.org/drawingml/2006/main">
            <a:off x="590550" y="5429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96779"/>
                </a:solidFill>
                <a:latin typeface="Avenir Next"/>
                <a:ea typeface="Avenir Next"/>
                <a:cs typeface="Avenir Next"/>
              </a:defRPr>
            </a:pPr>
            <a:r>
              <a:rPr sz="1350" b="0">
                <a:solidFill>
                  <a:srgbClr val="596779"/>
                </a:solidFill>
                <a:latin typeface="Avenir Next"/>
                <a:ea typeface="Avenir Next"/>
                <a:cs typeface="Avenir Next"/>
              </a:rPr>
              <a:t>Large automotive plants · Siemens 2024</a:t>
            </a:r>
          </a:p>
        </p:txBody>
      </p:sp>
      <p:sp>
        <p:nvSpPr>
          <p:cNvPr id="18" name="49 → 81 minutes">
            <a:extLst xmlns:a="http://schemas.openxmlformats.org/drawingml/2006/main">
              <a:ext uri="{FF2B5EF4-FFF2-40B4-BE49-F238E27FC236}">
                <a16:creationId xmlns:a16="http://schemas.microsoft.com/office/drawing/2014/main" id="{3F532A04-377D-41D3-A3C7-FE43DFEB9720}"/>
              </a:ext>
            </a:extLst>
          </p:cNvPr>
          <p:cNvSpPr>
            <a:spLocks xmlns:a="http://schemas.openxmlformats.org/drawingml/2006/main" noGrp="1"/>
          </p:cNvSpPr>
          <p:nvPr/>
        </p:nvSpPr>
        <p:spPr>
          <a:xfrm xmlns:a="http://schemas.openxmlformats.org/drawingml/2006/main">
            <a:off x="6429375" y="5010150"/>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03047"/>
                </a:solidFill>
                <a:latin typeface="Avenir Next"/>
                <a:ea typeface="Avenir Next"/>
                <a:cs typeface="Avenir Next"/>
              </a:defRPr>
            </a:pPr>
            <a:r>
              <a:rPr sz="2175" b="1">
                <a:solidFill>
                  <a:srgbClr val="203047"/>
                </a:solidFill>
                <a:latin typeface="Avenir Next"/>
                <a:ea typeface="Avenir Next"/>
                <a:cs typeface="Avenir Next"/>
              </a:rPr>
              <a:t>49 → 81 minutes</a:t>
            </a:r>
          </a:p>
        </p:txBody>
      </p:sp>
      <p:sp>
        <p:nvSpPr>
          <p:cNvPr id="19" name="Average recovery · 2019 and 2023 studies">
            <a:extLst xmlns:a="http://schemas.openxmlformats.org/drawingml/2006/main">
              <a:ext uri="{FF2B5EF4-FFF2-40B4-BE49-F238E27FC236}">
                <a16:creationId xmlns:a16="http://schemas.microsoft.com/office/drawing/2014/main" id="{4D50EAFC-1272-4956-9DC2-690566D95A10}"/>
              </a:ext>
            </a:extLst>
          </p:cNvPr>
          <p:cNvSpPr>
            <a:spLocks xmlns:a="http://schemas.openxmlformats.org/drawingml/2006/main" noGrp="1"/>
          </p:cNvSpPr>
          <p:nvPr/>
        </p:nvSpPr>
        <p:spPr>
          <a:xfrm xmlns:a="http://schemas.openxmlformats.org/drawingml/2006/main">
            <a:off x="6429375" y="5429250"/>
            <a:ext cx="514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96779"/>
                </a:solidFill>
                <a:latin typeface="Avenir Next"/>
                <a:ea typeface="Avenir Next"/>
                <a:cs typeface="Avenir Next"/>
              </a:defRPr>
            </a:pPr>
            <a:r>
              <a:rPr sz="1350" b="0">
                <a:solidFill>
                  <a:srgbClr val="596779"/>
                </a:solidFill>
                <a:latin typeface="Avenir Next"/>
                <a:ea typeface="Avenir Next"/>
                <a:cs typeface="Avenir Next"/>
              </a:rPr>
              <a:t>Average recovery · 2019 and 2023 studies</a:t>
            </a:r>
          </a:p>
        </p:txBody>
      </p:sp>
      <p:sp>
        <p:nvSpPr>
          <p:cNvPr id="20" name="A workable decision should not wait for the full repair.">
            <a:extLst xmlns:a="http://schemas.openxmlformats.org/drawingml/2006/main">
              <a:ext uri="{FF2B5EF4-FFF2-40B4-BE49-F238E27FC236}">
                <a16:creationId xmlns:a16="http://schemas.microsoft.com/office/drawing/2014/main" id="{E138ACB5-C262-4ECD-B65E-AC7794EB8019}"/>
              </a:ext>
            </a:extLst>
          </p:cNvPr>
          <p:cNvSpPr>
            <a:spLocks xmlns:a="http://schemas.openxmlformats.org/drawingml/2006/main" noGrp="1"/>
          </p:cNvSpPr>
          <p:nvPr/>
        </p:nvSpPr>
        <p:spPr>
          <a:xfrm xmlns:a="http://schemas.openxmlformats.org/drawingml/2006/main">
            <a:off x="590550" y="5819775"/>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203047"/>
                </a:solidFill>
                <a:latin typeface="Avenir Next"/>
                <a:ea typeface="Avenir Next"/>
                <a:cs typeface="Avenir Next"/>
              </a:defRPr>
            </a:pPr>
            <a:r>
              <a:rPr sz="1800" b="0">
                <a:solidFill>
                  <a:srgbClr val="203047"/>
                </a:solidFill>
                <a:latin typeface="Avenir Next"/>
                <a:ea typeface="Avenir Next"/>
                <a:cs typeface="Avenir Next"/>
              </a:rPr>
              <a:t>A workable decision should not wait for the full repair.</a:t>
            </a:r>
          </a:p>
        </p:txBody>
      </p:sp>
    </p:spTree>
    <p:extLst>
      <p:ext uri="{BB962C8B-B14F-4D97-AF65-F5344CB8AC3E}">
        <p14:creationId xmlns:p14="http://schemas.microsoft.com/office/powerpoint/2010/main" val="1912570810"/>
      </p:ext>
    </p:extLst>
  </p:cSld>
</p:sld>
</file>

<file path=ppt/slides/slide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EFD5398-357D-46F1-A767-95E658B6E454}"/>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97B669-A31F-428B-B022-FF106609D1A0}"/>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7E204F56-1CD5-4B7F-A39D-20B7BD6A9C1D}"/>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3A51BACD-EABF-4BB4-AFF0-4769B375159A}"/>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25635FFB-A32D-42BD-BD56-1795C31DD566}"/>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71D8CFAE-4822-4F82-ABDB-E1D204CDD558}"/>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06 / 13">
            <a:extLst xmlns:a="http://schemas.openxmlformats.org/drawingml/2006/main">
              <a:ext uri="{FF2B5EF4-FFF2-40B4-BE49-F238E27FC236}">
                <a16:creationId xmlns:a16="http://schemas.microsoft.com/office/drawing/2014/main" id="{EFF9A2B3-89D8-45EF-A65C-315F3E866A78}"/>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06 / 13</a:t>
            </a:r>
          </a:p>
        </p:txBody>
      </p:sp>
      <p:sp>
        <p:nvSpPr>
          <p:cNvPr id="8" name="The supplier graph is sensitive operating context">
            <a:extLst xmlns:a="http://schemas.openxmlformats.org/drawingml/2006/main">
              <a:ext uri="{FF2B5EF4-FFF2-40B4-BE49-F238E27FC236}">
                <a16:creationId xmlns:a16="http://schemas.microsoft.com/office/drawing/2014/main" id="{B373AA2E-8A59-4341-8887-B33AA583ECFC}"/>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The supplier graph is sensitive operating context</a:t>
            </a:r>
          </a:p>
        </p:txBody>
      </p:sp>
      <p:sp>
        <p:nvSpPr>
          <p:cNvPr id="9" name="Local inference keeps supplier relationships, stock, schedul">
            <a:extLst xmlns:a="http://schemas.openxmlformats.org/drawingml/2006/main">
              <a:ext uri="{FF2B5EF4-FFF2-40B4-BE49-F238E27FC236}">
                <a16:creationId xmlns:a16="http://schemas.microsoft.com/office/drawing/2014/main" id="{30A67388-C052-48C5-8DB0-7B7C00818E50}"/>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Local inference keeps supplier relationships, stock, schedules, and program commitments under company control.</a:t>
            </a:r>
          </a:p>
        </p:txBody>
      </p:sp>
      <p:sp>
        <p:nvSpPr>
          <p:cNvPr id="10" name="Access controls, contractual duties, and export rules still ">
            <a:extLst xmlns:a="http://schemas.openxmlformats.org/drawingml/2006/main">
              <a:ext uri="{FF2B5EF4-FFF2-40B4-BE49-F238E27FC236}">
                <a16:creationId xmlns:a16="http://schemas.microsoft.com/office/drawing/2014/main" id="{16D2F747-E755-45CE-AB25-00266965E899}"/>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Access controls, contractual duties, and export rules still apply. Local execution supports those controls.</a:t>
            </a:r>
          </a:p>
        </p:txBody>
      </p:sp>
      <p:sp>
        <p:nvSpPr>
          <p:cNvPr id="11" name="Access is more than geography">
            <a:extLst xmlns:a="http://schemas.openxmlformats.org/drawingml/2006/main">
              <a:ext uri="{FF2B5EF4-FFF2-40B4-BE49-F238E27FC236}">
                <a16:creationId xmlns:a16="http://schemas.microsoft.com/office/drawing/2014/main" id="{49D4C48C-6C82-4486-9F47-2E65C4FA90A6}"/>
              </a:ext>
            </a:extLst>
          </p:cNvPr>
          <p:cNvSpPr>
            <a:spLocks xmlns:a="http://schemas.openxmlformats.org/drawingml/2006/main" noGrp="1"/>
          </p:cNvSpPr>
          <p:nvPr/>
        </p:nvSpPr>
        <p:spPr>
          <a:xfrm xmlns:a="http://schemas.openxmlformats.org/drawingml/2006/main">
            <a:off x="590550" y="2781300"/>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Access is more than geography</a:t>
            </a:r>
          </a:p>
        </p:txBody>
      </p:sp>
      <p:sp>
        <p:nvSpPr>
          <p:cNvPr id="12" name="Controlled data needs authorized people, appropriate access,">
            <a:extLst xmlns:a="http://schemas.openxmlformats.org/drawingml/2006/main">
              <a:ext uri="{FF2B5EF4-FFF2-40B4-BE49-F238E27FC236}">
                <a16:creationId xmlns:a16="http://schemas.microsoft.com/office/drawing/2014/main" id="{36680F7C-82F6-44A1-AB7C-91E0E6D35A91}"/>
              </a:ext>
            </a:extLst>
          </p:cNvPr>
          <p:cNvSpPr>
            <a:spLocks xmlns:a="http://schemas.openxmlformats.org/drawingml/2006/main" noGrp="1"/>
          </p:cNvSpPr>
          <p:nvPr/>
        </p:nvSpPr>
        <p:spPr>
          <a:xfrm xmlns:a="http://schemas.openxmlformats.org/drawingml/2006/main">
            <a:off x="590550" y="3495675"/>
            <a:ext cx="34353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96779"/>
                </a:solidFill>
                <a:latin typeface="Avenir Next"/>
                <a:ea typeface="Avenir Next"/>
                <a:cs typeface="Avenir Next"/>
              </a:defRPr>
            </a:pPr>
            <a:r>
              <a:rPr sz="1650" b="0">
                <a:solidFill>
                  <a:srgbClr val="596779"/>
                </a:solidFill>
                <a:latin typeface="Avenir Next"/>
                <a:ea typeface="Avenir Next"/>
                <a:cs typeface="Avenir Next"/>
              </a:rPr>
              <a:t>Controlled data needs authorized people, appropriate access, and contractual safeguards. A US server region alone does not answer every requirement.</a:t>
            </a:r>
          </a:p>
        </p:txBody>
      </p:sp>
      <p:sp>
        <p:nvSpPr>
          <p:cNvPr id="13" name="The graph is business intelligence">
            <a:extLst xmlns:a="http://schemas.openxmlformats.org/drawingml/2006/main">
              <a:ext uri="{FF2B5EF4-FFF2-40B4-BE49-F238E27FC236}">
                <a16:creationId xmlns:a16="http://schemas.microsoft.com/office/drawing/2014/main" id="{CD6F8BA7-4D60-418F-899E-09AA4EF08470}"/>
              </a:ext>
            </a:extLst>
          </p:cNvPr>
          <p:cNvSpPr>
            <a:spLocks xmlns:a="http://schemas.openxmlformats.org/drawingml/2006/main" noGrp="1"/>
          </p:cNvSpPr>
          <p:nvPr/>
        </p:nvSpPr>
        <p:spPr>
          <a:xfrm xmlns:a="http://schemas.openxmlformats.org/drawingml/2006/main">
            <a:off x="4349750" y="2781300"/>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The graph is business intelligence</a:t>
            </a:r>
          </a:p>
        </p:txBody>
      </p:sp>
      <p:sp>
        <p:nvSpPr>
          <p:cNvPr id="14" name="Who supplies which part, on what terms, to which assembly re">
            <a:extLst xmlns:a="http://schemas.openxmlformats.org/drawingml/2006/main">
              <a:ext uri="{FF2B5EF4-FFF2-40B4-BE49-F238E27FC236}">
                <a16:creationId xmlns:a16="http://schemas.microsoft.com/office/drawing/2014/main" id="{BA3A5525-3183-4272-92A5-0FBF3FDAF2A3}"/>
              </a:ext>
            </a:extLst>
          </p:cNvPr>
          <p:cNvSpPr>
            <a:spLocks xmlns:a="http://schemas.openxmlformats.org/drawingml/2006/main" noGrp="1"/>
          </p:cNvSpPr>
          <p:nvPr/>
        </p:nvSpPr>
        <p:spPr>
          <a:xfrm xmlns:a="http://schemas.openxmlformats.org/drawingml/2006/main">
            <a:off x="4349750" y="3495675"/>
            <a:ext cx="34353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96779"/>
                </a:solidFill>
                <a:latin typeface="Avenir Next"/>
                <a:ea typeface="Avenir Next"/>
                <a:cs typeface="Avenir Next"/>
              </a:defRPr>
            </a:pPr>
            <a:r>
              <a:rPr sz="1650" b="0">
                <a:solidFill>
                  <a:srgbClr val="596779"/>
                </a:solidFill>
                <a:latin typeface="Avenir Next"/>
                <a:ea typeface="Avenir Next"/>
                <a:cs typeface="Avenir Next"/>
              </a:rPr>
              <a:t>Who supplies which part, on what terms, to which assembly reveals how the business operates—and where it is exposed.</a:t>
            </a:r>
          </a:p>
        </p:txBody>
      </p:sp>
      <p:sp>
        <p:nvSpPr>
          <p:cNvPr id="15" name="Keep reasoning close to records">
            <a:extLst xmlns:a="http://schemas.openxmlformats.org/drawingml/2006/main">
              <a:ext uri="{FF2B5EF4-FFF2-40B4-BE49-F238E27FC236}">
                <a16:creationId xmlns:a16="http://schemas.microsoft.com/office/drawing/2014/main" id="{B5458DEE-C946-433B-97EE-2F1624DE1F6F}"/>
              </a:ext>
            </a:extLst>
          </p:cNvPr>
          <p:cNvSpPr>
            <a:spLocks xmlns:a="http://schemas.openxmlformats.org/drawingml/2006/main" noGrp="1"/>
          </p:cNvSpPr>
          <p:nvPr/>
        </p:nvSpPr>
        <p:spPr>
          <a:xfrm xmlns:a="http://schemas.openxmlformats.org/drawingml/2006/main">
            <a:off x="8108950" y="2781300"/>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Keep reasoning close to records</a:t>
            </a:r>
          </a:p>
        </p:txBody>
      </p:sp>
      <p:sp>
        <p:nvSpPr>
          <p:cNvPr id="16" name="Local deployment can join sensitive supplier, stock, schedul">
            <a:extLst xmlns:a="http://schemas.openxmlformats.org/drawingml/2006/main">
              <a:ext uri="{FF2B5EF4-FFF2-40B4-BE49-F238E27FC236}">
                <a16:creationId xmlns:a16="http://schemas.microsoft.com/office/drawing/2014/main" id="{8AFE6C90-D894-42E7-A76B-6446329A5838}"/>
              </a:ext>
            </a:extLst>
          </p:cNvPr>
          <p:cNvSpPr>
            <a:spLocks xmlns:a="http://schemas.openxmlformats.org/drawingml/2006/main" noGrp="1"/>
          </p:cNvSpPr>
          <p:nvPr/>
        </p:nvSpPr>
        <p:spPr>
          <a:xfrm xmlns:a="http://schemas.openxmlformats.org/drawingml/2006/main">
            <a:off x="8108950" y="3495675"/>
            <a:ext cx="34353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96779"/>
                </a:solidFill>
                <a:latin typeface="Avenir Next"/>
                <a:ea typeface="Avenir Next"/>
                <a:cs typeface="Avenir Next"/>
              </a:defRPr>
            </a:pPr>
            <a:r>
              <a:rPr sz="1650" b="0">
                <a:solidFill>
                  <a:srgbClr val="596779"/>
                </a:solidFill>
                <a:latin typeface="Avenir Next"/>
                <a:ea typeface="Avenir Next"/>
                <a:cs typeface="Avenir Next"/>
              </a:rPr>
              <a:t>Local deployment can join sensitive supplier, stock, schedule, and order context without sending it to a cloud LLM.</a:t>
            </a:r>
          </a:p>
        </p:txBody>
      </p:sp>
      <p:sp>
        <p:nvSpPr>
          <p:cNvPr id="17" name="">
            <a:extLst xmlns:a="http://schemas.openxmlformats.org/drawingml/2006/main">
              <a:ext uri="{FF2B5EF4-FFF2-40B4-BE49-F238E27FC236}">
                <a16:creationId xmlns:a16="http://schemas.microsoft.com/office/drawing/2014/main" id="{CB0B09F5-4883-4E63-80F1-EFBE13B93A31}"/>
              </a:ext>
            </a:extLst>
          </p:cNvPr>
          <p:cNvSpPr>
            <a:spLocks xmlns:a="http://schemas.openxmlformats.org/drawingml/2006/main" noGrp="1"/>
          </p:cNvSpPr>
          <p:nvPr/>
        </p:nvSpPr>
        <p:spPr>
          <a:xfrm xmlns:a="http://schemas.openxmlformats.org/drawingml/2006/main">
            <a:off x="590550" y="5305425"/>
            <a:ext cx="10953750" cy="8001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8" name="Company-controlled operations">
            <a:extLst xmlns:a="http://schemas.openxmlformats.org/drawingml/2006/main">
              <a:ext uri="{FF2B5EF4-FFF2-40B4-BE49-F238E27FC236}">
                <a16:creationId xmlns:a16="http://schemas.microsoft.com/office/drawing/2014/main" id="{2937090E-08F3-4234-B0BF-CC2F4B388908}"/>
              </a:ext>
            </a:extLst>
          </p:cNvPr>
          <p:cNvSpPr>
            <a:spLocks xmlns:a="http://schemas.openxmlformats.org/drawingml/2006/main" noGrp="1"/>
          </p:cNvSpPr>
          <p:nvPr/>
        </p:nvSpPr>
        <p:spPr>
          <a:xfrm xmlns:a="http://schemas.openxmlformats.org/drawingml/2006/main">
            <a:off x="790575" y="54292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285BD0"/>
                </a:solidFill>
                <a:latin typeface="Avenir Next"/>
                <a:ea typeface="Avenir Next"/>
                <a:cs typeface="Avenir Next"/>
              </a:defRPr>
            </a:pPr>
            <a:r>
              <a:rPr sz="1950" b="1">
                <a:solidFill>
                  <a:srgbClr val="285BD0"/>
                </a:solidFill>
                <a:latin typeface="Avenir Next"/>
                <a:ea typeface="Avenir Next"/>
                <a:cs typeface="Avenir Next"/>
              </a:rPr>
              <a:t>Company-controlled operations</a:t>
            </a:r>
          </a:p>
        </p:txBody>
      </p:sp>
      <p:sp>
        <p:nvSpPr>
          <p:cNvPr id="19" name="Keep the graph and the context for a response close to the t">
            <a:extLst xmlns:a="http://schemas.openxmlformats.org/drawingml/2006/main">
              <a:ext uri="{FF2B5EF4-FFF2-40B4-BE49-F238E27FC236}">
                <a16:creationId xmlns:a16="http://schemas.microsoft.com/office/drawing/2014/main" id="{E5542887-5290-46DE-A84A-1FF36F9F4324}"/>
              </a:ext>
            </a:extLst>
          </p:cNvPr>
          <p:cNvSpPr>
            <a:spLocks xmlns:a="http://schemas.openxmlformats.org/drawingml/2006/main" noGrp="1"/>
          </p:cNvSpPr>
          <p:nvPr/>
        </p:nvSpPr>
        <p:spPr>
          <a:xfrm xmlns:a="http://schemas.openxmlformats.org/drawingml/2006/main">
            <a:off x="790575" y="57816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203047"/>
                </a:solidFill>
                <a:latin typeface="Avenir Next"/>
                <a:ea typeface="Avenir Next"/>
                <a:cs typeface="Avenir Next"/>
              </a:defRPr>
            </a:pPr>
            <a:r>
              <a:rPr sz="1500" b="0">
                <a:solidFill>
                  <a:srgbClr val="203047"/>
                </a:solidFill>
                <a:latin typeface="Avenir Next"/>
                <a:ea typeface="Avenir Next"/>
                <a:cs typeface="Avenir Next"/>
              </a:rPr>
              <a:t>Keep the graph and the context for a response close to the team that owns the decision.</a:t>
            </a:r>
          </a:p>
        </p:txBody>
      </p:sp>
    </p:spTree>
    <p:extLst>
      <p:ext uri="{BB962C8B-B14F-4D97-AF65-F5344CB8AC3E}">
        <p14:creationId xmlns:p14="http://schemas.microsoft.com/office/powerpoint/2010/main" val="2126604033"/>
      </p:ext>
    </p:extLst>
  </p:cSld>
</p:sld>
</file>

<file path=ppt/slides/slide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225ECAE7-3CC1-46E8-97C8-89FF2F114F9B}"/>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0E6F06-5C68-4C60-83F8-740E90014DE4}"/>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D3413CAA-8DDD-4DA5-B34B-CAED0F60CDB9}"/>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6D4A53D2-7594-4ADD-96DC-E22A85AF2712}"/>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43C083B2-E44B-4B6B-AD4F-8EC807ED8CBF}"/>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36106615-1DFD-4437-90C0-E2F456F42CE3}"/>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07 / 13">
            <a:extLst xmlns:a="http://schemas.openxmlformats.org/drawingml/2006/main">
              <a:ext uri="{FF2B5EF4-FFF2-40B4-BE49-F238E27FC236}">
                <a16:creationId xmlns:a16="http://schemas.microsoft.com/office/drawing/2014/main" id="{DD2B7840-9F37-4437-B1FB-1A4F15536C9F}"/>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07 / 13</a:t>
            </a:r>
          </a:p>
        </p:txBody>
      </p:sp>
      <p:sp>
        <p:nvSpPr>
          <p:cNvPr id="8" name="Watch unattended. Trace exposure. Draft a response.">
            <a:extLst xmlns:a="http://schemas.openxmlformats.org/drawingml/2006/main">
              <a:ext uri="{FF2B5EF4-FFF2-40B4-BE49-F238E27FC236}">
                <a16:creationId xmlns:a16="http://schemas.microsoft.com/office/drawing/2014/main" id="{162DE3CE-8874-498A-AEC2-6F1F9104F114}"/>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Watch unattended. Trace exposure. Draft a response.</a:t>
            </a:r>
          </a:p>
        </p:txBody>
      </p:sp>
      <p:sp>
        <p:nvSpPr>
          <p:cNvPr id="9" name="The model writes the explanation. Recorded dependencies dete">
            <a:extLst xmlns:a="http://schemas.openxmlformats.org/drawingml/2006/main">
              <a:ext uri="{FF2B5EF4-FFF2-40B4-BE49-F238E27FC236}">
                <a16:creationId xmlns:a16="http://schemas.microsoft.com/office/drawing/2014/main" id="{6C11C950-9E20-40CD-84CD-D0943F95160A}"/>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The model writes the explanation. Recorded dependencies determine who is affected.</a:t>
            </a:r>
          </a:p>
        </p:txBody>
      </p:sp>
      <p:sp>
        <p:nvSpPr>
          <p:cNvPr id="10" name="One licence suspension. Six exposed firms. Three downstream ">
            <a:extLst xmlns:a="http://schemas.openxmlformats.org/drawingml/2006/main">
              <a:ext uri="{FF2B5EF4-FFF2-40B4-BE49-F238E27FC236}">
                <a16:creationId xmlns:a16="http://schemas.microsoft.com/office/drawing/2014/main" id="{583A5D68-D5AF-4D1D-B62B-BB67840DC97C}"/>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One licence suspension. Six exposed firms. Three downstream tiers. Network risk score: 0.961.</a:t>
            </a:r>
          </a:p>
        </p:txBody>
      </p:sp>
      <p:sp>
        <p:nvSpPr>
          <p:cNvPr id="11" name="">
            <a:extLst xmlns:a="http://schemas.openxmlformats.org/drawingml/2006/main">
              <a:ext uri="{FF2B5EF4-FFF2-40B4-BE49-F238E27FC236}">
                <a16:creationId xmlns:a16="http://schemas.microsoft.com/office/drawing/2014/main" id="{2076F04B-DAC1-4F54-B505-D17BCBE4F34C}"/>
              </a:ext>
            </a:extLst>
          </p:cNvPr>
          <p:cNvSpPr>
            <a:spLocks xmlns:a="http://schemas.openxmlformats.org/drawingml/2006/main" noGrp="1"/>
          </p:cNvSpPr>
          <p:nvPr/>
        </p:nvSpPr>
        <p:spPr>
          <a:xfrm xmlns:a="http://schemas.openxmlformats.org/drawingml/2006/main">
            <a:off x="590550" y="2514600"/>
            <a:ext cx="2638425" cy="781050"/>
          </a:xfrm>
          <a:prstGeom xmlns:a="http://schemas.openxmlformats.org/drawingml/2006/main" prst="roundRect">
            <a:avLst>
              <a:gd name="adj" fmla="val 10976"/>
            </a:avLst>
          </a:prstGeom>
          <a:solidFill xmlns:a="http://schemas.openxmlformats.org/drawingml/2006/main">
            <a:srgbClr val="203047"/>
          </a:solidFill>
          <a:ln xmlns:a="http://schemas.openxmlformats.org/drawingml/2006/main" w="0">
            <a:noFill/>
          </a:ln>
        </p:spPr>
      </p:sp>
      <p:sp>
        <p:nvSpPr>
          <p:cNvPr id="12" name="Watch">
            <a:extLst xmlns:a="http://schemas.openxmlformats.org/drawingml/2006/main">
              <a:ext uri="{FF2B5EF4-FFF2-40B4-BE49-F238E27FC236}">
                <a16:creationId xmlns:a16="http://schemas.microsoft.com/office/drawing/2014/main" id="{BBE0D193-6C34-42C4-A6C5-C8E6894DA66A}"/>
              </a:ext>
            </a:extLst>
          </p:cNvPr>
          <p:cNvSpPr>
            <a:spLocks xmlns:a="http://schemas.openxmlformats.org/drawingml/2006/main" noGrp="1"/>
          </p:cNvSpPr>
          <p:nvPr/>
        </p:nvSpPr>
        <p:spPr>
          <a:xfrm xmlns:a="http://schemas.openxmlformats.org/drawingml/2006/main">
            <a:off x="733425" y="2638425"/>
            <a:ext cx="2352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Watch</a:t>
            </a:r>
          </a:p>
        </p:txBody>
      </p:sp>
      <p:sp>
        <p:nvSpPr>
          <p:cNvPr id="13" name="New events">
            <a:extLst xmlns:a="http://schemas.openxmlformats.org/drawingml/2006/main">
              <a:ext uri="{FF2B5EF4-FFF2-40B4-BE49-F238E27FC236}">
                <a16:creationId xmlns:a16="http://schemas.microsoft.com/office/drawing/2014/main" id="{2835FB9C-D4CC-430D-8FBF-4F4A5D933086}"/>
              </a:ext>
            </a:extLst>
          </p:cNvPr>
          <p:cNvSpPr>
            <a:spLocks xmlns:a="http://schemas.openxmlformats.org/drawingml/2006/main" noGrp="1"/>
          </p:cNvSpPr>
          <p:nvPr/>
        </p:nvSpPr>
        <p:spPr>
          <a:xfrm xmlns:a="http://schemas.openxmlformats.org/drawingml/2006/main">
            <a:off x="733425" y="2971800"/>
            <a:ext cx="2352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New events</a:t>
            </a:r>
          </a:p>
        </p:txBody>
      </p:sp>
      <p:sp>
        <p:nvSpPr>
          <p:cNvPr id="14" name="">
            <a:extLst xmlns:a="http://schemas.openxmlformats.org/drawingml/2006/main">
              <a:ext uri="{FF2B5EF4-FFF2-40B4-BE49-F238E27FC236}">
                <a16:creationId xmlns:a16="http://schemas.microsoft.com/office/drawing/2014/main" id="{16423AD4-0BBA-4DC5-B477-13BE38E745E4}"/>
              </a:ext>
            </a:extLst>
          </p:cNvPr>
          <p:cNvSpPr>
            <a:spLocks xmlns:a="http://schemas.openxmlformats.org/drawingml/2006/main" noGrp="1"/>
          </p:cNvSpPr>
          <p:nvPr/>
        </p:nvSpPr>
        <p:spPr>
          <a:xfrm xmlns:a="http://schemas.openxmlformats.org/drawingml/2006/main">
            <a:off x="3362325" y="2514600"/>
            <a:ext cx="2638425" cy="781050"/>
          </a:xfrm>
          <a:prstGeom xmlns:a="http://schemas.openxmlformats.org/drawingml/2006/main" prst="roundRect">
            <a:avLst>
              <a:gd name="adj" fmla="val 10976"/>
            </a:avLst>
          </a:prstGeom>
          <a:solidFill xmlns:a="http://schemas.openxmlformats.org/drawingml/2006/main">
            <a:srgbClr val="203047"/>
          </a:solidFill>
          <a:ln xmlns:a="http://schemas.openxmlformats.org/drawingml/2006/main" w="0">
            <a:noFill/>
          </a:ln>
        </p:spPr>
      </p:sp>
      <p:sp>
        <p:nvSpPr>
          <p:cNvPr id="15" name="Trace">
            <a:extLst xmlns:a="http://schemas.openxmlformats.org/drawingml/2006/main">
              <a:ext uri="{FF2B5EF4-FFF2-40B4-BE49-F238E27FC236}">
                <a16:creationId xmlns:a16="http://schemas.microsoft.com/office/drawing/2014/main" id="{DD92B240-91B9-43BE-B1B7-DD6AB0EEAC94}"/>
              </a:ext>
            </a:extLst>
          </p:cNvPr>
          <p:cNvSpPr>
            <a:spLocks xmlns:a="http://schemas.openxmlformats.org/drawingml/2006/main" noGrp="1"/>
          </p:cNvSpPr>
          <p:nvPr/>
        </p:nvSpPr>
        <p:spPr>
          <a:xfrm xmlns:a="http://schemas.openxmlformats.org/drawingml/2006/main">
            <a:off x="3505200" y="2638425"/>
            <a:ext cx="2352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Trace</a:t>
            </a:r>
          </a:p>
        </p:txBody>
      </p:sp>
      <p:sp>
        <p:nvSpPr>
          <p:cNvPr id="16" name="Recorded dependencies">
            <a:extLst xmlns:a="http://schemas.openxmlformats.org/drawingml/2006/main">
              <a:ext uri="{FF2B5EF4-FFF2-40B4-BE49-F238E27FC236}">
                <a16:creationId xmlns:a16="http://schemas.microsoft.com/office/drawing/2014/main" id="{B68B0F2C-AB3E-4BEE-98AB-776799C5B4D4}"/>
              </a:ext>
            </a:extLst>
          </p:cNvPr>
          <p:cNvSpPr>
            <a:spLocks xmlns:a="http://schemas.openxmlformats.org/drawingml/2006/main" noGrp="1"/>
          </p:cNvSpPr>
          <p:nvPr/>
        </p:nvSpPr>
        <p:spPr>
          <a:xfrm xmlns:a="http://schemas.openxmlformats.org/drawingml/2006/main">
            <a:off x="3505200" y="2971800"/>
            <a:ext cx="2352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Recorded dependencies</a:t>
            </a:r>
          </a:p>
        </p:txBody>
      </p:sp>
      <p:cxnSp>
        <p:nvCxnSpPr>
          <p:cNvPr id="72" name=""/>
          <p:cNvCxnSpPr>
            <a:stCxn xmlns:a="http://schemas.openxmlformats.org/drawingml/2006/main" id="11" idx="3"/>
            <a:endCxn xmlns:a="http://schemas.openxmlformats.org/drawingml/2006/main" id="14" idx="1"/>
          </p:cNvCxnSpPr>
          <p:nvPr/>
        </p:nvCxnSpPr>
        <p:spPr>
          <a:xfrm xmlns:a="http://schemas.openxmlformats.org/drawingml/2006/main">
            <a:off x="3228975" y="2905125"/>
            <a:ext cx="133350" cy="0"/>
          </a:xfrm>
          <a:prstGeom xmlns:a="http://schemas.openxmlformats.org/drawingml/2006/main" prst="straightConnector1">
            <a:avLst/>
          </a:prstGeom>
          <a:ln xmlns:a="http://schemas.openxmlformats.org/drawingml/2006/main" w="19050">
            <a:solidFill>
              <a:srgbClr val="71839C"/>
            </a:solidFill>
            <a:tailEnd type="triangle" w="sm" len="sm"/>
          </a:ln>
        </p:spPr>
      </p:cxnSp>
      <p:sp>
        <p:nvSpPr>
          <p:cNvPr id="18" name="">
            <a:extLst xmlns:a="http://schemas.openxmlformats.org/drawingml/2006/main">
              <a:ext uri="{FF2B5EF4-FFF2-40B4-BE49-F238E27FC236}">
                <a16:creationId xmlns:a16="http://schemas.microsoft.com/office/drawing/2014/main" id="{02EEFC5B-CA41-4484-A0EE-97525380BEA3}"/>
              </a:ext>
            </a:extLst>
          </p:cNvPr>
          <p:cNvSpPr>
            <a:spLocks xmlns:a="http://schemas.openxmlformats.org/drawingml/2006/main" noGrp="1"/>
          </p:cNvSpPr>
          <p:nvPr/>
        </p:nvSpPr>
        <p:spPr>
          <a:xfrm xmlns:a="http://schemas.openxmlformats.org/drawingml/2006/main">
            <a:off x="6134100" y="2514600"/>
            <a:ext cx="2638425" cy="781050"/>
          </a:xfrm>
          <a:prstGeom xmlns:a="http://schemas.openxmlformats.org/drawingml/2006/main" prst="roundRect">
            <a:avLst>
              <a:gd name="adj" fmla="val 10976"/>
            </a:avLst>
          </a:prstGeom>
          <a:solidFill xmlns:a="http://schemas.openxmlformats.org/drawingml/2006/main">
            <a:srgbClr val="203047"/>
          </a:solidFill>
          <a:ln xmlns:a="http://schemas.openxmlformats.org/drawingml/2006/main" w="0">
            <a:noFill/>
          </a:ln>
        </p:spPr>
      </p:sp>
      <p:sp>
        <p:nvSpPr>
          <p:cNvPr id="19" name="Draft">
            <a:extLst xmlns:a="http://schemas.openxmlformats.org/drawingml/2006/main">
              <a:ext uri="{FF2B5EF4-FFF2-40B4-BE49-F238E27FC236}">
                <a16:creationId xmlns:a16="http://schemas.microsoft.com/office/drawing/2014/main" id="{5F089988-1BD3-466C-9FBB-30667C8B9767}"/>
              </a:ext>
            </a:extLst>
          </p:cNvPr>
          <p:cNvSpPr>
            <a:spLocks xmlns:a="http://schemas.openxmlformats.org/drawingml/2006/main" noGrp="1"/>
          </p:cNvSpPr>
          <p:nvPr/>
        </p:nvSpPr>
        <p:spPr>
          <a:xfrm xmlns:a="http://schemas.openxmlformats.org/drawingml/2006/main">
            <a:off x="6276975" y="2638425"/>
            <a:ext cx="2352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Draft</a:t>
            </a:r>
          </a:p>
        </p:txBody>
      </p:sp>
      <p:sp>
        <p:nvSpPr>
          <p:cNvPr id="20" name="Local reasoning">
            <a:extLst xmlns:a="http://schemas.openxmlformats.org/drawingml/2006/main">
              <a:ext uri="{FF2B5EF4-FFF2-40B4-BE49-F238E27FC236}">
                <a16:creationId xmlns:a16="http://schemas.microsoft.com/office/drawing/2014/main" id="{150198FB-6D02-4237-BEE9-443A106E79C9}"/>
              </a:ext>
            </a:extLst>
          </p:cNvPr>
          <p:cNvSpPr>
            <a:spLocks xmlns:a="http://schemas.openxmlformats.org/drawingml/2006/main" noGrp="1"/>
          </p:cNvSpPr>
          <p:nvPr/>
        </p:nvSpPr>
        <p:spPr>
          <a:xfrm xmlns:a="http://schemas.openxmlformats.org/drawingml/2006/main">
            <a:off x="6276975" y="2971800"/>
            <a:ext cx="2352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Local reasoning</a:t>
            </a:r>
          </a:p>
        </p:txBody>
      </p:sp>
      <p:cxnSp>
        <p:nvCxnSpPr>
          <p:cNvPr id="76" name=""/>
          <p:cNvCxnSpPr>
            <a:stCxn xmlns:a="http://schemas.openxmlformats.org/drawingml/2006/main" id="14" idx="3"/>
            <a:endCxn xmlns:a="http://schemas.openxmlformats.org/drawingml/2006/main" id="18" idx="1"/>
          </p:cNvCxnSpPr>
          <p:nvPr/>
        </p:nvCxnSpPr>
        <p:spPr>
          <a:xfrm xmlns:a="http://schemas.openxmlformats.org/drawingml/2006/main">
            <a:off x="6000750" y="2905125"/>
            <a:ext cx="133350" cy="0"/>
          </a:xfrm>
          <a:prstGeom xmlns:a="http://schemas.openxmlformats.org/drawingml/2006/main" prst="straightConnector1">
            <a:avLst/>
          </a:prstGeom>
          <a:ln xmlns:a="http://schemas.openxmlformats.org/drawingml/2006/main" w="19050">
            <a:solidFill>
              <a:srgbClr val="71839C"/>
            </a:solidFill>
            <a:tailEnd type="triangle" w="sm" len="sm"/>
          </a:ln>
        </p:spPr>
      </p:cxnSp>
      <p:sp>
        <p:nvSpPr>
          <p:cNvPr id="22" name="">
            <a:extLst xmlns:a="http://schemas.openxmlformats.org/drawingml/2006/main">
              <a:ext uri="{FF2B5EF4-FFF2-40B4-BE49-F238E27FC236}">
                <a16:creationId xmlns:a16="http://schemas.microsoft.com/office/drawing/2014/main" id="{1BEE5889-C979-4B35-84DB-58148FCF08A0}"/>
              </a:ext>
            </a:extLst>
          </p:cNvPr>
          <p:cNvSpPr>
            <a:spLocks xmlns:a="http://schemas.openxmlformats.org/drawingml/2006/main" noGrp="1"/>
          </p:cNvSpPr>
          <p:nvPr/>
        </p:nvSpPr>
        <p:spPr>
          <a:xfrm xmlns:a="http://schemas.openxmlformats.org/drawingml/2006/main">
            <a:off x="8905875" y="2514600"/>
            <a:ext cx="2638425" cy="781050"/>
          </a:xfrm>
          <a:prstGeom xmlns:a="http://schemas.openxmlformats.org/drawingml/2006/main" prst="roundRect">
            <a:avLst>
              <a:gd name="adj" fmla="val 10976"/>
            </a:avLst>
          </a:prstGeom>
          <a:solidFill xmlns:a="http://schemas.openxmlformats.org/drawingml/2006/main">
            <a:srgbClr val="203047"/>
          </a:solidFill>
          <a:ln xmlns:a="http://schemas.openxmlformats.org/drawingml/2006/main" w="0">
            <a:noFill/>
          </a:ln>
        </p:spPr>
      </p:sp>
      <p:sp>
        <p:nvSpPr>
          <p:cNvPr id="23" name="Review">
            <a:extLst xmlns:a="http://schemas.openxmlformats.org/drawingml/2006/main">
              <a:ext uri="{FF2B5EF4-FFF2-40B4-BE49-F238E27FC236}">
                <a16:creationId xmlns:a16="http://schemas.microsoft.com/office/drawing/2014/main" id="{50497C2C-0BE7-4B9D-B041-9B1CE8F7C54E}"/>
              </a:ext>
            </a:extLst>
          </p:cNvPr>
          <p:cNvSpPr>
            <a:spLocks xmlns:a="http://schemas.openxmlformats.org/drawingml/2006/main" noGrp="1"/>
          </p:cNvSpPr>
          <p:nvPr/>
        </p:nvSpPr>
        <p:spPr>
          <a:xfrm xmlns:a="http://schemas.openxmlformats.org/drawingml/2006/main">
            <a:off x="9048750" y="2638425"/>
            <a:ext cx="2352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Review</a:t>
            </a:r>
          </a:p>
        </p:txBody>
      </p:sp>
      <p:sp>
        <p:nvSpPr>
          <p:cNvPr id="24" name="Responsible person">
            <a:extLst xmlns:a="http://schemas.openxmlformats.org/drawingml/2006/main">
              <a:ext uri="{FF2B5EF4-FFF2-40B4-BE49-F238E27FC236}">
                <a16:creationId xmlns:a16="http://schemas.microsoft.com/office/drawing/2014/main" id="{358D9CD9-7C07-4607-9298-9B60827003FB}"/>
              </a:ext>
            </a:extLst>
          </p:cNvPr>
          <p:cNvSpPr>
            <a:spLocks xmlns:a="http://schemas.openxmlformats.org/drawingml/2006/main" noGrp="1"/>
          </p:cNvSpPr>
          <p:nvPr/>
        </p:nvSpPr>
        <p:spPr>
          <a:xfrm xmlns:a="http://schemas.openxmlformats.org/drawingml/2006/main">
            <a:off x="9048750" y="2971800"/>
            <a:ext cx="2352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Responsible person</a:t>
            </a:r>
          </a:p>
        </p:txBody>
      </p:sp>
      <p:cxnSp>
        <p:nvCxnSpPr>
          <p:cNvPr id="80" name=""/>
          <p:cNvCxnSpPr>
            <a:stCxn xmlns:a="http://schemas.openxmlformats.org/drawingml/2006/main" id="18" idx="3"/>
            <a:endCxn xmlns:a="http://schemas.openxmlformats.org/drawingml/2006/main" id="22" idx="1"/>
          </p:cNvCxnSpPr>
          <p:nvPr/>
        </p:nvCxnSpPr>
        <p:spPr>
          <a:xfrm xmlns:a="http://schemas.openxmlformats.org/drawingml/2006/main">
            <a:off x="8772525" y="2905125"/>
            <a:ext cx="133350" cy="0"/>
          </a:xfrm>
          <a:prstGeom xmlns:a="http://schemas.openxmlformats.org/drawingml/2006/main" prst="straightConnector1">
            <a:avLst/>
          </a:prstGeom>
          <a:ln xmlns:a="http://schemas.openxmlformats.org/drawingml/2006/main" w="19050">
            <a:solidFill>
              <a:srgbClr val="71839C"/>
            </a:solidFill>
            <a:tailEnd type="triangle" w="sm" len="sm"/>
          </a:ln>
        </p:spPr>
      </p:cxnSp>
      <p:sp>
        <p:nvSpPr>
          <p:cNvPr id="26" name="">
            <a:extLst xmlns:a="http://schemas.openxmlformats.org/drawingml/2006/main">
              <a:ext uri="{FF2B5EF4-FFF2-40B4-BE49-F238E27FC236}">
                <a16:creationId xmlns:a16="http://schemas.microsoft.com/office/drawing/2014/main" id="{1B52F6E8-3AC4-48BF-B798-818C0874E7B8}"/>
              </a:ext>
            </a:extLst>
          </p:cNvPr>
          <p:cNvSpPr>
            <a:spLocks xmlns:a="http://schemas.openxmlformats.org/drawingml/2006/main" noGrp="1"/>
          </p:cNvSpPr>
          <p:nvPr/>
        </p:nvSpPr>
        <p:spPr>
          <a:xfrm xmlns:a="http://schemas.openxmlformats.org/drawingml/2006/main">
            <a:off x="609600" y="4219575"/>
            <a:ext cx="2533650" cy="923925"/>
          </a:xfrm>
          <a:prstGeom xmlns:a="http://schemas.openxmlformats.org/drawingml/2006/main" prst="roundRect">
            <a:avLst>
              <a:gd name="adj" fmla="val 9278"/>
            </a:avLst>
          </a:prstGeom>
          <a:solidFill xmlns:a="http://schemas.openxmlformats.org/drawingml/2006/main">
            <a:srgbClr val="FFF2EF"/>
          </a:solidFill>
          <a:ln xmlns:a="http://schemas.openxmlformats.org/drawingml/2006/main" w="9525">
            <a:solidFill>
              <a:srgbClr val="D8948C"/>
            </a:solidFill>
          </a:ln>
        </p:spPr>
      </p:sp>
      <p:sp>
        <p:nvSpPr>
          <p:cNvPr id="27" name="Altiplano Rare Earth">
            <a:extLst xmlns:a="http://schemas.openxmlformats.org/drawingml/2006/main">
              <a:ext uri="{FF2B5EF4-FFF2-40B4-BE49-F238E27FC236}">
                <a16:creationId xmlns:a16="http://schemas.microsoft.com/office/drawing/2014/main" id="{1819AFB5-BA21-4CEB-88F1-34E3C5CD0DBF}"/>
              </a:ext>
            </a:extLst>
          </p:cNvPr>
          <p:cNvSpPr>
            <a:spLocks xmlns:a="http://schemas.openxmlformats.org/drawingml/2006/main" noGrp="1"/>
          </p:cNvSpPr>
          <p:nvPr/>
        </p:nvSpPr>
        <p:spPr>
          <a:xfrm xmlns:a="http://schemas.openxmlformats.org/drawingml/2006/main">
            <a:off x="733425" y="433387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B33B34"/>
                </a:solidFill>
                <a:latin typeface="Avenir Next"/>
                <a:ea typeface="Avenir Next"/>
                <a:cs typeface="Avenir Next"/>
              </a:defRPr>
            </a:pPr>
            <a:r>
              <a:rPr sz="1500" b="1">
                <a:solidFill>
                  <a:srgbClr val="B33B34"/>
                </a:solidFill>
                <a:latin typeface="Avenir Next"/>
                <a:ea typeface="Avenir Next"/>
                <a:cs typeface="Avenir Next"/>
              </a:rPr>
              <a:t>Altiplano Rare Earth</a:t>
            </a:r>
          </a:p>
        </p:txBody>
      </p:sp>
      <p:sp>
        <p:nvSpPr>
          <p:cNvPr id="28" name="Magnet billet">
            <a:extLst xmlns:a="http://schemas.openxmlformats.org/drawingml/2006/main">
              <a:ext uri="{FF2B5EF4-FFF2-40B4-BE49-F238E27FC236}">
                <a16:creationId xmlns:a16="http://schemas.microsoft.com/office/drawing/2014/main" id="{CA876283-590D-4269-AADF-E8D9979076EC}"/>
              </a:ext>
            </a:extLst>
          </p:cNvPr>
          <p:cNvSpPr>
            <a:spLocks xmlns:a="http://schemas.openxmlformats.org/drawingml/2006/main" noGrp="1"/>
          </p:cNvSpPr>
          <p:nvPr/>
        </p:nvSpPr>
        <p:spPr>
          <a:xfrm xmlns:a="http://schemas.openxmlformats.org/drawingml/2006/main">
            <a:off x="733425" y="4867275"/>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Magnet billet</a:t>
            </a:r>
          </a:p>
        </p:txBody>
      </p:sp>
      <p:sp>
        <p:nvSpPr>
          <p:cNvPr id="29" name="">
            <a:extLst xmlns:a="http://schemas.openxmlformats.org/drawingml/2006/main">
              <a:ext uri="{FF2B5EF4-FFF2-40B4-BE49-F238E27FC236}">
                <a16:creationId xmlns:a16="http://schemas.microsoft.com/office/drawing/2014/main" id="{587EBEC0-789E-4270-960F-8D3ABCA74F8B}"/>
              </a:ext>
            </a:extLst>
          </p:cNvPr>
          <p:cNvSpPr>
            <a:spLocks xmlns:a="http://schemas.openxmlformats.org/drawingml/2006/main" noGrp="1"/>
          </p:cNvSpPr>
          <p:nvPr/>
        </p:nvSpPr>
        <p:spPr>
          <a:xfrm xmlns:a="http://schemas.openxmlformats.org/drawingml/2006/main">
            <a:off x="3409950" y="3667125"/>
            <a:ext cx="2533650" cy="923925"/>
          </a:xfrm>
          <a:prstGeom xmlns:a="http://schemas.openxmlformats.org/drawingml/2006/main" prst="roundRect">
            <a:avLst>
              <a:gd name="adj" fmla="val 9278"/>
            </a:avLst>
          </a:prstGeom>
          <a:solidFill xmlns:a="http://schemas.openxmlformats.org/drawingml/2006/main">
            <a:srgbClr val="FFFFFF"/>
          </a:solidFill>
          <a:ln xmlns:a="http://schemas.openxmlformats.org/drawingml/2006/main" w="9525">
            <a:solidFill>
              <a:srgbClr val="DCE3ED"/>
            </a:solidFill>
          </a:ln>
        </p:spPr>
      </p:sp>
      <p:sp>
        <p:nvSpPr>
          <p:cNvPr id="30" name="Shenzhen Micro Sensors">
            <a:extLst xmlns:a="http://schemas.openxmlformats.org/drawingml/2006/main">
              <a:ext uri="{FF2B5EF4-FFF2-40B4-BE49-F238E27FC236}">
                <a16:creationId xmlns:a16="http://schemas.microsoft.com/office/drawing/2014/main" id="{98453209-82B2-45A0-95A9-3E953A9D3F34}"/>
              </a:ext>
            </a:extLst>
          </p:cNvPr>
          <p:cNvSpPr>
            <a:spLocks xmlns:a="http://schemas.openxmlformats.org/drawingml/2006/main" noGrp="1"/>
          </p:cNvSpPr>
          <p:nvPr/>
        </p:nvSpPr>
        <p:spPr>
          <a:xfrm xmlns:a="http://schemas.openxmlformats.org/drawingml/2006/main">
            <a:off x="3533775" y="37814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03047"/>
                </a:solidFill>
                <a:latin typeface="Avenir Next"/>
                <a:ea typeface="Avenir Next"/>
                <a:cs typeface="Avenir Next"/>
              </a:defRPr>
            </a:pPr>
            <a:r>
              <a:rPr sz="1500" b="1">
                <a:solidFill>
                  <a:srgbClr val="203047"/>
                </a:solidFill>
                <a:latin typeface="Avenir Next"/>
                <a:ea typeface="Avenir Next"/>
                <a:cs typeface="Avenir Next"/>
              </a:rPr>
              <a:t>Shenzhen Micro Sensors</a:t>
            </a:r>
          </a:p>
        </p:txBody>
      </p:sp>
      <p:sp>
        <p:nvSpPr>
          <p:cNvPr id="31" name="Sensor array">
            <a:extLst xmlns:a="http://schemas.openxmlformats.org/drawingml/2006/main">
              <a:ext uri="{FF2B5EF4-FFF2-40B4-BE49-F238E27FC236}">
                <a16:creationId xmlns:a16="http://schemas.microsoft.com/office/drawing/2014/main" id="{6AC2887D-A7F4-4CB1-A22D-6B9B777B9255}"/>
              </a:ext>
            </a:extLst>
          </p:cNvPr>
          <p:cNvSpPr>
            <a:spLocks xmlns:a="http://schemas.openxmlformats.org/drawingml/2006/main" noGrp="1"/>
          </p:cNvSpPr>
          <p:nvPr/>
        </p:nvSpPr>
        <p:spPr>
          <a:xfrm xmlns:a="http://schemas.openxmlformats.org/drawingml/2006/main">
            <a:off x="3533775" y="4314825"/>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Sensor array</a:t>
            </a:r>
          </a:p>
        </p:txBody>
      </p:sp>
      <p:sp>
        <p:nvSpPr>
          <p:cNvPr id="32" name="">
            <a:extLst xmlns:a="http://schemas.openxmlformats.org/drawingml/2006/main">
              <a:ext uri="{FF2B5EF4-FFF2-40B4-BE49-F238E27FC236}">
                <a16:creationId xmlns:a16="http://schemas.microsoft.com/office/drawing/2014/main" id="{750E7074-3C84-46AB-BFEA-E7016B6228E0}"/>
              </a:ext>
            </a:extLst>
          </p:cNvPr>
          <p:cNvSpPr>
            <a:spLocks xmlns:a="http://schemas.openxmlformats.org/drawingml/2006/main" noGrp="1"/>
          </p:cNvSpPr>
          <p:nvPr/>
        </p:nvSpPr>
        <p:spPr>
          <a:xfrm xmlns:a="http://schemas.openxmlformats.org/drawingml/2006/main">
            <a:off x="3409950" y="4819650"/>
            <a:ext cx="2533650" cy="923925"/>
          </a:xfrm>
          <a:prstGeom xmlns:a="http://schemas.openxmlformats.org/drawingml/2006/main" prst="roundRect">
            <a:avLst>
              <a:gd name="adj" fmla="val 9278"/>
            </a:avLst>
          </a:prstGeom>
          <a:solidFill xmlns:a="http://schemas.openxmlformats.org/drawingml/2006/main">
            <a:srgbClr val="FFFFFF"/>
          </a:solidFill>
          <a:ln xmlns:a="http://schemas.openxmlformats.org/drawingml/2006/main" w="9525">
            <a:solidFill>
              <a:srgbClr val="DCE3ED"/>
            </a:solidFill>
          </a:ln>
        </p:spPr>
      </p:sp>
      <p:sp>
        <p:nvSpPr>
          <p:cNvPr id="33" name="Great Lakes Stamping">
            <a:extLst xmlns:a="http://schemas.openxmlformats.org/drawingml/2006/main">
              <a:ext uri="{FF2B5EF4-FFF2-40B4-BE49-F238E27FC236}">
                <a16:creationId xmlns:a16="http://schemas.microsoft.com/office/drawing/2014/main" id="{5278E486-0828-4553-9F46-C383F1CB7159}"/>
              </a:ext>
            </a:extLst>
          </p:cNvPr>
          <p:cNvSpPr>
            <a:spLocks xmlns:a="http://schemas.openxmlformats.org/drawingml/2006/main" noGrp="1"/>
          </p:cNvSpPr>
          <p:nvPr/>
        </p:nvSpPr>
        <p:spPr>
          <a:xfrm xmlns:a="http://schemas.openxmlformats.org/drawingml/2006/main">
            <a:off x="3533775" y="4933950"/>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03047"/>
                </a:solidFill>
                <a:latin typeface="Avenir Next"/>
                <a:ea typeface="Avenir Next"/>
                <a:cs typeface="Avenir Next"/>
              </a:defRPr>
            </a:pPr>
            <a:r>
              <a:rPr sz="1500" b="1">
                <a:solidFill>
                  <a:srgbClr val="203047"/>
                </a:solidFill>
                <a:latin typeface="Avenir Next"/>
                <a:ea typeface="Avenir Next"/>
                <a:cs typeface="Avenir Next"/>
              </a:rPr>
              <a:t>Great Lakes Stamping</a:t>
            </a:r>
          </a:p>
        </p:txBody>
      </p:sp>
      <p:sp>
        <p:nvSpPr>
          <p:cNvPr id="34" name="Mounting bracket">
            <a:extLst xmlns:a="http://schemas.openxmlformats.org/drawingml/2006/main">
              <a:ext uri="{FF2B5EF4-FFF2-40B4-BE49-F238E27FC236}">
                <a16:creationId xmlns:a16="http://schemas.microsoft.com/office/drawing/2014/main" id="{F41CD02F-A9EA-4F7E-88EE-B3981691C70D}"/>
              </a:ext>
            </a:extLst>
          </p:cNvPr>
          <p:cNvSpPr>
            <a:spLocks xmlns:a="http://schemas.openxmlformats.org/drawingml/2006/main" noGrp="1"/>
          </p:cNvSpPr>
          <p:nvPr/>
        </p:nvSpPr>
        <p:spPr>
          <a:xfrm xmlns:a="http://schemas.openxmlformats.org/drawingml/2006/main">
            <a:off x="3533775" y="546735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Mounting bracket</a:t>
            </a:r>
          </a:p>
        </p:txBody>
      </p:sp>
      <p:sp>
        <p:nvSpPr>
          <p:cNvPr id="35" name="">
            <a:extLst xmlns:a="http://schemas.openxmlformats.org/drawingml/2006/main">
              <a:ext uri="{FF2B5EF4-FFF2-40B4-BE49-F238E27FC236}">
                <a16:creationId xmlns:a16="http://schemas.microsoft.com/office/drawing/2014/main" id="{2CD2FBF8-A8C9-405F-9C66-A522F5044F91}"/>
              </a:ext>
            </a:extLst>
          </p:cNvPr>
          <p:cNvSpPr>
            <a:spLocks xmlns:a="http://schemas.openxmlformats.org/drawingml/2006/main" noGrp="1"/>
          </p:cNvSpPr>
          <p:nvPr/>
        </p:nvSpPr>
        <p:spPr>
          <a:xfrm xmlns:a="http://schemas.openxmlformats.org/drawingml/2006/main">
            <a:off x="6210300" y="3667125"/>
            <a:ext cx="2533650" cy="923925"/>
          </a:xfrm>
          <a:prstGeom xmlns:a="http://schemas.openxmlformats.org/drawingml/2006/main" prst="roundRect">
            <a:avLst>
              <a:gd name="adj" fmla="val 9278"/>
            </a:avLst>
          </a:prstGeom>
          <a:solidFill xmlns:a="http://schemas.openxmlformats.org/drawingml/2006/main">
            <a:srgbClr val="FFFFFF"/>
          </a:solidFill>
          <a:ln xmlns:a="http://schemas.openxmlformats.org/drawingml/2006/main" w="9525">
            <a:solidFill>
              <a:srgbClr val="DCE3ED"/>
            </a:solidFill>
          </a:ln>
        </p:spPr>
      </p:sp>
      <p:sp>
        <p:nvSpPr>
          <p:cNvPr id="36" name="Delta Assembly Works">
            <a:extLst xmlns:a="http://schemas.openxmlformats.org/drawingml/2006/main">
              <a:ext uri="{FF2B5EF4-FFF2-40B4-BE49-F238E27FC236}">
                <a16:creationId xmlns:a16="http://schemas.microsoft.com/office/drawing/2014/main" id="{20D4F169-88CE-4245-A984-76F7B7FDF4BE}"/>
              </a:ext>
            </a:extLst>
          </p:cNvPr>
          <p:cNvSpPr>
            <a:spLocks xmlns:a="http://schemas.openxmlformats.org/drawingml/2006/main" noGrp="1"/>
          </p:cNvSpPr>
          <p:nvPr/>
        </p:nvSpPr>
        <p:spPr>
          <a:xfrm xmlns:a="http://schemas.openxmlformats.org/drawingml/2006/main">
            <a:off x="6334125" y="37814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03047"/>
                </a:solidFill>
                <a:latin typeface="Avenir Next"/>
                <a:ea typeface="Avenir Next"/>
                <a:cs typeface="Avenir Next"/>
              </a:defRPr>
            </a:pPr>
            <a:r>
              <a:rPr sz="1500" b="1">
                <a:solidFill>
                  <a:srgbClr val="203047"/>
                </a:solidFill>
                <a:latin typeface="Avenir Next"/>
                <a:ea typeface="Avenir Next"/>
                <a:cs typeface="Avenir Next"/>
              </a:rPr>
              <a:t>Delta Assembly Works</a:t>
            </a:r>
          </a:p>
        </p:txBody>
      </p:sp>
      <p:sp>
        <p:nvSpPr>
          <p:cNvPr id="37" name="Turbocharger subassembly">
            <a:extLst xmlns:a="http://schemas.openxmlformats.org/drawingml/2006/main">
              <a:ext uri="{FF2B5EF4-FFF2-40B4-BE49-F238E27FC236}">
                <a16:creationId xmlns:a16="http://schemas.microsoft.com/office/drawing/2014/main" id="{F23B73E4-778A-49CA-8CD6-05B0E3F377B6}"/>
              </a:ext>
            </a:extLst>
          </p:cNvPr>
          <p:cNvSpPr>
            <a:spLocks xmlns:a="http://schemas.openxmlformats.org/drawingml/2006/main" noGrp="1"/>
          </p:cNvSpPr>
          <p:nvPr/>
        </p:nvSpPr>
        <p:spPr>
          <a:xfrm xmlns:a="http://schemas.openxmlformats.org/drawingml/2006/main">
            <a:off x="6334125" y="4314825"/>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Turbocharger subassembly</a:t>
            </a:r>
          </a:p>
        </p:txBody>
      </p:sp>
      <p:sp>
        <p:nvSpPr>
          <p:cNvPr id="38" name="">
            <a:extLst xmlns:a="http://schemas.openxmlformats.org/drawingml/2006/main">
              <a:ext uri="{FF2B5EF4-FFF2-40B4-BE49-F238E27FC236}">
                <a16:creationId xmlns:a16="http://schemas.microsoft.com/office/drawing/2014/main" id="{0624AD54-62B1-4A0B-84EB-DA471D6CA80E}"/>
              </a:ext>
            </a:extLst>
          </p:cNvPr>
          <p:cNvSpPr>
            <a:spLocks xmlns:a="http://schemas.openxmlformats.org/drawingml/2006/main" noGrp="1"/>
          </p:cNvSpPr>
          <p:nvPr/>
        </p:nvSpPr>
        <p:spPr>
          <a:xfrm xmlns:a="http://schemas.openxmlformats.org/drawingml/2006/main">
            <a:off x="6210300" y="4819650"/>
            <a:ext cx="2533650" cy="923925"/>
          </a:xfrm>
          <a:prstGeom xmlns:a="http://schemas.openxmlformats.org/drawingml/2006/main" prst="roundRect">
            <a:avLst>
              <a:gd name="adj" fmla="val 9278"/>
            </a:avLst>
          </a:prstGeom>
          <a:solidFill xmlns:a="http://schemas.openxmlformats.org/drawingml/2006/main">
            <a:srgbClr val="FFFFFF"/>
          </a:solidFill>
          <a:ln xmlns:a="http://schemas.openxmlformats.org/drawingml/2006/main" w="9525">
            <a:solidFill>
              <a:srgbClr val="DCE3ED"/>
            </a:solidFill>
          </a:ln>
        </p:spPr>
      </p:sp>
      <p:sp>
        <p:nvSpPr>
          <p:cNvPr id="39" name="Ardennes Wiring Systems">
            <a:extLst xmlns:a="http://schemas.openxmlformats.org/drawingml/2006/main">
              <a:ext uri="{FF2B5EF4-FFF2-40B4-BE49-F238E27FC236}">
                <a16:creationId xmlns:a16="http://schemas.microsoft.com/office/drawing/2014/main" id="{5F458FDA-2932-4D18-A3BB-08E67695DF09}"/>
              </a:ext>
            </a:extLst>
          </p:cNvPr>
          <p:cNvSpPr>
            <a:spLocks xmlns:a="http://schemas.openxmlformats.org/drawingml/2006/main" noGrp="1"/>
          </p:cNvSpPr>
          <p:nvPr/>
        </p:nvSpPr>
        <p:spPr>
          <a:xfrm xmlns:a="http://schemas.openxmlformats.org/drawingml/2006/main">
            <a:off x="6334125" y="4933950"/>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03047"/>
                </a:solidFill>
                <a:latin typeface="Avenir Next"/>
                <a:ea typeface="Avenir Next"/>
                <a:cs typeface="Avenir Next"/>
              </a:defRPr>
            </a:pPr>
            <a:r>
              <a:rPr sz="1500" b="1">
                <a:solidFill>
                  <a:srgbClr val="203047"/>
                </a:solidFill>
                <a:latin typeface="Avenir Next"/>
                <a:ea typeface="Avenir Next"/>
                <a:cs typeface="Avenir Next"/>
              </a:rPr>
              <a:t>Ardennes Wiring Systems</a:t>
            </a:r>
          </a:p>
        </p:txBody>
      </p:sp>
      <p:sp>
        <p:nvSpPr>
          <p:cNvPr id="40" name="Wiring harness">
            <a:extLst xmlns:a="http://schemas.openxmlformats.org/drawingml/2006/main">
              <a:ext uri="{FF2B5EF4-FFF2-40B4-BE49-F238E27FC236}">
                <a16:creationId xmlns:a16="http://schemas.microsoft.com/office/drawing/2014/main" id="{8CB0C794-B507-47E9-99D1-7CFD78861356}"/>
              </a:ext>
            </a:extLst>
          </p:cNvPr>
          <p:cNvSpPr>
            <a:spLocks xmlns:a="http://schemas.openxmlformats.org/drawingml/2006/main" noGrp="1"/>
          </p:cNvSpPr>
          <p:nvPr/>
        </p:nvSpPr>
        <p:spPr>
          <a:xfrm xmlns:a="http://schemas.openxmlformats.org/drawingml/2006/main">
            <a:off x="6334125" y="546735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Wiring harness</a:t>
            </a:r>
          </a:p>
        </p:txBody>
      </p:sp>
      <p:sp>
        <p:nvSpPr>
          <p:cNvPr id="41" name="">
            <a:extLst xmlns:a="http://schemas.openxmlformats.org/drawingml/2006/main">
              <a:ext uri="{FF2B5EF4-FFF2-40B4-BE49-F238E27FC236}">
                <a16:creationId xmlns:a16="http://schemas.microsoft.com/office/drawing/2014/main" id="{AC38886F-7D79-4786-AD3E-EF4BD237D343}"/>
              </a:ext>
            </a:extLst>
          </p:cNvPr>
          <p:cNvSpPr>
            <a:spLocks xmlns:a="http://schemas.openxmlformats.org/drawingml/2006/main" noGrp="1"/>
          </p:cNvSpPr>
          <p:nvPr/>
        </p:nvSpPr>
        <p:spPr>
          <a:xfrm xmlns:a="http://schemas.openxmlformats.org/drawingml/2006/main">
            <a:off x="9010650" y="4219575"/>
            <a:ext cx="2533650" cy="923925"/>
          </a:xfrm>
          <a:prstGeom xmlns:a="http://schemas.openxmlformats.org/drawingml/2006/main" prst="roundRect">
            <a:avLst>
              <a:gd name="adj" fmla="val 9278"/>
            </a:avLst>
          </a:prstGeom>
          <a:solidFill xmlns:a="http://schemas.openxmlformats.org/drawingml/2006/main">
            <a:srgbClr val="FFFFFF"/>
          </a:solidFill>
          <a:ln xmlns:a="http://schemas.openxmlformats.org/drawingml/2006/main" w="9525">
            <a:solidFill>
              <a:srgbClr val="DCE3ED"/>
            </a:solidFill>
          </a:ln>
        </p:spPr>
      </p:sp>
      <p:sp>
        <p:nvSpPr>
          <p:cNvPr id="42" name="Cascade Final Assembly">
            <a:extLst xmlns:a="http://schemas.openxmlformats.org/drawingml/2006/main">
              <a:ext uri="{FF2B5EF4-FFF2-40B4-BE49-F238E27FC236}">
                <a16:creationId xmlns:a16="http://schemas.microsoft.com/office/drawing/2014/main" id="{DDC42B29-000F-4555-839B-9C0E1689D1CE}"/>
              </a:ext>
            </a:extLst>
          </p:cNvPr>
          <p:cNvSpPr>
            <a:spLocks xmlns:a="http://schemas.openxmlformats.org/drawingml/2006/main" noGrp="1"/>
          </p:cNvSpPr>
          <p:nvPr/>
        </p:nvSpPr>
        <p:spPr>
          <a:xfrm xmlns:a="http://schemas.openxmlformats.org/drawingml/2006/main">
            <a:off x="9134475" y="433387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203047"/>
                </a:solidFill>
                <a:latin typeface="Avenir Next"/>
                <a:ea typeface="Avenir Next"/>
                <a:cs typeface="Avenir Next"/>
              </a:defRPr>
            </a:pPr>
            <a:r>
              <a:rPr sz="1500" b="1">
                <a:solidFill>
                  <a:srgbClr val="203047"/>
                </a:solidFill>
                <a:latin typeface="Avenir Next"/>
                <a:ea typeface="Avenir Next"/>
                <a:cs typeface="Avenir Next"/>
              </a:rPr>
              <a:t>Cascade Final Assembly</a:t>
            </a:r>
          </a:p>
        </p:txBody>
      </p:sp>
      <p:sp>
        <p:nvSpPr>
          <p:cNvPr id="43" name="Powertrain module">
            <a:extLst xmlns:a="http://schemas.openxmlformats.org/drawingml/2006/main">
              <a:ext uri="{FF2B5EF4-FFF2-40B4-BE49-F238E27FC236}">
                <a16:creationId xmlns:a16="http://schemas.microsoft.com/office/drawing/2014/main" id="{B4F20361-2ADB-467B-8445-FCD8F0EC995B}"/>
              </a:ext>
            </a:extLst>
          </p:cNvPr>
          <p:cNvSpPr>
            <a:spLocks xmlns:a="http://schemas.openxmlformats.org/drawingml/2006/main" noGrp="1"/>
          </p:cNvSpPr>
          <p:nvPr/>
        </p:nvSpPr>
        <p:spPr>
          <a:xfrm xmlns:a="http://schemas.openxmlformats.org/drawingml/2006/main">
            <a:off x="9134475" y="4867275"/>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Powertrain module</a:t>
            </a:r>
          </a:p>
        </p:txBody>
      </p:sp>
      <p:cxnSp>
        <p:nvCxnSpPr>
          <p:cNvPr id="99" name=""/>
          <p:cNvCxnSpPr>
            <a:stCxn xmlns:a="http://schemas.openxmlformats.org/drawingml/2006/main" id="26" idx="3"/>
            <a:endCxn xmlns:a="http://schemas.openxmlformats.org/drawingml/2006/main" id="29" idx="1"/>
          </p:cNvCxnSpPr>
          <p:nvPr/>
        </p:nvCxnSpPr>
        <p:spPr>
          <a:xfrm xmlns:a="http://schemas.openxmlformats.org/drawingml/2006/main" flipV="1">
            <a:off x="3143250" y="4129088"/>
            <a:ext cx="266700" cy="552450"/>
          </a:xfrm>
          <a:prstGeom xmlns:a="http://schemas.openxmlformats.org/drawingml/2006/main" prst="straightConnector1">
            <a:avLst/>
          </a:prstGeom>
          <a:ln xmlns:a="http://schemas.openxmlformats.org/drawingml/2006/main" w="19050">
            <a:solidFill>
              <a:srgbClr val="AF8A45"/>
            </a:solidFill>
            <a:tailEnd type="triangle" w="sm" len="sm"/>
          </a:ln>
        </p:spPr>
      </p:cxnSp>
      <p:cxnSp>
        <p:nvCxnSpPr>
          <p:cNvPr id="100" name=""/>
          <p:cNvCxnSpPr>
            <a:stCxn xmlns:a="http://schemas.openxmlformats.org/drawingml/2006/main" id="26" idx="3"/>
            <a:endCxn xmlns:a="http://schemas.openxmlformats.org/drawingml/2006/main" id="32" idx="1"/>
          </p:cNvCxnSpPr>
          <p:nvPr/>
        </p:nvCxnSpPr>
        <p:spPr>
          <a:xfrm xmlns:a="http://schemas.openxmlformats.org/drawingml/2006/main">
            <a:off x="3143250" y="4681538"/>
            <a:ext cx="266700" cy="600075"/>
          </a:xfrm>
          <a:prstGeom xmlns:a="http://schemas.openxmlformats.org/drawingml/2006/main" prst="straightConnector1">
            <a:avLst/>
          </a:prstGeom>
          <a:ln xmlns:a="http://schemas.openxmlformats.org/drawingml/2006/main" w="19050">
            <a:solidFill>
              <a:srgbClr val="AF8A45"/>
            </a:solidFill>
            <a:tailEnd type="triangle" w="sm" len="sm"/>
          </a:ln>
        </p:spPr>
      </p:cxnSp>
      <p:cxnSp>
        <p:nvCxnSpPr>
          <p:cNvPr id="101" name=""/>
          <p:cNvCxnSpPr>
            <a:stCxn xmlns:a="http://schemas.openxmlformats.org/drawingml/2006/main" id="29" idx="3"/>
            <a:endCxn xmlns:a="http://schemas.openxmlformats.org/drawingml/2006/main" id="35" idx="1"/>
          </p:cNvCxnSpPr>
          <p:nvPr/>
        </p:nvCxnSpPr>
        <p:spPr>
          <a:xfrm xmlns:a="http://schemas.openxmlformats.org/drawingml/2006/main">
            <a:off x="5943600" y="4129088"/>
            <a:ext cx="266700" cy="0"/>
          </a:xfrm>
          <a:prstGeom xmlns:a="http://schemas.openxmlformats.org/drawingml/2006/main" prst="straightConnector1">
            <a:avLst/>
          </a:prstGeom>
          <a:ln xmlns:a="http://schemas.openxmlformats.org/drawingml/2006/main" w="19050">
            <a:solidFill>
              <a:srgbClr val="AF8A45"/>
            </a:solidFill>
            <a:tailEnd type="triangle" w="sm" len="sm"/>
          </a:ln>
        </p:spPr>
      </p:cxnSp>
      <p:cxnSp>
        <p:nvCxnSpPr>
          <p:cNvPr id="102" name=""/>
          <p:cNvCxnSpPr>
            <a:stCxn xmlns:a="http://schemas.openxmlformats.org/drawingml/2006/main" id="29" idx="3"/>
            <a:endCxn xmlns:a="http://schemas.openxmlformats.org/drawingml/2006/main" id="38" idx="1"/>
          </p:cNvCxnSpPr>
          <p:nvPr/>
        </p:nvCxnSpPr>
        <p:spPr>
          <a:xfrm xmlns:a="http://schemas.openxmlformats.org/drawingml/2006/main">
            <a:off x="5943600" y="4129088"/>
            <a:ext cx="266700" cy="1152525"/>
          </a:xfrm>
          <a:prstGeom xmlns:a="http://schemas.openxmlformats.org/drawingml/2006/main" prst="straightConnector1">
            <a:avLst/>
          </a:prstGeom>
          <a:ln xmlns:a="http://schemas.openxmlformats.org/drawingml/2006/main" w="19050">
            <a:solidFill>
              <a:srgbClr val="AF8A45"/>
            </a:solidFill>
            <a:tailEnd type="triangle" w="sm" len="sm"/>
          </a:ln>
        </p:spPr>
      </p:cxnSp>
      <p:cxnSp>
        <p:nvCxnSpPr>
          <p:cNvPr id="103" name=""/>
          <p:cNvCxnSpPr>
            <a:stCxn xmlns:a="http://schemas.openxmlformats.org/drawingml/2006/main" id="32" idx="3"/>
            <a:endCxn xmlns:a="http://schemas.openxmlformats.org/drawingml/2006/main" id="35" idx="1"/>
          </p:cNvCxnSpPr>
          <p:nvPr/>
        </p:nvCxnSpPr>
        <p:spPr>
          <a:xfrm xmlns:a="http://schemas.openxmlformats.org/drawingml/2006/main" flipV="1">
            <a:off x="5943600" y="4129088"/>
            <a:ext cx="266700" cy="1152525"/>
          </a:xfrm>
          <a:prstGeom xmlns:a="http://schemas.openxmlformats.org/drawingml/2006/main" prst="straightConnector1">
            <a:avLst/>
          </a:prstGeom>
          <a:ln xmlns:a="http://schemas.openxmlformats.org/drawingml/2006/main" w="19050">
            <a:solidFill>
              <a:srgbClr val="AF8A45"/>
            </a:solidFill>
            <a:tailEnd type="triangle" w="sm" len="sm"/>
          </a:ln>
        </p:spPr>
      </p:cxnSp>
      <p:cxnSp>
        <p:nvCxnSpPr>
          <p:cNvPr id="104" name=""/>
          <p:cNvCxnSpPr>
            <a:stCxn xmlns:a="http://schemas.openxmlformats.org/drawingml/2006/main" id="35" idx="3"/>
            <a:endCxn xmlns:a="http://schemas.openxmlformats.org/drawingml/2006/main" id="41" idx="1"/>
          </p:cNvCxnSpPr>
          <p:nvPr/>
        </p:nvCxnSpPr>
        <p:spPr>
          <a:xfrm xmlns:a="http://schemas.openxmlformats.org/drawingml/2006/main">
            <a:off x="8743950" y="4129088"/>
            <a:ext cx="266700" cy="552450"/>
          </a:xfrm>
          <a:prstGeom xmlns:a="http://schemas.openxmlformats.org/drawingml/2006/main" prst="straightConnector1">
            <a:avLst/>
          </a:prstGeom>
          <a:ln xmlns:a="http://schemas.openxmlformats.org/drawingml/2006/main" w="19050">
            <a:solidFill>
              <a:srgbClr val="AF8A45"/>
            </a:solidFill>
            <a:tailEnd type="triangle" w="sm" len="sm"/>
          </a:ln>
        </p:spPr>
      </p:cxnSp>
      <p:cxnSp>
        <p:nvCxnSpPr>
          <p:cNvPr id="105" name=""/>
          <p:cNvCxnSpPr>
            <a:stCxn xmlns:a="http://schemas.openxmlformats.org/drawingml/2006/main" id="38" idx="3"/>
            <a:endCxn xmlns:a="http://schemas.openxmlformats.org/drawingml/2006/main" id="41" idx="1"/>
          </p:cNvCxnSpPr>
          <p:nvPr/>
        </p:nvCxnSpPr>
        <p:spPr>
          <a:xfrm xmlns:a="http://schemas.openxmlformats.org/drawingml/2006/main" flipV="1">
            <a:off x="8743950" y="4681538"/>
            <a:ext cx="266700" cy="600075"/>
          </a:xfrm>
          <a:prstGeom xmlns:a="http://schemas.openxmlformats.org/drawingml/2006/main" prst="straightConnector1">
            <a:avLst/>
          </a:prstGeom>
          <a:ln xmlns:a="http://schemas.openxmlformats.org/drawingml/2006/main" w="19050">
            <a:solidFill>
              <a:srgbClr val="AF8A45"/>
            </a:solidFill>
            <a:tailEnd type="triangle" w="sm" len="sm"/>
          </a:ln>
        </p:spPr>
      </p:cxnSp>
      <p:sp>
        <p:nvSpPr>
          <p:cNvPr id="51" name="Direct supplier">
            <a:extLst xmlns:a="http://schemas.openxmlformats.org/drawingml/2006/main">
              <a:ext uri="{FF2B5EF4-FFF2-40B4-BE49-F238E27FC236}">
                <a16:creationId xmlns:a16="http://schemas.microsoft.com/office/drawing/2014/main" id="{7FBBED7F-1111-4CCE-85E3-16D04EBF9EA9}"/>
              </a:ext>
            </a:extLst>
          </p:cNvPr>
          <p:cNvSpPr>
            <a:spLocks xmlns:a="http://schemas.openxmlformats.org/drawingml/2006/main" noGrp="1"/>
          </p:cNvSpPr>
          <p:nvPr/>
        </p:nvSpPr>
        <p:spPr>
          <a:xfrm xmlns:a="http://schemas.openxmlformats.org/drawingml/2006/main">
            <a:off x="609600" y="3429000"/>
            <a:ext cx="2524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Direct supplier</a:t>
            </a:r>
          </a:p>
        </p:txBody>
      </p:sp>
      <p:sp>
        <p:nvSpPr>
          <p:cNvPr id="52" name="Tier 1">
            <a:extLst xmlns:a="http://schemas.openxmlformats.org/drawingml/2006/main">
              <a:ext uri="{FF2B5EF4-FFF2-40B4-BE49-F238E27FC236}">
                <a16:creationId xmlns:a16="http://schemas.microsoft.com/office/drawing/2014/main" id="{B6F2C322-C5CC-4366-9FF4-58295DE92374}"/>
              </a:ext>
            </a:extLst>
          </p:cNvPr>
          <p:cNvSpPr>
            <a:spLocks xmlns:a="http://schemas.openxmlformats.org/drawingml/2006/main" noGrp="1"/>
          </p:cNvSpPr>
          <p:nvPr/>
        </p:nvSpPr>
        <p:spPr>
          <a:xfrm xmlns:a="http://schemas.openxmlformats.org/drawingml/2006/main">
            <a:off x="3409950" y="3429000"/>
            <a:ext cx="2524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Tier 1</a:t>
            </a:r>
          </a:p>
        </p:txBody>
      </p:sp>
      <p:sp>
        <p:nvSpPr>
          <p:cNvPr id="53" name="Tier 2">
            <a:extLst xmlns:a="http://schemas.openxmlformats.org/drawingml/2006/main">
              <a:ext uri="{FF2B5EF4-FFF2-40B4-BE49-F238E27FC236}">
                <a16:creationId xmlns:a16="http://schemas.microsoft.com/office/drawing/2014/main" id="{8BF154C5-30D6-4D34-8AE5-1B7BE2346FB1}"/>
              </a:ext>
            </a:extLst>
          </p:cNvPr>
          <p:cNvSpPr>
            <a:spLocks xmlns:a="http://schemas.openxmlformats.org/drawingml/2006/main" noGrp="1"/>
          </p:cNvSpPr>
          <p:nvPr/>
        </p:nvSpPr>
        <p:spPr>
          <a:xfrm xmlns:a="http://schemas.openxmlformats.org/drawingml/2006/main">
            <a:off x="6210300" y="3429000"/>
            <a:ext cx="2524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Tier 2</a:t>
            </a:r>
          </a:p>
        </p:txBody>
      </p:sp>
      <p:sp>
        <p:nvSpPr>
          <p:cNvPr id="54" name="Final assembly">
            <a:extLst xmlns:a="http://schemas.openxmlformats.org/drawingml/2006/main">
              <a:ext uri="{FF2B5EF4-FFF2-40B4-BE49-F238E27FC236}">
                <a16:creationId xmlns:a16="http://schemas.microsoft.com/office/drawing/2014/main" id="{C114B978-8C9B-4F69-87FF-8E5C97B3CF95}"/>
              </a:ext>
            </a:extLst>
          </p:cNvPr>
          <p:cNvSpPr>
            <a:spLocks xmlns:a="http://schemas.openxmlformats.org/drawingml/2006/main" noGrp="1"/>
          </p:cNvSpPr>
          <p:nvPr/>
        </p:nvSpPr>
        <p:spPr>
          <a:xfrm xmlns:a="http://schemas.openxmlformats.org/drawingml/2006/main">
            <a:off x="9010650" y="3429000"/>
            <a:ext cx="2524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Final assembly</a:t>
            </a:r>
          </a:p>
        </p:txBody>
      </p:sp>
      <p:sp>
        <p:nvSpPr>
          <p:cNvPr id="55" name="0.57s recorded fallback run   ·   3 downstream tiers   ·   2">
            <a:extLst xmlns:a="http://schemas.openxmlformats.org/drawingml/2006/main">
              <a:ext uri="{FF2B5EF4-FFF2-40B4-BE49-F238E27FC236}">
                <a16:creationId xmlns:a16="http://schemas.microsoft.com/office/drawing/2014/main" id="{CFD2F1A6-0C8F-4CB2-A16A-A5188B406DBC}"/>
              </a:ext>
            </a:extLst>
          </p:cNvPr>
          <p:cNvSpPr>
            <a:spLocks xmlns:a="http://schemas.openxmlformats.org/drawingml/2006/main" noGrp="1"/>
          </p:cNvSpPr>
          <p:nvPr/>
        </p:nvSpPr>
        <p:spPr>
          <a:xfrm xmlns:a="http://schemas.openxmlformats.org/drawingml/2006/main">
            <a:off x="590550" y="5953125"/>
            <a:ext cx="10953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203047"/>
                </a:solidFill>
                <a:latin typeface="Avenir Next"/>
                <a:ea typeface="Avenir Next"/>
                <a:cs typeface="Avenir Next"/>
              </a:defRPr>
            </a:pPr>
            <a:r>
              <a:rPr sz="1425" b="1">
                <a:solidFill>
                  <a:srgbClr val="203047"/>
                </a:solidFill>
                <a:latin typeface="Avenir Next"/>
                <a:ea typeface="Avenir Next"/>
                <a:cs typeface="Avenir Next"/>
              </a:rPr>
              <a:t>0.57s recorded fallback run   ·   3 downstream tiers   ·   200+ automated checks   ·   0 cloud LLM calls</a:t>
            </a:r>
          </a:p>
        </p:txBody>
      </p:sp>
    </p:spTree>
    <p:extLst>
      <p:ext uri="{BB962C8B-B14F-4D97-AF65-F5344CB8AC3E}">
        <p14:creationId xmlns:p14="http://schemas.microsoft.com/office/powerpoint/2010/main" val="513432611"/>
      </p:ext>
    </p:extLst>
  </p:cSld>
</p:sld>
</file>

<file path=ppt/slides/slide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011981D-FE04-46CC-ADDC-B509E37741DE}"/>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F8268E-4832-4B03-8180-EB03150E281E}"/>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C0049B0F-79A0-4E3B-9F79-B5A543C1D57E}"/>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E50EEBB7-DF1E-49B5-8B49-FDF17C375D77}"/>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D762E51F-5FAA-43FE-90A5-6E7B135B26A1}"/>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235C087E-65D6-4BAB-8CAE-58BECD3A8B6B}"/>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08 / 13">
            <a:extLst xmlns:a="http://schemas.openxmlformats.org/drawingml/2006/main">
              <a:ext uri="{FF2B5EF4-FFF2-40B4-BE49-F238E27FC236}">
                <a16:creationId xmlns:a16="http://schemas.microsoft.com/office/drawing/2014/main" id="{16C8D91A-3B37-4F8A-ACE4-8DF35E288CE8}"/>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08 / 13</a:t>
            </a:r>
          </a:p>
        </p:txBody>
      </p:sp>
      <p:sp>
        <p:nvSpPr>
          <p:cNvPr id="8" name="A local stack with clear responsibilities">
            <a:extLst xmlns:a="http://schemas.openxmlformats.org/drawingml/2006/main">
              <a:ext uri="{FF2B5EF4-FFF2-40B4-BE49-F238E27FC236}">
                <a16:creationId xmlns:a16="http://schemas.microsoft.com/office/drawing/2014/main" id="{9EB118A2-3A71-488E-986E-46A3D93BEF68}"/>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A local stack with clear responsibilities</a:t>
            </a:r>
          </a:p>
        </p:txBody>
      </p:sp>
      <p:sp>
        <p:nvSpPr>
          <p:cNvPr id="9" name="Inference, deterministic calculations, monitoring, and appro">
            <a:extLst xmlns:a="http://schemas.openxmlformats.org/drawingml/2006/main">
              <a:ext uri="{FF2B5EF4-FFF2-40B4-BE49-F238E27FC236}">
                <a16:creationId xmlns:a16="http://schemas.microsoft.com/office/drawing/2014/main" id="{2D5490D0-F651-4D98-910C-6217B86B8F03}"/>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Inference, deterministic calculations, monitoring, and approval routing have distinct roles.</a:t>
            </a:r>
          </a:p>
        </p:txBody>
      </p:sp>
      <p:sp>
        <p:nvSpPr>
          <p:cNvPr id="10" name="GB10 is the target on-premises platform. Ports shown are loc">
            <a:extLst xmlns:a="http://schemas.openxmlformats.org/drawingml/2006/main">
              <a:ext uri="{FF2B5EF4-FFF2-40B4-BE49-F238E27FC236}">
                <a16:creationId xmlns:a16="http://schemas.microsoft.com/office/drawing/2014/main" id="{A8C808A9-2C08-40F9-9157-5D635D6BD080}"/>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GB10 is the target on-premises platform. Ports shown are local service defaults.</a:t>
            </a:r>
          </a:p>
        </p:txBody>
      </p:sp>
      <p:graphicFrame>
        <p:nvGraphicFramePr>
          <p:cNvPr id="22" name=""/>
          <p:cNvGraphicFramePr/>
          <p:nvPr/>
        </p:nvGraphicFramePr>
        <p:xfrm>
          <a:off xmlns:a="http://schemas.openxmlformats.org/drawingml/2006/main" x="590550" y="2447925"/>
          <a:ext xmlns:a="http://schemas.openxmlformats.org/drawingml/2006/main" cx="10953750" cy="3600450"/>
        </p:xfrm>
        <a:graphic xmlns:a="http://schemas.openxmlformats.org/drawingml/2006/main">
          <a:graphicData uri="http://schemas.openxmlformats.org/drawingml/2006/table">
            <a:tbl>
              <a:tblPr/>
              <a:tblGrid>
                <a:gridCol w="2952750"/>
                <a:gridCol w="6286500"/>
                <a:gridCol w="1714500"/>
              </a:tblGrid>
              <a:tr h="400050">
                <a:tc>
                  <a:txBody>
                    <a:bodyPr/>
                    <a:lstStyle/>
                    <a:p>
                      <a:r>
                        <a:rPr sz="1350" b="1">
                          <a:solidFill>
                            <a:srgbClr val="FFFFFF"/>
                          </a:solidFill>
                          <a:latin typeface="Avenir Next"/>
                          <a:ea typeface="Avenir Next"/>
                          <a:cs typeface="Avenir Next"/>
                        </a:rPr>
                        <a:t>Component</a:t>
                      </a:r>
                    </a:p>
                  </a:txBody>
                  <a:tcPr marL="133350" marR="133350" marT="38100" marB="38100" anchor="t">
                    <a:solidFill>
                      <a:srgbClr val="203047"/>
                    </a:solidFill>
                  </a:tcPr>
                </a:tc>
                <a:tc>
                  <a:txBody>
                    <a:bodyPr/>
                    <a:lstStyle/>
                    <a:p>
                      <a:r>
                        <a:rPr sz="1350" b="1">
                          <a:solidFill>
                            <a:srgbClr val="FFFFFF"/>
                          </a:solidFill>
                          <a:latin typeface="Avenir Next"/>
                          <a:ea typeface="Avenir Next"/>
                          <a:cs typeface="Avenir Next"/>
                        </a:rPr>
                        <a:t>Responsibility</a:t>
                      </a:r>
                    </a:p>
                  </a:txBody>
                  <a:tcPr marL="133350" marR="133350" marT="38100" marB="38100" anchor="t">
                    <a:solidFill>
                      <a:srgbClr val="203047"/>
                    </a:solidFill>
                  </a:tcPr>
                </a:tc>
                <a:tc>
                  <a:txBody>
                    <a:bodyPr/>
                    <a:lstStyle/>
                    <a:p>
                      <a:r>
                        <a:rPr sz="1350" b="1">
                          <a:solidFill>
                            <a:srgbClr val="FFFFFF"/>
                          </a:solidFill>
                          <a:latin typeface="Avenir Next"/>
                          <a:ea typeface="Avenir Next"/>
                          <a:cs typeface="Avenir Next"/>
                        </a:rPr>
                        <a:t>Location</a:t>
                      </a:r>
                    </a:p>
                  </a:txBody>
                  <a:tcPr marL="133350" marR="133350" marT="38100" marB="38100" anchor="t">
                    <a:solidFill>
                      <a:srgbClr val="203047"/>
                    </a:solidFill>
                  </a:tcPr>
                </a:tc>
              </a:tr>
              <a:tr h="400050">
                <a:tc>
                  <a:txBody>
                    <a:bodyPr/>
                    <a:lstStyle/>
                    <a:p>
                      <a:r>
                        <a:rPr sz="1500" b="1">
                          <a:solidFill>
                            <a:srgbClr val="203047"/>
                          </a:solidFill>
                          <a:latin typeface="Avenir Next"/>
                          <a:ea typeface="Avenir Next"/>
                          <a:cs typeface="Avenir Next"/>
                        </a:rPr>
                        <a:t>NVIDIA GB10</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On-premises compute</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Local hardware</a:t>
                      </a:r>
                    </a:p>
                  </a:txBody>
                  <a:tcPr marL="133350" marR="133350" marT="38100" marB="38100" anchor="t">
                    <a:solidFill>
                      <a:srgbClr val="FFFFFF"/>
                    </a:solidFill>
                  </a:tcPr>
                </a:tc>
              </a:tr>
              <a:tr h="400050">
                <a:tc>
                  <a:txBody>
                    <a:bodyPr/>
                    <a:lstStyle/>
                    <a:p>
                      <a:r>
                        <a:rPr sz="1500" b="1">
                          <a:solidFill>
                            <a:srgbClr val="203047"/>
                          </a:solidFill>
                          <a:latin typeface="Avenir Next"/>
                          <a:ea typeface="Avenir Next"/>
                          <a:cs typeface="Avenir Next"/>
                        </a:rPr>
                        <a:t>Qwen 3.6 35B + Ollama</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Locally served language generation</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:11434</a:t>
                      </a:r>
                    </a:p>
                  </a:txBody>
                  <a:tcPr marL="133350" marR="133350" marT="38100" marB="38100" anchor="t">
                    <a:solidFill>
                      <a:srgbClr val="FFFFFF"/>
                    </a:solidFill>
                  </a:tcPr>
                </a:tc>
              </a:tr>
              <a:tr h="400050">
                <a:tc>
                  <a:txBody>
                    <a:bodyPr/>
                    <a:lstStyle/>
                    <a:p>
                      <a:r>
                        <a:rPr sz="1500" b="1">
                          <a:solidFill>
                            <a:srgbClr val="203047"/>
                          </a:solidFill>
                          <a:latin typeface="Avenir Next"/>
                          <a:ea typeface="Avenir Next"/>
                          <a:cs typeface="Avenir Next"/>
                        </a:rPr>
                        <a:t>MongoDB</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Supplier records, dependencies, events</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:27017</a:t>
                      </a:r>
                    </a:p>
                  </a:txBody>
                  <a:tcPr marL="133350" marR="133350" marT="38100" marB="38100" anchor="t">
                    <a:solidFill>
                      <a:srgbClr val="FFFFFF"/>
                    </a:solidFill>
                  </a:tcPr>
                </a:tc>
              </a:tr>
              <a:tr h="400050">
                <a:tc>
                  <a:txBody>
                    <a:bodyPr/>
                    <a:lstStyle/>
                    <a:p>
                      <a:r>
                        <a:rPr sz="1500" b="1">
                          <a:solidFill>
                            <a:srgbClr val="203047"/>
                          </a:solidFill>
                          <a:latin typeface="Avenir Next"/>
                          <a:ea typeface="Avenir Next"/>
                          <a:cs typeface="Avenir Next"/>
                        </a:rPr>
                        <a:t>FastAPI + uvicorn</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Records, analysis, drafts, monitor status</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:8000</a:t>
                      </a:r>
                    </a:p>
                  </a:txBody>
                  <a:tcPr marL="133350" marR="133350" marT="38100" marB="38100" anchor="t">
                    <a:solidFill>
                      <a:srgbClr val="FFFFFF"/>
                    </a:solidFill>
                  </a:tcPr>
                </a:tc>
              </a:tr>
              <a:tr h="400050">
                <a:tc>
                  <a:txBody>
                    <a:bodyPr/>
                    <a:lstStyle/>
                    <a:p>
                      <a:r>
                        <a:rPr sz="1500" b="1">
                          <a:solidFill>
                            <a:srgbClr val="203047"/>
                          </a:solidFill>
                          <a:latin typeface="Avenir Next"/>
                          <a:ea typeface="Avenir Next"/>
                          <a:cs typeface="Avenir Next"/>
                        </a:rPr>
                        <a:t>React + Vite</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Operations workspace and option comparison</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Browser / :5173</a:t>
                      </a:r>
                    </a:p>
                  </a:txBody>
                  <a:tcPr marL="133350" marR="133350" marT="38100" marB="38100" anchor="t">
                    <a:solidFill>
                      <a:srgbClr val="FFFFFF"/>
                    </a:solidFill>
                  </a:tcPr>
                </a:tc>
              </a:tr>
              <a:tr h="400050">
                <a:tc>
                  <a:txBody>
                    <a:bodyPr/>
                    <a:lstStyle/>
                    <a:p>
                      <a:r>
                        <a:rPr sz="1500" b="1">
                          <a:solidFill>
                            <a:srgbClr val="203047"/>
                          </a:solidFill>
                          <a:latin typeface="Avenir Next"/>
                          <a:ea typeface="Avenir Next"/>
                          <a:cs typeface="Avenir Next"/>
                        </a:rPr>
                        <a:t>Deterministic analysis</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Risk propagation and feasible options</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Local code</a:t>
                      </a:r>
                    </a:p>
                  </a:txBody>
                  <a:tcPr marL="133350" marR="133350" marT="38100" marB="38100" anchor="t">
                    <a:solidFill>
                      <a:srgbClr val="FFFFFF"/>
                    </a:solidFill>
                  </a:tcPr>
                </a:tc>
              </a:tr>
              <a:tr h="400050">
                <a:tc>
                  <a:txBody>
                    <a:bodyPr/>
                    <a:lstStyle/>
                    <a:p>
                      <a:r>
                        <a:rPr sz="1500" b="1">
                          <a:solidFill>
                            <a:srgbClr val="203047"/>
                          </a:solidFill>
                          <a:latin typeface="Avenir Next"/>
                          <a:ea typeface="Avenir Next"/>
                          <a:cs typeface="Avenir Next"/>
                        </a:rPr>
                        <a:t>monitor.py</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Unattended scans, thresholds, activity</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Backend loop</a:t>
                      </a:r>
                    </a:p>
                  </a:txBody>
                  <a:tcPr marL="133350" marR="133350" marT="38100" marB="38100" anchor="t">
                    <a:solidFill>
                      <a:srgbClr val="FFFFFF"/>
                    </a:solidFill>
                  </a:tcPr>
                </a:tc>
              </a:tr>
              <a:tr h="400050">
                <a:tc>
                  <a:txBody>
                    <a:bodyPr/>
                    <a:lstStyle/>
                    <a:p>
                      <a:r>
                        <a:rPr sz="1500" b="1">
                          <a:solidFill>
                            <a:srgbClr val="203047"/>
                          </a:solidFill>
                          <a:latin typeface="Avenir Next"/>
                          <a:ea typeface="Avenir Next"/>
                          <a:cs typeface="Avenir Next"/>
                        </a:rPr>
                        <a:t>narrate.py + OpenClaw</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Wording, fallbacks, optional review routing</a:t>
                      </a:r>
                    </a:p>
                  </a:txBody>
                  <a:tcPr marL="133350" marR="133350" marT="38100" marB="38100" anchor="t">
                    <a:solidFill>
                      <a:srgbClr val="FFFFFF"/>
                    </a:solidFill>
                  </a:tcPr>
                </a:tc>
                <a:tc>
                  <a:txBody>
                    <a:bodyPr/>
                    <a:lstStyle/>
                    <a:p>
                      <a:r>
                        <a:rPr sz="1500" b="0">
                          <a:solidFill>
                            <a:srgbClr val="203047"/>
                          </a:solidFill>
                          <a:latin typeface="Avenir Next"/>
                          <a:ea typeface="Avenir Next"/>
                          <a:cs typeface="Avenir Next"/>
                        </a:rPr>
                        <a:t>Local / :18789</a:t>
                      </a:r>
                    </a:p>
                  </a:txBody>
                  <a:tcPr marL="133350" marR="133350" marT="38100" marB="38100" anchor="t">
                    <a:solidFill>
                      <a:srgbClr val="FFFFFF"/>
                    </a:solidFill>
                  </a:tcPr>
                </a:tc>
              </a:tr>
            </a:tbl>
          </a:graphicData>
        </a:graphic>
      </p:graphicFrame>
    </p:spTree>
    <p:extLst>
      <p:ext uri="{BB962C8B-B14F-4D97-AF65-F5344CB8AC3E}">
        <p14:creationId xmlns:p14="http://schemas.microsoft.com/office/powerpoint/2010/main" val="1648195332"/>
      </p:ext>
    </p:extLst>
  </p:cSld>
</p:sld>
</file>

<file path=ppt/slides/slide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7F64300-7247-4E5E-A891-FE7132A6CA8D}"/>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DEBCD4-91E4-419B-997A-E2FB4E582498}"/>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45C35DA8-8BA6-4271-A09F-9C9671A08C79}"/>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2136064F-810E-43F5-98E7-FB9BD21A747A}"/>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F2CEAB6E-4465-47A3-B4D7-22A157BC2F00}"/>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7755D187-65CB-4D02-A9F5-990992459443}"/>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09 / 13">
            <a:extLst xmlns:a="http://schemas.openxmlformats.org/drawingml/2006/main">
              <a:ext uri="{FF2B5EF4-FFF2-40B4-BE49-F238E27FC236}">
                <a16:creationId xmlns:a16="http://schemas.microsoft.com/office/drawing/2014/main" id="{EBC40929-2DA8-420D-B3E3-EC923E8505B5}"/>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09 / 13</a:t>
            </a:r>
          </a:p>
        </p:txBody>
      </p:sp>
      <p:sp>
        <p:nvSpPr>
          <p:cNvPr id="8" name="OpenClaw turns context into a reviewable response">
            <a:extLst xmlns:a="http://schemas.openxmlformats.org/drawingml/2006/main">
              <a:ext uri="{FF2B5EF4-FFF2-40B4-BE49-F238E27FC236}">
                <a16:creationId xmlns:a16="http://schemas.microsoft.com/office/drawing/2014/main" id="{F3F4FF4A-5CD7-47CA-A3CB-6BCBAE58653C}"/>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OpenClaw turns context into a reviewable response</a:t>
            </a:r>
          </a:p>
        </p:txBody>
      </p:sp>
      <p:sp>
        <p:nvSpPr>
          <p:cNvPr id="9" name="Local reasoning connects business constraints to proposed ac">
            <a:extLst xmlns:a="http://schemas.openxmlformats.org/drawingml/2006/main">
              <a:ext uri="{FF2B5EF4-FFF2-40B4-BE49-F238E27FC236}">
                <a16:creationId xmlns:a16="http://schemas.microsoft.com/office/drawing/2014/main" id="{D01644EF-90D4-471D-9609-DBC5FAE51C74}"/>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Local reasoning connects business constraints to proposed actions.</a:t>
            </a:r>
          </a:p>
        </p:txBody>
      </p:sp>
      <p:sp>
        <p:nvSpPr>
          <p:cNvPr id="10" name="Reassess as inventory, schedules, quality, and receipts chan">
            <a:extLst xmlns:a="http://schemas.openxmlformats.org/drawingml/2006/main">
              <a:ext uri="{FF2B5EF4-FFF2-40B4-BE49-F238E27FC236}">
                <a16:creationId xmlns:a16="http://schemas.microsoft.com/office/drawing/2014/main" id="{CB147106-DF58-40A5-A261-EF433860A110}"/>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Reassess as inventory, schedules, quality, and receipts change.</a:t>
            </a:r>
          </a:p>
        </p:txBody>
      </p:sp>
      <p:sp>
        <p:nvSpPr>
          <p:cNvPr id="11" name="Context and reasoning">
            <a:extLst xmlns:a="http://schemas.openxmlformats.org/drawingml/2006/main">
              <a:ext uri="{FF2B5EF4-FFF2-40B4-BE49-F238E27FC236}">
                <a16:creationId xmlns:a16="http://schemas.microsoft.com/office/drawing/2014/main" id="{49589858-37A7-45C4-ABA3-E018ADCCAE72}"/>
              </a:ext>
            </a:extLst>
          </p:cNvPr>
          <p:cNvSpPr>
            <a:spLocks xmlns:a="http://schemas.openxmlformats.org/drawingml/2006/main" noGrp="1"/>
          </p:cNvSpPr>
          <p:nvPr/>
        </p:nvSpPr>
        <p:spPr>
          <a:xfrm xmlns:a="http://schemas.openxmlformats.org/drawingml/2006/main">
            <a:off x="590550" y="27813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Context and reasoning</a:t>
            </a:r>
          </a:p>
        </p:txBody>
      </p:sp>
      <p:sp>
        <p:nvSpPr>
          <p:cNvPr id="12" name="Synthesize supplier updates, inventory, schedules, order pri">
            <a:extLst xmlns:a="http://schemas.openxmlformats.org/drawingml/2006/main">
              <a:ext uri="{FF2B5EF4-FFF2-40B4-BE49-F238E27FC236}">
                <a16:creationId xmlns:a16="http://schemas.microsoft.com/office/drawing/2014/main" id="{BBDC85AE-AF4A-4FA4-A409-8EFFF248ACA2}"/>
              </a:ext>
            </a:extLst>
          </p:cNvPr>
          <p:cNvSpPr>
            <a:spLocks xmlns:a="http://schemas.openxmlformats.org/drawingml/2006/main" noGrp="1"/>
          </p:cNvSpPr>
          <p:nvPr/>
        </p:nvSpPr>
        <p:spPr>
          <a:xfrm xmlns:a="http://schemas.openxmlformats.org/drawingml/2006/main">
            <a:off x="590550" y="3314700"/>
            <a:ext cx="4953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96779"/>
                </a:solidFill>
                <a:latin typeface="Avenir Next"/>
                <a:ea typeface="Avenir Next"/>
                <a:cs typeface="Avenir Next"/>
              </a:defRPr>
            </a:pPr>
            <a:r>
              <a:rPr sz="1800" b="0">
                <a:solidFill>
                  <a:srgbClr val="596779"/>
                </a:solidFill>
                <a:latin typeface="Avenir Next"/>
                <a:ea typeface="Avenir Next"/>
                <a:cs typeface="Avenir Next"/>
              </a:rPr>
              <a:t>Synthesize supplier updates, inventory, schedules, order priorities, and quality rules.</a:t>
            </a:r>
          </a:p>
          <a:p xmlns:a="http://schemas.openxmlformats.org/drawingml/2006/main">
            <a:r>
              <a:t/>
            </a:r>
          </a:p>
          <a:p xmlns:a="http://schemas.openxmlformats.org/drawingml/2006/main">
            <a:pPr algn="l">
              <a:defRPr sz="1800" b="0">
                <a:solidFill>
                  <a:srgbClr val="596779"/>
                </a:solidFill>
                <a:latin typeface="Avenir Next"/>
                <a:ea typeface="Avenir Next"/>
                <a:cs typeface="Avenir Next"/>
              </a:defRPr>
            </a:pPr>
            <a:r>
              <a:rPr sz="1800" b="0">
                <a:solidFill>
                  <a:srgbClr val="596779"/>
                </a:solidFill>
                <a:latin typeface="Avenir Next"/>
                <a:ea typeface="Avenir Next"/>
                <a:cs typeface="Avenir Next"/>
              </a:rPr>
              <a:t>Explain why the selected option fits resources and deadlines.</a:t>
            </a:r>
          </a:p>
        </p:txBody>
      </p:sp>
      <p:sp>
        <p:nvSpPr>
          <p:cNvPr id="13" name="Review and routing">
            <a:extLst xmlns:a="http://schemas.openxmlformats.org/drawingml/2006/main">
              <a:ext uri="{FF2B5EF4-FFF2-40B4-BE49-F238E27FC236}">
                <a16:creationId xmlns:a16="http://schemas.microsoft.com/office/drawing/2014/main" id="{6072FE94-1C45-48DE-97AF-DEF8A5C70725}"/>
              </a:ext>
            </a:extLst>
          </p:cNvPr>
          <p:cNvSpPr>
            <a:spLocks xmlns:a="http://schemas.openxmlformats.org/drawingml/2006/main" noGrp="1"/>
          </p:cNvSpPr>
          <p:nvPr/>
        </p:nvSpPr>
        <p:spPr>
          <a:xfrm xmlns:a="http://schemas.openxmlformats.org/drawingml/2006/main">
            <a:off x="6429375" y="278130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Review and routing</a:t>
            </a:r>
          </a:p>
        </p:txBody>
      </p:sp>
      <p:sp>
        <p:nvSpPr>
          <p:cNvPr id="14" name="Package quantified impact, accountable owners, and timed act">
            <a:extLst xmlns:a="http://schemas.openxmlformats.org/drawingml/2006/main">
              <a:ext uri="{FF2B5EF4-FFF2-40B4-BE49-F238E27FC236}">
                <a16:creationId xmlns:a16="http://schemas.microsoft.com/office/drawing/2014/main" id="{C66331C5-D120-4A65-9A79-74A78C1BFB1A}"/>
              </a:ext>
            </a:extLst>
          </p:cNvPr>
          <p:cNvSpPr>
            <a:spLocks xmlns:a="http://schemas.openxmlformats.org/drawingml/2006/main" noGrp="1"/>
          </p:cNvSpPr>
          <p:nvPr/>
        </p:nvSpPr>
        <p:spPr>
          <a:xfrm xmlns:a="http://schemas.openxmlformats.org/drawingml/2006/main">
            <a:off x="6429375" y="3314700"/>
            <a:ext cx="4953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96779"/>
                </a:solidFill>
                <a:latin typeface="Avenir Next"/>
                <a:ea typeface="Avenir Next"/>
                <a:cs typeface="Avenir Next"/>
              </a:defRPr>
            </a:pPr>
            <a:r>
              <a:rPr sz="1800" b="0">
                <a:solidFill>
                  <a:srgbClr val="596779"/>
                </a:solidFill>
                <a:latin typeface="Avenir Next"/>
                <a:ea typeface="Avenir Next"/>
                <a:cs typeface="Avenir Next"/>
              </a:rPr>
              <a:t>Package quantified impact, accountable owners, and timed actions for the responsible person.</a:t>
            </a:r>
          </a:p>
          <a:p xmlns:a="http://schemas.openxmlformats.org/drawingml/2006/main">
            <a:r>
              <a:t/>
            </a:r>
          </a:p>
          <a:p xmlns:a="http://schemas.openxmlformats.org/drawingml/2006/main">
            <a:pPr algn="l">
              <a:defRPr sz="1800" b="0">
                <a:solidFill>
                  <a:srgbClr val="596779"/>
                </a:solidFill>
                <a:latin typeface="Avenir Next"/>
                <a:ea typeface="Avenir Next"/>
                <a:cs typeface="Avenir Next"/>
              </a:defRPr>
            </a:pPr>
            <a:r>
              <a:rPr sz="1800" b="0">
                <a:solidFill>
                  <a:srgbClr val="596779"/>
                </a:solidFill>
                <a:latin typeface="Avenir Next"/>
                <a:ea typeface="Avenir Next"/>
                <a:cs typeface="Avenir Next"/>
              </a:rPr>
              <a:t>Keep decisions and delivery status in the activity trail.</a:t>
            </a:r>
          </a:p>
        </p:txBody>
      </p:sp>
      <p:sp>
        <p:nvSpPr>
          <p:cNvPr id="15" name="">
            <a:extLst xmlns:a="http://schemas.openxmlformats.org/drawingml/2006/main">
              <a:ext uri="{FF2B5EF4-FFF2-40B4-BE49-F238E27FC236}">
                <a16:creationId xmlns:a16="http://schemas.microsoft.com/office/drawing/2014/main" id="{3A65B744-779A-4931-9E3E-34B179D8F643}"/>
              </a:ext>
            </a:extLst>
          </p:cNvPr>
          <p:cNvSpPr>
            <a:spLocks xmlns:a="http://schemas.openxmlformats.org/drawingml/2006/main" noGrp="1"/>
          </p:cNvSpPr>
          <p:nvPr/>
        </p:nvSpPr>
        <p:spPr>
          <a:xfrm xmlns:a="http://schemas.openxmlformats.org/drawingml/2006/main">
            <a:off x="590550" y="5219700"/>
            <a:ext cx="3562350" cy="819150"/>
          </a:xfrm>
          <a:prstGeom xmlns:a="http://schemas.openxmlformats.org/drawingml/2006/main" prst="roundRect">
            <a:avLst>
              <a:gd name="adj" fmla="val 10465"/>
            </a:avLst>
          </a:prstGeom>
          <a:solidFill xmlns:a="http://schemas.openxmlformats.org/drawingml/2006/main">
            <a:srgbClr val="203047"/>
          </a:solidFill>
          <a:ln xmlns:a="http://schemas.openxmlformats.org/drawingml/2006/main" w="0">
            <a:noFill/>
          </a:ln>
        </p:spPr>
      </p:sp>
      <p:sp>
        <p:nvSpPr>
          <p:cNvPr id="16" name="Gather context">
            <a:extLst xmlns:a="http://schemas.openxmlformats.org/drawingml/2006/main">
              <a:ext uri="{FF2B5EF4-FFF2-40B4-BE49-F238E27FC236}">
                <a16:creationId xmlns:a16="http://schemas.microsoft.com/office/drawing/2014/main" id="{A70DF2DA-C0A4-48C2-911A-DE1CEF73D3A7}"/>
              </a:ext>
            </a:extLst>
          </p:cNvPr>
          <p:cNvSpPr>
            <a:spLocks xmlns:a="http://schemas.openxmlformats.org/drawingml/2006/main" noGrp="1"/>
          </p:cNvSpPr>
          <p:nvPr/>
        </p:nvSpPr>
        <p:spPr>
          <a:xfrm xmlns:a="http://schemas.openxmlformats.org/drawingml/2006/main">
            <a:off x="733425" y="5343525"/>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Gather context</a:t>
            </a:r>
          </a:p>
        </p:txBody>
      </p:sp>
      <p:sp>
        <p:nvSpPr>
          <p:cNvPr id="17" name="Relevant business records">
            <a:extLst xmlns:a="http://schemas.openxmlformats.org/drawingml/2006/main">
              <a:ext uri="{FF2B5EF4-FFF2-40B4-BE49-F238E27FC236}">
                <a16:creationId xmlns:a16="http://schemas.microsoft.com/office/drawing/2014/main" id="{F0DE38D2-1510-4FD5-8222-04AC6D47315A}"/>
              </a:ext>
            </a:extLst>
          </p:cNvPr>
          <p:cNvSpPr>
            <a:spLocks xmlns:a="http://schemas.openxmlformats.org/drawingml/2006/main" noGrp="1"/>
          </p:cNvSpPr>
          <p:nvPr/>
        </p:nvSpPr>
        <p:spPr>
          <a:xfrm xmlns:a="http://schemas.openxmlformats.org/drawingml/2006/main">
            <a:off x="733425" y="5715000"/>
            <a:ext cx="327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Relevant business records</a:t>
            </a:r>
          </a:p>
        </p:txBody>
      </p:sp>
      <p:sp>
        <p:nvSpPr>
          <p:cNvPr id="18" name="">
            <a:extLst xmlns:a="http://schemas.openxmlformats.org/drawingml/2006/main">
              <a:ext uri="{FF2B5EF4-FFF2-40B4-BE49-F238E27FC236}">
                <a16:creationId xmlns:a16="http://schemas.microsoft.com/office/drawing/2014/main" id="{25072617-D22D-467B-917E-91E4EEC2DCA4}"/>
              </a:ext>
            </a:extLst>
          </p:cNvPr>
          <p:cNvSpPr>
            <a:spLocks xmlns:a="http://schemas.openxmlformats.org/drawingml/2006/main" noGrp="1"/>
          </p:cNvSpPr>
          <p:nvPr/>
        </p:nvSpPr>
        <p:spPr>
          <a:xfrm xmlns:a="http://schemas.openxmlformats.org/drawingml/2006/main">
            <a:off x="4286250" y="5219700"/>
            <a:ext cx="3562350" cy="819150"/>
          </a:xfrm>
          <a:prstGeom xmlns:a="http://schemas.openxmlformats.org/drawingml/2006/main" prst="roundRect">
            <a:avLst>
              <a:gd name="adj" fmla="val 10465"/>
            </a:avLst>
          </a:prstGeom>
          <a:solidFill xmlns:a="http://schemas.openxmlformats.org/drawingml/2006/main">
            <a:srgbClr val="203047"/>
          </a:solidFill>
          <a:ln xmlns:a="http://schemas.openxmlformats.org/drawingml/2006/main" w="0">
            <a:noFill/>
          </a:ln>
        </p:spPr>
      </p:sp>
      <p:sp>
        <p:nvSpPr>
          <p:cNvPr id="19" name="Compare options">
            <a:extLst xmlns:a="http://schemas.openxmlformats.org/drawingml/2006/main">
              <a:ext uri="{FF2B5EF4-FFF2-40B4-BE49-F238E27FC236}">
                <a16:creationId xmlns:a16="http://schemas.microsoft.com/office/drawing/2014/main" id="{DD1CDFBA-B9F8-46DA-9862-4E7DDE41CB11}"/>
              </a:ext>
            </a:extLst>
          </p:cNvPr>
          <p:cNvSpPr>
            <a:spLocks xmlns:a="http://schemas.openxmlformats.org/drawingml/2006/main" noGrp="1"/>
          </p:cNvSpPr>
          <p:nvPr/>
        </p:nvSpPr>
        <p:spPr>
          <a:xfrm xmlns:a="http://schemas.openxmlformats.org/drawingml/2006/main">
            <a:off x="4429125" y="5343525"/>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Compare options</a:t>
            </a:r>
          </a:p>
        </p:txBody>
      </p:sp>
      <p:sp>
        <p:nvSpPr>
          <p:cNvPr id="20" name="Resources and deadlines">
            <a:extLst xmlns:a="http://schemas.openxmlformats.org/drawingml/2006/main">
              <a:ext uri="{FF2B5EF4-FFF2-40B4-BE49-F238E27FC236}">
                <a16:creationId xmlns:a16="http://schemas.microsoft.com/office/drawing/2014/main" id="{BC898F51-D590-4EB3-B8E7-C1DC98EE02AB}"/>
              </a:ext>
            </a:extLst>
          </p:cNvPr>
          <p:cNvSpPr>
            <a:spLocks xmlns:a="http://schemas.openxmlformats.org/drawingml/2006/main" noGrp="1"/>
          </p:cNvSpPr>
          <p:nvPr/>
        </p:nvSpPr>
        <p:spPr>
          <a:xfrm xmlns:a="http://schemas.openxmlformats.org/drawingml/2006/main">
            <a:off x="4429125" y="5715000"/>
            <a:ext cx="327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Resources and deadlines</a:t>
            </a:r>
          </a:p>
        </p:txBody>
      </p:sp>
      <p:cxnSp>
        <p:nvCxnSpPr>
          <p:cNvPr id="46" name=""/>
          <p:cNvCxnSpPr>
            <a:stCxn xmlns:a="http://schemas.openxmlformats.org/drawingml/2006/main" id="15" idx="3"/>
            <a:endCxn xmlns:a="http://schemas.openxmlformats.org/drawingml/2006/main" id="18" idx="1"/>
          </p:cNvCxnSpPr>
          <p:nvPr/>
        </p:nvCxnSpPr>
        <p:spPr>
          <a:xfrm xmlns:a="http://schemas.openxmlformats.org/drawingml/2006/main">
            <a:off x="4152900" y="5629275"/>
            <a:ext cx="133350" cy="0"/>
          </a:xfrm>
          <a:prstGeom xmlns:a="http://schemas.openxmlformats.org/drawingml/2006/main" prst="straightConnector1">
            <a:avLst/>
          </a:prstGeom>
          <a:ln xmlns:a="http://schemas.openxmlformats.org/drawingml/2006/main" w="19050">
            <a:solidFill>
              <a:srgbClr val="71839C"/>
            </a:solidFill>
            <a:tailEnd type="triangle" w="sm" len="sm"/>
          </a:ln>
        </p:spPr>
      </p:cxnSp>
      <p:sp>
        <p:nvSpPr>
          <p:cNvPr id="22" name="">
            <a:extLst xmlns:a="http://schemas.openxmlformats.org/drawingml/2006/main">
              <a:ext uri="{FF2B5EF4-FFF2-40B4-BE49-F238E27FC236}">
                <a16:creationId xmlns:a16="http://schemas.microsoft.com/office/drawing/2014/main" id="{4E208A3D-6767-413B-8124-F2D01B5988F4}"/>
              </a:ext>
            </a:extLst>
          </p:cNvPr>
          <p:cNvSpPr>
            <a:spLocks xmlns:a="http://schemas.openxmlformats.org/drawingml/2006/main" noGrp="1"/>
          </p:cNvSpPr>
          <p:nvPr/>
        </p:nvSpPr>
        <p:spPr>
          <a:xfrm xmlns:a="http://schemas.openxmlformats.org/drawingml/2006/main">
            <a:off x="7981950" y="5219700"/>
            <a:ext cx="3562350" cy="819150"/>
          </a:xfrm>
          <a:prstGeom xmlns:a="http://schemas.openxmlformats.org/drawingml/2006/main" prst="roundRect">
            <a:avLst>
              <a:gd name="adj" fmla="val 10465"/>
            </a:avLst>
          </a:prstGeom>
          <a:solidFill xmlns:a="http://schemas.openxmlformats.org/drawingml/2006/main">
            <a:srgbClr val="203047"/>
          </a:solidFill>
          <a:ln xmlns:a="http://schemas.openxmlformats.org/drawingml/2006/main" w="0">
            <a:noFill/>
          </a:ln>
        </p:spPr>
      </p:sp>
      <p:sp>
        <p:nvSpPr>
          <p:cNvPr id="23" name="Prepare response">
            <a:extLst xmlns:a="http://schemas.openxmlformats.org/drawingml/2006/main">
              <a:ext uri="{FF2B5EF4-FFF2-40B4-BE49-F238E27FC236}">
                <a16:creationId xmlns:a16="http://schemas.microsoft.com/office/drawing/2014/main" id="{8D117580-22DB-4605-9CA8-D36661FF1186}"/>
              </a:ext>
            </a:extLst>
          </p:cNvPr>
          <p:cNvSpPr>
            <a:spLocks xmlns:a="http://schemas.openxmlformats.org/drawingml/2006/main" noGrp="1"/>
          </p:cNvSpPr>
          <p:nvPr/>
        </p:nvSpPr>
        <p:spPr>
          <a:xfrm xmlns:a="http://schemas.openxmlformats.org/drawingml/2006/main">
            <a:off x="8124825" y="5343525"/>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FFFFFF"/>
                </a:solidFill>
                <a:latin typeface="Avenir Next"/>
                <a:ea typeface="Avenir Next"/>
                <a:cs typeface="Avenir Next"/>
              </a:defRPr>
            </a:pPr>
            <a:r>
              <a:rPr sz="1650" b="1">
                <a:solidFill>
                  <a:srgbClr val="FFFFFF"/>
                </a:solidFill>
                <a:latin typeface="Avenir Next"/>
                <a:ea typeface="Avenir Next"/>
                <a:cs typeface="Avenir Next"/>
              </a:rPr>
              <a:t>Prepare response</a:t>
            </a:r>
          </a:p>
        </p:txBody>
      </p:sp>
      <p:sp>
        <p:nvSpPr>
          <p:cNvPr id="24" name="Impact, owners, timing">
            <a:extLst xmlns:a="http://schemas.openxmlformats.org/drawingml/2006/main">
              <a:ext uri="{FF2B5EF4-FFF2-40B4-BE49-F238E27FC236}">
                <a16:creationId xmlns:a16="http://schemas.microsoft.com/office/drawing/2014/main" id="{B9F89DC0-354E-4DD9-9BA2-7275415B6EA6}"/>
              </a:ext>
            </a:extLst>
          </p:cNvPr>
          <p:cNvSpPr>
            <a:spLocks xmlns:a="http://schemas.openxmlformats.org/drawingml/2006/main" noGrp="1"/>
          </p:cNvSpPr>
          <p:nvPr/>
        </p:nvSpPr>
        <p:spPr>
          <a:xfrm xmlns:a="http://schemas.openxmlformats.org/drawingml/2006/main">
            <a:off x="8124825" y="5715000"/>
            <a:ext cx="327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C5D5EB"/>
                </a:solidFill>
                <a:latin typeface="Avenir Next"/>
                <a:ea typeface="Avenir Next"/>
                <a:cs typeface="Avenir Next"/>
              </a:defRPr>
            </a:pPr>
            <a:r>
              <a:rPr sz="1275" b="0">
                <a:solidFill>
                  <a:srgbClr val="C5D5EB"/>
                </a:solidFill>
                <a:latin typeface="Avenir Next"/>
                <a:ea typeface="Avenir Next"/>
                <a:cs typeface="Avenir Next"/>
              </a:rPr>
              <a:t>Impact, owners, timing</a:t>
            </a:r>
          </a:p>
        </p:txBody>
      </p:sp>
      <p:cxnSp>
        <p:nvCxnSpPr>
          <p:cNvPr id="50" name=""/>
          <p:cNvCxnSpPr>
            <a:stCxn xmlns:a="http://schemas.openxmlformats.org/drawingml/2006/main" id="18" idx="3"/>
            <a:endCxn xmlns:a="http://schemas.openxmlformats.org/drawingml/2006/main" id="22" idx="1"/>
          </p:cNvCxnSpPr>
          <p:nvPr/>
        </p:nvCxnSpPr>
        <p:spPr>
          <a:xfrm xmlns:a="http://schemas.openxmlformats.org/drawingml/2006/main">
            <a:off x="7848600" y="5629275"/>
            <a:ext cx="133350" cy="0"/>
          </a:xfrm>
          <a:prstGeom xmlns:a="http://schemas.openxmlformats.org/drawingml/2006/main" prst="straightConnector1">
            <a:avLst/>
          </a:prstGeom>
          <a:ln xmlns:a="http://schemas.openxmlformats.org/drawingml/2006/main" w="19050">
            <a:solidFill>
              <a:srgbClr val="71839C"/>
            </a:solidFill>
            <a:tailEnd type="triangle" w="sm" len="sm"/>
          </a:ln>
        </p:spPr>
      </p:cxnSp>
    </p:spTree>
    <p:extLst>
      <p:ext uri="{BB962C8B-B14F-4D97-AF65-F5344CB8AC3E}">
        <p14:creationId xmlns:p14="http://schemas.microsoft.com/office/powerpoint/2010/main" val="541172665"/>
      </p:ext>
    </p:extLst>
  </p:cSld>
</p:sld>
</file>

<file path=ppt/slides/slide1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6E530FA-72D8-4764-A09B-132EA7F712D5}"/>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5AC0E1-D7CA-463B-9CD4-F25450DAD722}"/>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FDE6EDCC-7A65-4B62-AAD3-A6F5C5FE639C}"/>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11E3EE35-49B3-4FE2-9E7F-4C9617395146}"/>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2178B914-866B-4CF4-A2ED-1D1EE2742156}"/>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C8929AA3-B330-4B61-B7CC-11D5C2547EC9}"/>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10 / 13">
            <a:extLst xmlns:a="http://schemas.openxmlformats.org/drawingml/2006/main">
              <a:ext uri="{FF2B5EF4-FFF2-40B4-BE49-F238E27FC236}">
                <a16:creationId xmlns:a16="http://schemas.microsoft.com/office/drawing/2014/main" id="{B006848C-4D17-4C05-BBFD-1EAE855B6678}"/>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10 / 13</a:t>
            </a:r>
          </a:p>
        </p:txBody>
      </p:sp>
      <p:sp>
        <p:nvSpPr>
          <p:cNvPr id="8" name="Shorten the distance from the event to the decision">
            <a:extLst xmlns:a="http://schemas.openxmlformats.org/drawingml/2006/main">
              <a:ext uri="{FF2B5EF4-FFF2-40B4-BE49-F238E27FC236}">
                <a16:creationId xmlns:a16="http://schemas.microsoft.com/office/drawing/2014/main" id="{7E861E1E-B7D7-40F9-AA50-7AB9D32692C9}"/>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Shorten the distance from the event to the decision</a:t>
            </a:r>
          </a:p>
        </p:txBody>
      </p:sp>
      <p:sp>
        <p:nvSpPr>
          <p:cNvPr id="9" name="An illustrative large-plant scenario: reducing decision dela">
            <a:extLst xmlns:a="http://schemas.openxmlformats.org/drawingml/2006/main">
              <a:ext uri="{FF2B5EF4-FFF2-40B4-BE49-F238E27FC236}">
                <a16:creationId xmlns:a16="http://schemas.microsoft.com/office/drawing/2014/main" id="{C4ED0755-33AC-4CBD-A350-2F01D17EB1E3}"/>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An illustrative large-plant scenario: reducing decision delay while the root cause is repaired.</a:t>
            </a:r>
          </a:p>
        </p:txBody>
      </p:sp>
      <p:sp>
        <p:nvSpPr>
          <p:cNvPr id="10" name="Assumed time reduction, not measured Markov savings. The rat">
            <a:extLst xmlns:a="http://schemas.openxmlformats.org/drawingml/2006/main">
              <a:ext uri="{FF2B5EF4-FFF2-40B4-BE49-F238E27FC236}">
                <a16:creationId xmlns:a16="http://schemas.microsoft.com/office/drawing/2014/main" id="{87FF17FF-5E4B-4040-A145-4ACED7B86EE3}"/>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Assumed time reduction, not measured Markov savings. The rate is for a large automotive plant.</a:t>
            </a:r>
          </a:p>
        </p:txBody>
      </p:sp>
      <p:graphicFrame>
        <p:nvGraphicFramePr>
          <p:cNvPr id="24" name=""/>
          <p:cNvGraphicFramePr/>
          <p:nvPr/>
        </p:nvGraphicFramePr>
        <p:xfrm>
          <a:off xmlns:a="http://schemas.openxmlformats.org/drawingml/2006/main" x="590550" y="2686050"/>
          <a:ext xmlns:a="http://schemas.openxmlformats.org/drawingml/2006/main" cx="10953750" cy="2743200"/>
        </p:xfrm>
        <a:graphic xmlns:a="http://schemas.openxmlformats.org/drawingml/2006/main">
          <a:graphicData uri="http://schemas.openxmlformats.org/drawingml/2006/table">
            <a:tbl>
              <a:tblPr/>
              <a:tblGrid>
                <a:gridCol w="7239000"/>
                <a:gridCol w="3714750"/>
              </a:tblGrid>
              <a:tr h="457200">
                <a:tc>
                  <a:txBody>
                    <a:bodyPr/>
                    <a:lstStyle/>
                    <a:p>
                      <a:r>
                        <a:rPr sz="1500" b="1">
                          <a:solidFill>
                            <a:srgbClr val="FFFFFF"/>
                          </a:solidFill>
                          <a:latin typeface="Avenir Next"/>
                          <a:ea typeface="Avenir Next"/>
                          <a:cs typeface="Avenir Next"/>
                        </a:rPr>
                        <a:t>Assumption / input</a:t>
                      </a:r>
                    </a:p>
                  </a:txBody>
                  <a:tcPr marL="133350" marR="133350" marT="76200" marB="57150" anchor="t">
                    <a:solidFill>
                      <a:srgbClr val="203047"/>
                    </a:solidFill>
                  </a:tcPr>
                </a:tc>
                <a:tc>
                  <a:txBody>
                    <a:bodyPr/>
                    <a:lstStyle/>
                    <a:p>
                      <a:r>
                        <a:rPr sz="1500" b="1">
                          <a:solidFill>
                            <a:srgbClr val="FFFFFF"/>
                          </a:solidFill>
                          <a:latin typeface="Avenir Next"/>
                          <a:ea typeface="Avenir Next"/>
                          <a:cs typeface="Avenir Next"/>
                        </a:rPr>
                        <a:t>Illustrative result</a:t>
                      </a:r>
                    </a:p>
                  </a:txBody>
                  <a:tcPr marL="133350" marR="133350" marT="76200" marB="57150" anchor="t">
                    <a:solidFill>
                      <a:srgbClr val="203047"/>
                    </a:solidFill>
                  </a:tcPr>
                </a:tc>
              </a:tr>
              <a:tr h="457200">
                <a:tc>
                  <a:txBody>
                    <a:bodyPr/>
                    <a:lstStyle/>
                    <a:p>
                      <a:r>
                        <a:rPr sz="1650" b="1">
                          <a:solidFill>
                            <a:srgbClr val="203047"/>
                          </a:solidFill>
                          <a:latin typeface="Avenir Next"/>
                          <a:ea typeface="Avenir Next"/>
                          <a:cs typeface="Avenir Next"/>
                        </a:rPr>
                        <a:t>Large-plant downtime rate</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$33,000 / min</a:t>
                      </a:r>
                    </a:p>
                  </a:txBody>
                  <a:tcPr marL="133350" marR="133350" marT="76200" marB="57150" anchor="t">
                    <a:solidFill>
                      <a:srgbClr val="FFFFFF"/>
                    </a:solidFill>
                  </a:tcPr>
                </a:tc>
              </a:tr>
              <a:tr h="457200">
                <a:tc>
                  <a:txBody>
                    <a:bodyPr/>
                    <a:lstStyle/>
                    <a:p>
                      <a:r>
                        <a:rPr sz="1650" b="1">
                          <a:solidFill>
                            <a:srgbClr val="203047"/>
                          </a:solidFill>
                          <a:latin typeface="Avenir Next"/>
                          <a:ea typeface="Avenir Next"/>
                          <a:cs typeface="Avenir Next"/>
                        </a:rPr>
                        <a:t>Average restoration window, 2023 study</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81 min</a:t>
                      </a:r>
                    </a:p>
                  </a:txBody>
                  <a:tcPr marL="133350" marR="133350" marT="76200" marB="57150" anchor="t">
                    <a:solidFill>
                      <a:srgbClr val="FFFFFF"/>
                    </a:solidFill>
                  </a:tcPr>
                </a:tc>
              </a:tr>
              <a:tr h="457200">
                <a:tc>
                  <a:txBody>
                    <a:bodyPr/>
                    <a:lstStyle/>
                    <a:p>
                      <a:r>
                        <a:rPr sz="1650" b="1">
                          <a:solidFill>
                            <a:srgbClr val="203047"/>
                          </a:solidFill>
                          <a:latin typeface="Avenir Next"/>
                          <a:ea typeface="Avenir Next"/>
                          <a:cs typeface="Avenir Next"/>
                        </a:rPr>
                        <a:t>Decision time avoided — assumed</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10 min</a:t>
                      </a:r>
                    </a:p>
                  </a:txBody>
                  <a:tcPr marL="133350" marR="133350" marT="76200" marB="57150" anchor="t">
                    <a:solidFill>
                      <a:srgbClr val="FFFFFF"/>
                    </a:solidFill>
                  </a:tcPr>
                </a:tc>
              </a:tr>
              <a:tr h="457200">
                <a:tc>
                  <a:txBody>
                    <a:bodyPr/>
                    <a:lstStyle/>
                    <a:p>
                      <a:r>
                        <a:rPr sz="1650" b="1">
                          <a:solidFill>
                            <a:srgbClr val="204DAD"/>
                          </a:solidFill>
                          <a:latin typeface="Avenir Next"/>
                          <a:ea typeface="Avenir Next"/>
                          <a:cs typeface="Avenir Next"/>
                        </a:rPr>
                        <a:t>Illustrative cost avoided per event</a:t>
                      </a:r>
                    </a:p>
                  </a:txBody>
                  <a:tcPr marL="133350" marR="133350" marT="76200" marB="57150" anchor="t">
                    <a:solidFill>
                      <a:srgbClr val="EDF3FF"/>
                    </a:solidFill>
                  </a:tcPr>
                </a:tc>
                <a:tc>
                  <a:txBody>
                    <a:bodyPr/>
                    <a:lstStyle/>
                    <a:p>
                      <a:r>
                        <a:rPr sz="1650" b="0">
                          <a:solidFill>
                            <a:srgbClr val="204DAD"/>
                          </a:solidFill>
                          <a:latin typeface="Avenir Next"/>
                          <a:ea typeface="Avenir Next"/>
                          <a:cs typeface="Avenir Next"/>
                        </a:rPr>
                        <a:t>$330,000</a:t>
                      </a:r>
                    </a:p>
                  </a:txBody>
                  <a:tcPr marL="133350" marR="133350" marT="76200" marB="57150" anchor="t">
                    <a:solidFill>
                      <a:srgbClr val="EDF3FF"/>
                    </a:solidFill>
                  </a:tcPr>
                </a:tc>
              </a:tr>
              <a:tr h="457200">
                <a:tc>
                  <a:txBody>
                    <a:bodyPr/>
                    <a:lstStyle/>
                    <a:p>
                      <a:r>
                        <a:rPr sz="1650" b="1">
                          <a:solidFill>
                            <a:srgbClr val="203047"/>
                          </a:solidFill>
                          <a:latin typeface="Avenir Next"/>
                          <a:ea typeface="Avenir Next"/>
                          <a:cs typeface="Avenir Next"/>
                        </a:rPr>
                        <a:t>Sensitivity: 3 minutes avoided</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$99,000</a:t>
                      </a:r>
                    </a:p>
                  </a:txBody>
                  <a:tcPr marL="133350" marR="133350" marT="76200" marB="57150" anchor="t">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2B73D942-8EA1-459B-B4E9-8BE9211C7FE8}"/>
              </a:ext>
            </a:extLst>
          </p:cNvPr>
          <p:cNvSpPr>
            <a:spLocks xmlns:a="http://schemas.openxmlformats.org/drawingml/2006/main" noGrp="1"/>
          </p:cNvSpPr>
          <p:nvPr/>
        </p:nvSpPr>
        <p:spPr>
          <a:xfrm xmlns:a="http://schemas.openxmlformats.org/drawingml/2006/main">
            <a:off x="590550" y="5581650"/>
            <a:ext cx="10953750" cy="552450"/>
          </a:xfrm>
          <a:prstGeom xmlns:a="http://schemas.openxmlformats.org/drawingml/2006/main" prst="roundRect">
            <a:avLst>
              <a:gd name="adj" fmla="val 15517"/>
            </a:avLst>
          </a:prstGeom>
          <a:solidFill xmlns:a="http://schemas.openxmlformats.org/drawingml/2006/main">
            <a:srgbClr val="203047"/>
          </a:solidFill>
          <a:ln xmlns:a="http://schemas.openxmlformats.org/drawingml/2006/main" w="0">
            <a:noFill/>
          </a:ln>
        </p:spPr>
      </p:sp>
      <p:sp>
        <p:nvSpPr>
          <p:cNvPr id="13" name="12 events × $330,000 = $3.96M">
            <a:extLst xmlns:a="http://schemas.openxmlformats.org/drawingml/2006/main">
              <a:ext uri="{FF2B5EF4-FFF2-40B4-BE49-F238E27FC236}">
                <a16:creationId xmlns:a16="http://schemas.microsoft.com/office/drawing/2014/main" id="{D0BEE8DA-07C6-4342-BA6F-44658C8E924C}"/>
              </a:ext>
            </a:extLst>
          </p:cNvPr>
          <p:cNvSpPr>
            <a:spLocks xmlns:a="http://schemas.openxmlformats.org/drawingml/2006/main" noGrp="1"/>
          </p:cNvSpPr>
          <p:nvPr/>
        </p:nvSpPr>
        <p:spPr>
          <a:xfrm xmlns:a="http://schemas.openxmlformats.org/drawingml/2006/main">
            <a:off x="781050" y="5676900"/>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FFFFFF"/>
                </a:solidFill>
                <a:latin typeface="Avenir Next"/>
                <a:ea typeface="Avenir Next"/>
                <a:cs typeface="Avenir Next"/>
              </a:defRPr>
            </a:pPr>
            <a:r>
              <a:rPr sz="2325" b="1">
                <a:solidFill>
                  <a:srgbClr val="FFFFFF"/>
                </a:solidFill>
                <a:latin typeface="Avenir Next"/>
                <a:ea typeface="Avenir Next"/>
                <a:cs typeface="Avenir Next"/>
              </a:rPr>
              <a:t>12 events × $330,000 = $3.96M</a:t>
            </a:r>
          </a:p>
        </p:txBody>
      </p:sp>
    </p:spTree>
    <p:extLst>
      <p:ext uri="{BB962C8B-B14F-4D97-AF65-F5344CB8AC3E}">
        <p14:creationId xmlns:p14="http://schemas.microsoft.com/office/powerpoint/2010/main" val="1010297340"/>
      </p:ext>
    </p:extLst>
  </p:cSld>
</p:sld>
</file>

<file path=ppt/slides/slide1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1A2C26F-9FD1-45E0-A8FB-3546422B40D4}"/>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103157-347A-4555-A4A8-7ADE03D1D5B6}"/>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D75049F9-381F-4051-A3B3-16D02F2DFD4A}"/>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128B2C20-0960-4ABA-8B6D-F364F0B5FAE7}"/>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10680B1A-77B5-4DFD-BC3A-B108BF8BFE3F}"/>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1A5BB0CC-E527-4F2D-8AED-35940D01AC0A}"/>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11 / 13">
            <a:extLst xmlns:a="http://schemas.openxmlformats.org/drawingml/2006/main">
              <a:ext uri="{FF2B5EF4-FFF2-40B4-BE49-F238E27FC236}">
                <a16:creationId xmlns:a16="http://schemas.microsoft.com/office/drawing/2014/main" id="{BDBC0EE8-F7F3-4B17-89F0-E323BF960A95}"/>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11 / 13</a:t>
            </a:r>
          </a:p>
        </p:txBody>
      </p:sp>
      <p:sp>
        <p:nvSpPr>
          <p:cNvPr id="8" name="A feasible plan reduces modeled cost by $21,000">
            <a:extLst xmlns:a="http://schemas.openxmlformats.org/drawingml/2006/main">
              <a:ext uri="{FF2B5EF4-FFF2-40B4-BE49-F238E27FC236}">
                <a16:creationId xmlns:a16="http://schemas.microsoft.com/office/drawing/2014/main" id="{B8FD943D-8282-4A0E-8E21-08CE8A854280}"/>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A feasible plan reduces modeled cost by $21,000</a:t>
            </a:r>
          </a:p>
        </p:txBody>
      </p:sp>
      <p:sp>
        <p:nvSpPr>
          <p:cNvPr id="9" name="40-hour worked example at Cascade Final Assembly">
            <a:extLst xmlns:a="http://schemas.openxmlformats.org/drawingml/2006/main">
              <a:ext uri="{FF2B5EF4-FFF2-40B4-BE49-F238E27FC236}">
                <a16:creationId xmlns:a16="http://schemas.microsoft.com/office/drawing/2014/main" id="{64298B62-A0B5-43B0-89F3-EA7F35935DBF}"/>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40-hour worked example at Cascade Final Assembly</a:t>
            </a:r>
          </a:p>
        </p:txBody>
      </p:sp>
      <p:sp>
        <p:nvSpPr>
          <p:cNvPr id="10" name="160 standard modules remain late. The supplier restriction s">
            <a:extLst xmlns:a="http://schemas.openxmlformats.org/drawingml/2006/main">
              <a:ext uri="{FF2B5EF4-FFF2-40B4-BE49-F238E27FC236}">
                <a16:creationId xmlns:a16="http://schemas.microsoft.com/office/drawing/2014/main" id="{9D64F0B5-1476-44AD-95AD-268E623306A4}"/>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160 standard modules remain late. The supplier restriction stays open.</a:t>
            </a:r>
          </a:p>
        </p:txBody>
      </p:sp>
      <p:graphicFrame>
        <p:nvGraphicFramePr>
          <p:cNvPr id="26" name=""/>
          <p:cNvGraphicFramePr/>
          <p:nvPr/>
        </p:nvGraphicFramePr>
        <p:xfrm>
          <a:off xmlns:a="http://schemas.openxmlformats.org/drawingml/2006/main" x="590550" y="2686050"/>
          <a:ext xmlns:a="http://schemas.openxmlformats.org/drawingml/2006/main" cx="10953750" cy="2667000"/>
        </p:xfrm>
        <a:graphic xmlns:a="http://schemas.openxmlformats.org/drawingml/2006/main">
          <a:graphicData uri="http://schemas.openxmlformats.org/drawingml/2006/table">
            <a:tbl>
              <a:tblPr/>
              <a:tblGrid>
                <a:gridCol w="3638550"/>
                <a:gridCol w="1885950"/>
                <a:gridCol w="1714500"/>
                <a:gridCol w="1809750"/>
                <a:gridCol w="1905000"/>
              </a:tblGrid>
              <a:tr h="666750">
                <a:tc>
                  <a:txBody>
                    <a:bodyPr/>
                    <a:lstStyle/>
                    <a:p>
                      <a:r>
                        <a:rPr sz="1500" b="1">
                          <a:solidFill>
                            <a:srgbClr val="FFFFFF"/>
                          </a:solidFill>
                          <a:latin typeface="Avenir Next"/>
                          <a:ea typeface="Avenir Next"/>
                          <a:cs typeface="Avenir Next"/>
                        </a:rPr>
                        <a:t>Option</a:t>
                      </a:r>
                    </a:p>
                  </a:txBody>
                  <a:tcPr marL="133350" marR="133350" marT="76200" marB="57150" anchor="t">
                    <a:solidFill>
                      <a:srgbClr val="203047"/>
                    </a:solidFill>
                  </a:tcPr>
                </a:tc>
                <a:tc>
                  <a:txBody>
                    <a:bodyPr/>
                    <a:lstStyle/>
                    <a:p>
                      <a:r>
                        <a:rPr sz="1500" b="1">
                          <a:solidFill>
                            <a:srgbClr val="FFFFFF"/>
                          </a:solidFill>
                          <a:latin typeface="Avenir Next"/>
                          <a:ea typeface="Avenir Next"/>
                          <a:cs typeface="Avenir Next"/>
                        </a:rPr>
                        <a:t>Priority on time</a:t>
                      </a:r>
                    </a:p>
                  </a:txBody>
                  <a:tcPr marL="133350" marR="133350" marT="76200" marB="57150" anchor="t">
                    <a:solidFill>
                      <a:srgbClr val="203047"/>
                    </a:solidFill>
                  </a:tcPr>
                </a:tc>
                <a:tc>
                  <a:txBody>
                    <a:bodyPr/>
                    <a:lstStyle/>
                    <a:p>
                      <a:r>
                        <a:rPr sz="1500" b="1">
                          <a:solidFill>
                            <a:srgbClr val="FFFFFF"/>
                          </a:solidFill>
                          <a:latin typeface="Avenir Next"/>
                          <a:ea typeface="Avenir Next"/>
                          <a:cs typeface="Avenir Next"/>
                        </a:rPr>
                        <a:t>Kits on time</a:t>
                      </a:r>
                    </a:p>
                  </a:txBody>
                  <a:tcPr marL="133350" marR="133350" marT="76200" marB="57150" anchor="t">
                    <a:solidFill>
                      <a:srgbClr val="203047"/>
                    </a:solidFill>
                  </a:tcPr>
                </a:tc>
                <a:tc>
                  <a:txBody>
                    <a:bodyPr/>
                    <a:lstStyle/>
                    <a:p>
                      <a:r>
                        <a:rPr sz="1500" b="1">
                          <a:solidFill>
                            <a:srgbClr val="FFFFFF"/>
                          </a:solidFill>
                          <a:latin typeface="Avenir Next"/>
                          <a:ea typeface="Avenir Next"/>
                          <a:cs typeface="Avenir Next"/>
                        </a:rPr>
                        <a:t>Productive time</a:t>
                      </a:r>
                    </a:p>
                  </a:txBody>
                  <a:tcPr marL="133350" marR="133350" marT="76200" marB="57150" anchor="t">
                    <a:solidFill>
                      <a:srgbClr val="203047"/>
                    </a:solidFill>
                  </a:tcPr>
                </a:tc>
                <a:tc>
                  <a:txBody>
                    <a:bodyPr/>
                    <a:lstStyle/>
                    <a:p>
                      <a:r>
                        <a:rPr sz="1500" b="1">
                          <a:solidFill>
                            <a:srgbClr val="FFFFFF"/>
                          </a:solidFill>
                          <a:latin typeface="Avenir Next"/>
                          <a:ea typeface="Avenir Next"/>
                          <a:cs typeface="Avenir Next"/>
                        </a:rPr>
                        <a:t>Fees + setup</a:t>
                      </a:r>
                    </a:p>
                  </a:txBody>
                  <a:tcPr marL="133350" marR="133350" marT="76200" marB="57150" anchor="t">
                    <a:solidFill>
                      <a:srgbClr val="203047"/>
                    </a:solidFill>
                  </a:tcPr>
                </a:tc>
              </a:tr>
              <a:tr h="666750">
                <a:tc>
                  <a:txBody>
                    <a:bodyPr/>
                    <a:lstStyle/>
                    <a:p>
                      <a:r>
                        <a:rPr sz="1650" b="1">
                          <a:solidFill>
                            <a:srgbClr val="203047"/>
                          </a:solidFill>
                          <a:latin typeface="Avenir Next"/>
                          <a:ea typeface="Avenir Next"/>
                          <a:cs typeface="Avenir Next"/>
                        </a:rPr>
                        <a:t>Current sequence</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20/180</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0</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8 h</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$25,600</a:t>
                      </a:r>
                    </a:p>
                  </a:txBody>
                  <a:tcPr marL="133350" marR="133350" marT="76200" marB="57150" anchor="t">
                    <a:solidFill>
                      <a:srgbClr val="FFFFFF"/>
                    </a:solidFill>
                  </a:tcPr>
                </a:tc>
              </a:tr>
              <a:tr h="666750">
                <a:tc>
                  <a:txBody>
                    <a:bodyPr/>
                    <a:lstStyle/>
                    <a:p>
                      <a:r>
                        <a:rPr sz="1650" b="1">
                          <a:solidFill>
                            <a:srgbClr val="203047"/>
                          </a:solidFill>
                          <a:latin typeface="Avenir Next"/>
                          <a:ea typeface="Avenir Next"/>
                          <a:cs typeface="Avenir Next"/>
                        </a:rPr>
                        <a:t>Prioritize critical order</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180/180</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0</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8 h</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$5,600</a:t>
                      </a:r>
                    </a:p>
                  </a:txBody>
                  <a:tcPr marL="133350" marR="133350" marT="76200" marB="57150" anchor="t">
                    <a:solidFill>
                      <a:srgbClr val="FFFFFF"/>
                    </a:solidFill>
                  </a:tcPr>
                </a:tc>
              </a:tr>
              <a:tr h="666750">
                <a:tc>
                  <a:txBody>
                    <a:bodyPr/>
                    <a:lstStyle/>
                    <a:p>
                      <a:r>
                        <a:rPr sz="1650" b="1">
                          <a:solidFill>
                            <a:srgbClr val="204DAD"/>
                          </a:solidFill>
                          <a:latin typeface="Avenir Next"/>
                          <a:ea typeface="Avenir Next"/>
                          <a:cs typeface="Avenir Next"/>
                        </a:rPr>
                        <a:t>Prioritize + resequence</a:t>
                      </a:r>
                    </a:p>
                  </a:txBody>
                  <a:tcPr marL="133350" marR="133350" marT="76200" marB="57150" anchor="t">
                    <a:solidFill>
                      <a:srgbClr val="EDF3FF"/>
                    </a:solidFill>
                  </a:tcPr>
                </a:tc>
                <a:tc>
                  <a:txBody>
                    <a:bodyPr/>
                    <a:lstStyle/>
                    <a:p>
                      <a:r>
                        <a:rPr sz="1650" b="0">
                          <a:solidFill>
                            <a:srgbClr val="204DAD"/>
                          </a:solidFill>
                          <a:latin typeface="Avenir Next"/>
                          <a:ea typeface="Avenir Next"/>
                          <a:cs typeface="Avenir Next"/>
                        </a:rPr>
                        <a:t>180/180</a:t>
                      </a:r>
                    </a:p>
                  </a:txBody>
                  <a:tcPr marL="133350" marR="133350" marT="76200" marB="57150" anchor="t">
                    <a:solidFill>
                      <a:srgbClr val="EDF3FF"/>
                    </a:solidFill>
                  </a:tcPr>
                </a:tc>
                <a:tc>
                  <a:txBody>
                    <a:bodyPr/>
                    <a:lstStyle/>
                    <a:p>
                      <a:r>
                        <a:rPr sz="1650" b="0">
                          <a:solidFill>
                            <a:srgbClr val="204DAD"/>
                          </a:solidFill>
                          <a:latin typeface="Avenir Next"/>
                          <a:ea typeface="Avenir Next"/>
                          <a:cs typeface="Avenir Next"/>
                        </a:rPr>
                        <a:t>160</a:t>
                      </a:r>
                    </a:p>
                  </a:txBody>
                  <a:tcPr marL="133350" marR="133350" marT="76200" marB="57150" anchor="t">
                    <a:solidFill>
                      <a:srgbClr val="EDF3FF"/>
                    </a:solidFill>
                  </a:tcPr>
                </a:tc>
                <a:tc>
                  <a:txBody>
                    <a:bodyPr/>
                    <a:lstStyle/>
                    <a:p>
                      <a:r>
                        <a:rPr sz="1650" b="0">
                          <a:solidFill>
                            <a:srgbClr val="204DAD"/>
                          </a:solidFill>
                          <a:latin typeface="Avenir Next"/>
                          <a:ea typeface="Avenir Next"/>
                          <a:cs typeface="Avenir Next"/>
                        </a:rPr>
                        <a:t>24 h</a:t>
                      </a:r>
                    </a:p>
                  </a:txBody>
                  <a:tcPr marL="133350" marR="133350" marT="76200" marB="57150" anchor="t">
                    <a:solidFill>
                      <a:srgbClr val="EDF3FF"/>
                    </a:solidFill>
                  </a:tcPr>
                </a:tc>
                <a:tc>
                  <a:txBody>
                    <a:bodyPr/>
                    <a:lstStyle/>
                    <a:p>
                      <a:r>
                        <a:rPr sz="1650" b="0">
                          <a:solidFill>
                            <a:srgbClr val="204DAD"/>
                          </a:solidFill>
                          <a:latin typeface="Avenir Next"/>
                          <a:ea typeface="Avenir Next"/>
                          <a:cs typeface="Avenir Next"/>
                        </a:rPr>
                        <a:t>$4,600</a:t>
                      </a:r>
                    </a:p>
                  </a:txBody>
                  <a:tcPr marL="133350" marR="133350" marT="76200" marB="57150" anchor="t">
                    <a:solidFill>
                      <a:srgbClr val="EDF3FF"/>
                    </a:solidFill>
                  </a:tcPr>
                </a:tc>
              </a:tr>
            </a:tbl>
          </a:graphicData>
        </a:graphic>
      </p:graphicFrame>
      <p:sp>
        <p:nvSpPr>
          <p:cNvPr id="12" name="">
            <a:extLst xmlns:a="http://schemas.openxmlformats.org/drawingml/2006/main">
              <a:ext uri="{FF2B5EF4-FFF2-40B4-BE49-F238E27FC236}">
                <a16:creationId xmlns:a16="http://schemas.microsoft.com/office/drawing/2014/main" id="{2337D324-4558-4E41-9CCD-909404AB7520}"/>
              </a:ext>
            </a:extLst>
          </p:cNvPr>
          <p:cNvSpPr>
            <a:spLocks xmlns:a="http://schemas.openxmlformats.org/drawingml/2006/main" noGrp="1"/>
          </p:cNvSpPr>
          <p:nvPr/>
        </p:nvSpPr>
        <p:spPr>
          <a:xfrm xmlns:a="http://schemas.openxmlformats.org/drawingml/2006/main">
            <a:off x="590550" y="5543550"/>
            <a:ext cx="10953750" cy="600075"/>
          </a:xfrm>
          <a:prstGeom xmlns:a="http://schemas.openxmlformats.org/drawingml/2006/main" prst="roundRect">
            <a:avLst>
              <a:gd name="adj" fmla="val 14286"/>
            </a:avLst>
          </a:prstGeom>
          <a:solidFill xmlns:a="http://schemas.openxmlformats.org/drawingml/2006/main">
            <a:srgbClr val="203047"/>
          </a:solidFill>
          <a:ln xmlns:a="http://schemas.openxmlformats.org/drawingml/2006/main" w="0">
            <a:noFill/>
          </a:ln>
        </p:spPr>
      </p:sp>
      <p:sp>
        <p:nvSpPr>
          <p:cNvPr id="13" name="$21,000 reduced">
            <a:extLst xmlns:a="http://schemas.openxmlformats.org/drawingml/2006/main">
              <a:ext uri="{FF2B5EF4-FFF2-40B4-BE49-F238E27FC236}">
                <a16:creationId xmlns:a16="http://schemas.microsoft.com/office/drawing/2014/main" id="{9034A140-0B48-4001-A08A-B60A0049E474}"/>
              </a:ext>
            </a:extLst>
          </p:cNvPr>
          <p:cNvSpPr>
            <a:spLocks xmlns:a="http://schemas.openxmlformats.org/drawingml/2006/main" noGrp="1"/>
          </p:cNvSpPr>
          <p:nvPr/>
        </p:nvSpPr>
        <p:spPr>
          <a:xfrm xmlns:a="http://schemas.openxmlformats.org/drawingml/2006/main">
            <a:off x="781050" y="567690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FFFFFF"/>
                </a:solidFill>
                <a:latin typeface="Avenir Next"/>
                <a:ea typeface="Avenir Next"/>
                <a:cs typeface="Avenir Next"/>
              </a:defRPr>
            </a:pPr>
            <a:r>
              <a:rPr sz="2250" b="1">
                <a:solidFill>
                  <a:srgbClr val="FFFFFF"/>
                </a:solidFill>
                <a:latin typeface="Avenir Next"/>
                <a:ea typeface="Avenir Next"/>
                <a:cs typeface="Avenir Next"/>
              </a:rPr>
              <a:t>$21,000 reduced</a:t>
            </a:r>
          </a:p>
        </p:txBody>
      </p:sp>
      <p:sp>
        <p:nvSpPr>
          <p:cNvPr id="14" name="+16 productive hours">
            <a:extLst xmlns:a="http://schemas.openxmlformats.org/drawingml/2006/main">
              <a:ext uri="{FF2B5EF4-FFF2-40B4-BE49-F238E27FC236}">
                <a16:creationId xmlns:a16="http://schemas.microsoft.com/office/drawing/2014/main" id="{7910941A-7105-47C7-BB5D-4D53EACC02F0}"/>
              </a:ext>
            </a:extLst>
          </p:cNvPr>
          <p:cNvSpPr>
            <a:spLocks xmlns:a="http://schemas.openxmlformats.org/drawingml/2006/main" noGrp="1"/>
          </p:cNvSpPr>
          <p:nvPr/>
        </p:nvSpPr>
        <p:spPr>
          <a:xfrm xmlns:a="http://schemas.openxmlformats.org/drawingml/2006/main">
            <a:off x="4667250" y="5734050"/>
            <a:ext cx="3524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D2DEF0"/>
                </a:solidFill>
                <a:latin typeface="Avenir Next"/>
                <a:ea typeface="Avenir Next"/>
                <a:cs typeface="Avenir Next"/>
              </a:defRPr>
            </a:pPr>
            <a:r>
              <a:rPr sz="1725" b="0">
                <a:solidFill>
                  <a:srgbClr val="D2DEF0"/>
                </a:solidFill>
                <a:latin typeface="Avenir Next"/>
                <a:ea typeface="Avenir Next"/>
                <a:cs typeface="Avenir Next"/>
              </a:rPr>
              <a:t>+16 productive hours</a:t>
            </a:r>
          </a:p>
        </p:txBody>
      </p:sp>
      <p:sp>
        <p:nvSpPr>
          <p:cNvPr id="15" name="180 priority + 160 kits on time">
            <a:extLst xmlns:a="http://schemas.openxmlformats.org/drawingml/2006/main">
              <a:ext uri="{FF2B5EF4-FFF2-40B4-BE49-F238E27FC236}">
                <a16:creationId xmlns:a16="http://schemas.microsoft.com/office/drawing/2014/main" id="{97CF3017-7B27-4B1B-8FB2-FD049E8BF88C}"/>
              </a:ext>
            </a:extLst>
          </p:cNvPr>
          <p:cNvSpPr>
            <a:spLocks xmlns:a="http://schemas.openxmlformats.org/drawingml/2006/main" noGrp="1"/>
          </p:cNvSpPr>
          <p:nvPr/>
        </p:nvSpPr>
        <p:spPr>
          <a:xfrm xmlns:a="http://schemas.openxmlformats.org/drawingml/2006/main">
            <a:off x="7848600" y="5753100"/>
            <a:ext cx="333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D2DEF0"/>
                </a:solidFill>
                <a:latin typeface="Avenir Next"/>
                <a:ea typeface="Avenir Next"/>
                <a:cs typeface="Avenir Next"/>
              </a:defRPr>
            </a:pPr>
            <a:r>
              <a:rPr sz="1425" b="0">
                <a:solidFill>
                  <a:srgbClr val="D2DEF0"/>
                </a:solidFill>
                <a:latin typeface="Avenir Next"/>
                <a:ea typeface="Avenir Next"/>
                <a:cs typeface="Avenir Next"/>
              </a:rPr>
              <a:t>180 priority + 160 kits on time</a:t>
            </a:r>
          </a:p>
        </p:txBody>
      </p:sp>
    </p:spTree>
    <p:extLst>
      <p:ext uri="{BB962C8B-B14F-4D97-AF65-F5344CB8AC3E}">
        <p14:creationId xmlns:p14="http://schemas.microsoft.com/office/powerpoint/2010/main" val="1154453424"/>
      </p:ext>
    </p:extLst>
  </p:cSld>
</p:sld>
</file>

<file path=ppt/slides/slide1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F03EE24-7E2C-4EA1-B3E7-ED4137A5AF76}"/>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1DBC53-0BC9-4C67-AAB9-223B67B6E582}"/>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25F1ADC2-CA64-4C05-9AC5-A4E0F87FAEBC}"/>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DB7DAECA-74A8-49BD-BDE5-DCF9C5E36F0A}"/>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76F745F0-5786-4E4D-8358-4329664CA006}"/>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EF3FD6E7-C1AA-45D6-97C7-3493AF741FD0}"/>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12 / 13">
            <a:extLst xmlns:a="http://schemas.openxmlformats.org/drawingml/2006/main">
              <a:ext uri="{FF2B5EF4-FFF2-40B4-BE49-F238E27FC236}">
                <a16:creationId xmlns:a16="http://schemas.microsoft.com/office/drawing/2014/main" id="{0720C2DC-65B5-427B-8716-F42E18515E76}"/>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12 / 13</a:t>
            </a:r>
          </a:p>
        </p:txBody>
      </p:sp>
      <p:sp>
        <p:nvSpPr>
          <p:cNvPr id="8" name="The proposal has owners, quantities, and timing">
            <a:extLst xmlns:a="http://schemas.openxmlformats.org/drawingml/2006/main">
              <a:ext uri="{FF2B5EF4-FFF2-40B4-BE49-F238E27FC236}">
                <a16:creationId xmlns:a16="http://schemas.microsoft.com/office/drawing/2014/main" id="{0E097E45-2FDE-4C44-9BE1-D9C38573B381}"/>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The proposal has owners, quantities, and timing</a:t>
            </a:r>
          </a:p>
        </p:txBody>
      </p:sp>
      <p:sp>
        <p:nvSpPr>
          <p:cNvPr id="9" name="The recommended allocation and release sequence stays review">
            <a:extLst xmlns:a="http://schemas.openxmlformats.org/drawingml/2006/main">
              <a:ext uri="{FF2B5EF4-FFF2-40B4-BE49-F238E27FC236}">
                <a16:creationId xmlns:a16="http://schemas.microsoft.com/office/drawing/2014/main" id="{5D4A731A-156C-444B-A4EA-5FE7B335CCF7}"/>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The recommended allocation and release sequence stays reviewable before anyone acts.</a:t>
            </a:r>
          </a:p>
        </p:txBody>
      </p:sp>
      <p:sp>
        <p:nvSpPr>
          <p:cNvPr id="10" name="Applicable to manufacturing, semiconductors, energy, pharmac">
            <a:extLst xmlns:a="http://schemas.openxmlformats.org/drawingml/2006/main">
              <a:ext uri="{FF2B5EF4-FFF2-40B4-BE49-F238E27FC236}">
                <a16:creationId xmlns:a16="http://schemas.microsoft.com/office/drawing/2014/main" id="{1E7CC3CB-116A-414E-8ED7-F87706208A3F}"/>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Applicable to manufacturing, semiconductors, energy, pharmaceuticals, and defense supply chains.</a:t>
            </a:r>
          </a:p>
        </p:txBody>
      </p:sp>
      <p:graphicFrame>
        <p:nvGraphicFramePr>
          <p:cNvPr id="22" name=""/>
          <p:cNvGraphicFramePr/>
          <p:nvPr/>
        </p:nvGraphicFramePr>
        <p:xfrm>
          <a:off xmlns:a="http://schemas.openxmlformats.org/drawingml/2006/main" x="590550" y="2686050"/>
          <a:ext xmlns:a="http://schemas.openxmlformats.org/drawingml/2006/main" cx="10953750" cy="3476625"/>
        </p:xfrm>
        <a:graphic xmlns:a="http://schemas.openxmlformats.org/drawingml/2006/main">
          <a:graphicData uri="http://schemas.openxmlformats.org/drawingml/2006/table">
            <a:tbl>
              <a:tblPr/>
              <a:tblGrid>
                <a:gridCol w="1685925"/>
                <a:gridCol w="2771775"/>
                <a:gridCol w="6496050"/>
              </a:tblGrid>
              <a:tr h="695325">
                <a:tc>
                  <a:txBody>
                    <a:bodyPr/>
                    <a:lstStyle/>
                    <a:p>
                      <a:r>
                        <a:rPr sz="1500" b="1">
                          <a:solidFill>
                            <a:srgbClr val="FFFFFF"/>
                          </a:solidFill>
                          <a:latin typeface="Avenir Next"/>
                          <a:ea typeface="Avenir Next"/>
                          <a:cs typeface="Avenir Next"/>
                        </a:rPr>
                        <a:t>Timing</a:t>
                      </a:r>
                    </a:p>
                  </a:txBody>
                  <a:tcPr marL="133350" marR="133350" marT="76200" marB="57150" anchor="t">
                    <a:solidFill>
                      <a:srgbClr val="203047"/>
                    </a:solidFill>
                  </a:tcPr>
                </a:tc>
                <a:tc>
                  <a:txBody>
                    <a:bodyPr/>
                    <a:lstStyle/>
                    <a:p>
                      <a:r>
                        <a:rPr sz="1500" b="1">
                          <a:solidFill>
                            <a:srgbClr val="FFFFFF"/>
                          </a:solidFill>
                          <a:latin typeface="Avenir Next"/>
                          <a:ea typeface="Avenir Next"/>
                          <a:cs typeface="Avenir Next"/>
                        </a:rPr>
                        <a:t>Accountable owner</a:t>
                      </a:r>
                    </a:p>
                  </a:txBody>
                  <a:tcPr marL="133350" marR="133350" marT="76200" marB="57150" anchor="t">
                    <a:solidFill>
                      <a:srgbClr val="203047"/>
                    </a:solidFill>
                  </a:tcPr>
                </a:tc>
                <a:tc>
                  <a:txBody>
                    <a:bodyPr/>
                    <a:lstStyle/>
                    <a:p>
                      <a:r>
                        <a:rPr sz="1500" b="1">
                          <a:solidFill>
                            <a:srgbClr val="FFFFFF"/>
                          </a:solidFill>
                          <a:latin typeface="Avenir Next"/>
                          <a:ea typeface="Avenir Next"/>
                          <a:cs typeface="Avenir Next"/>
                        </a:rPr>
                        <a:t>Proposed action</a:t>
                      </a:r>
                    </a:p>
                  </a:txBody>
                  <a:tcPr marL="133350" marR="133350" marT="76200" marB="57150" anchor="t">
                    <a:solidFill>
                      <a:srgbClr val="203047"/>
                    </a:solidFill>
                  </a:tcPr>
                </a:tc>
              </a:tr>
              <a:tr h="695325">
                <a:tc>
                  <a:txBody>
                    <a:bodyPr/>
                    <a:lstStyle/>
                    <a:p>
                      <a:r>
                        <a:rPr sz="1650" b="1">
                          <a:solidFill>
                            <a:srgbClr val="203047"/>
                          </a:solidFill>
                          <a:latin typeface="Avenir Next"/>
                          <a:ea typeface="Avenir Next"/>
                          <a:cs typeface="Avenir Next"/>
                        </a:rPr>
                        <a:t>Before release</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Planner + warehouse</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Reserve 40 finished modules and 140 released sensors for the priority order.</a:t>
                      </a:r>
                    </a:p>
                  </a:txBody>
                  <a:tcPr marL="133350" marR="133350" marT="76200" marB="57150" anchor="t">
                    <a:solidFill>
                      <a:srgbClr val="FFFFFF"/>
                    </a:solidFill>
                  </a:tcPr>
                </a:tc>
              </a:tr>
              <a:tr h="695325">
                <a:tc>
                  <a:txBody>
                    <a:bodyPr/>
                    <a:lstStyle/>
                    <a:p>
                      <a:r>
                        <a:rPr sz="1650" b="1">
                          <a:solidFill>
                            <a:srgbClr val="203047"/>
                          </a:solidFill>
                          <a:latin typeface="Avenir Next"/>
                          <a:ea typeface="Avenir Next"/>
                          <a:cs typeface="Avenir Next"/>
                        </a:rPr>
                        <a:t>Hours 0–8</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MES scheduler</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Build 140 priority modules, then 20 standard modules. Park the remaining 160 standard units.</a:t>
                      </a:r>
                    </a:p>
                  </a:txBody>
                  <a:tcPr marL="133350" marR="133350" marT="76200" marB="57150" anchor="t">
                    <a:solidFill>
                      <a:srgbClr val="FFFFFF"/>
                    </a:solidFill>
                  </a:tcPr>
                </a:tc>
              </a:tr>
              <a:tr h="695325">
                <a:tc>
                  <a:txBody>
                    <a:bodyPr/>
                    <a:lstStyle/>
                    <a:p>
                      <a:r>
                        <a:rPr sz="1650" b="1">
                          <a:solidFill>
                            <a:srgbClr val="203047"/>
                          </a:solidFill>
                          <a:latin typeface="Avenir Next"/>
                          <a:ea typeface="Avenir Next"/>
                          <a:cs typeface="Avenir Next"/>
                        </a:rPr>
                        <a:t>Hours 8–26</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Shift supervisor + quality</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Approve the 2-hour, $600 setup. Build 160 independent service kits.</a:t>
                      </a:r>
                    </a:p>
                  </a:txBody>
                  <a:tcPr marL="133350" marR="133350" marT="76200" marB="57150" anchor="t">
                    <a:solidFill>
                      <a:srgbClr val="FFFFFF"/>
                    </a:solidFill>
                  </a:tcPr>
                </a:tc>
              </a:tr>
              <a:tr h="695325">
                <a:tc>
                  <a:txBody>
                    <a:bodyPr/>
                    <a:lstStyle/>
                    <a:p>
                      <a:r>
                        <a:rPr sz="1650" b="1">
                          <a:solidFill>
                            <a:srgbClr val="203047"/>
                          </a:solidFill>
                          <a:latin typeface="Avenir Next"/>
                          <a:ea typeface="Avenir Next"/>
                          <a:cs typeface="Avenir Next"/>
                        </a:rPr>
                        <a:t>Throughout</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Account owner + procurement</a:t>
                      </a:r>
                    </a:p>
                  </a:txBody>
                  <a:tcPr marL="133350" marR="133350" marT="76200" marB="57150" anchor="t">
                    <a:solidFill>
                      <a:srgbClr val="FFFFFF"/>
                    </a:solidFill>
                  </a:tcPr>
                </a:tc>
                <a:tc>
                  <a:txBody>
                    <a:bodyPr/>
                    <a:lstStyle/>
                    <a:p>
                      <a:r>
                        <a:rPr sz="1650" b="0">
                          <a:solidFill>
                            <a:srgbClr val="203047"/>
                          </a:solidFill>
                          <a:latin typeface="Avenir Next"/>
                          <a:ea typeface="Avenir Next"/>
                          <a:cs typeface="Avenir Next"/>
                        </a:rPr>
                        <a:t>Agree the late standard commitment. Keep the supplier restriction and receipt review open.</a:t>
                      </a:r>
                    </a:p>
                  </a:txBody>
                  <a:tcPr marL="133350" marR="133350" marT="76200" marB="57150" anchor="t">
                    <a:solidFill>
                      <a:srgbClr val="FFFFFF"/>
                    </a:solidFill>
                  </a:tcPr>
                </a:tc>
              </a:tr>
            </a:tbl>
          </a:graphicData>
        </a:graphic>
      </p:graphicFrame>
    </p:spTree>
    <p:extLst>
      <p:ext uri="{BB962C8B-B14F-4D97-AF65-F5344CB8AC3E}">
        <p14:creationId xmlns:p14="http://schemas.microsoft.com/office/powerpoint/2010/main" val="1459901535"/>
      </p:ext>
    </p:extLst>
  </p:cSld>
</p:sld>
</file>

<file path=ppt/slides/slide1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BB1A7BE-AD26-48C6-A46E-9095117DF4A0}"/>
              </a:ext>
            </a:extLst>
          </p:cNvPr>
          <p:cNvSpPr>
            <a:spLocks xmlns:a="http://schemas.openxmlformats.org/drawingml/2006/main" noGrp="1"/>
          </p:cNvSpPr>
          <p:nvPr/>
        </p:nvSpPr>
        <p:spPr>
          <a:xfrm xmlns:a="http://schemas.openxmlformats.org/drawingml/2006/main">
            <a:off x="0" y="0"/>
            <a:ext cx="12191695" cy="7429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F22523-EBAB-4A7F-B7F0-12037B78BDDD}"/>
              </a:ext>
            </a:extLst>
          </p:cNvPr>
          <p:cNvSpPr>
            <a:spLocks xmlns:a="http://schemas.openxmlformats.org/drawingml/2006/main" noGrp="1"/>
          </p:cNvSpPr>
          <p:nvPr/>
        </p:nvSpPr>
        <p:spPr>
          <a:xfrm xmlns:a="http://schemas.openxmlformats.org/drawingml/2006/main">
            <a:off x="0" y="733425"/>
            <a:ext cx="12191695" cy="9525"/>
          </a:xfrm>
          <a:prstGeom xmlns:a="http://schemas.openxmlformats.org/drawingml/2006/main" prst="rect">
            <a:avLst/>
          </a:prstGeom>
          <a:solidFill xmlns:a="http://schemas.openxmlformats.org/drawingml/2006/main">
            <a:srgbClr val="DCE3ED"/>
          </a:solidFill>
          <a:ln xmlns:a="http://schemas.openxmlformats.org/drawingml/2006/main" w="0">
            <a:noFill/>
          </a:ln>
        </p:spPr>
      </p:sp>
      <p:sp>
        <p:nvSpPr>
          <p:cNvPr id="3" name="Markov brand bar 1">
            <a:extLst xmlns:a="http://schemas.openxmlformats.org/drawingml/2006/main">
              <a:ext uri="{FF2B5EF4-FFF2-40B4-BE49-F238E27FC236}">
                <a16:creationId xmlns:a16="http://schemas.microsoft.com/office/drawing/2014/main" id="{5BB05C8D-EC67-43ED-83EC-B25E59BD5638}"/>
              </a:ext>
            </a:extLst>
          </p:cNvPr>
          <p:cNvSpPr>
            <a:spLocks xmlns:a="http://schemas.openxmlformats.org/drawingml/2006/main" noGrp="1"/>
          </p:cNvSpPr>
          <p:nvPr/>
        </p:nvSpPr>
        <p:spPr>
          <a:xfrm xmlns:a="http://schemas.openxmlformats.org/drawingml/2006/main">
            <a:off x="590550" y="249555"/>
            <a:ext cx="52388" cy="232874"/>
          </a:xfrm>
          <a:custGeom xmlns:a="http://schemas.openxmlformats.org/drawingml/2006/main">
            <a:pathLst>
              <a:path w="47625" h="211704">
                <a:moveTo>
                  <a:pt x="0" y="21204"/>
                </a:moveTo>
                <a:lnTo>
                  <a:pt x="47625" y="0"/>
                </a:lnTo>
                <a:lnTo>
                  <a:pt x="47625" y="190500"/>
                </a:lnTo>
                <a:lnTo>
                  <a:pt x="0" y="211704"/>
                </a:lnTo>
                <a:close/>
              </a:path>
            </a:pathLst>
          </a:custGeom>
          <a:solidFill xmlns:a="http://schemas.openxmlformats.org/drawingml/2006/main">
            <a:srgbClr val="203047"/>
          </a:solidFill>
          <a:ln xmlns:a="http://schemas.openxmlformats.org/drawingml/2006/main" w="0">
            <a:noFill/>
          </a:ln>
        </p:spPr>
      </p:sp>
      <p:sp>
        <p:nvSpPr>
          <p:cNvPr id="4" name="Markov brand bar 2">
            <a:extLst xmlns:a="http://schemas.openxmlformats.org/drawingml/2006/main">
              <a:ext uri="{FF2B5EF4-FFF2-40B4-BE49-F238E27FC236}">
                <a16:creationId xmlns:a16="http://schemas.microsoft.com/office/drawing/2014/main" id="{44CE1220-B029-490F-9DFC-659D45E8B29F}"/>
              </a:ext>
            </a:extLst>
          </p:cNvPr>
          <p:cNvSpPr>
            <a:spLocks xmlns:a="http://schemas.openxmlformats.org/drawingml/2006/main" noGrp="1"/>
          </p:cNvSpPr>
          <p:nvPr/>
        </p:nvSpPr>
        <p:spPr>
          <a:xfrm xmlns:a="http://schemas.openxmlformats.org/drawingml/2006/main">
            <a:off x="674370" y="286226"/>
            <a:ext cx="52388" cy="159532"/>
          </a:xfrm>
          <a:custGeom xmlns:a="http://schemas.openxmlformats.org/drawingml/2006/main">
            <a:pathLst>
              <a:path w="47625" h="145029">
                <a:moveTo>
                  <a:pt x="0" y="21204"/>
                </a:moveTo>
                <a:lnTo>
                  <a:pt x="47625" y="0"/>
                </a:lnTo>
                <a:lnTo>
                  <a:pt x="47625" y="123825"/>
                </a:lnTo>
                <a:lnTo>
                  <a:pt x="0" y="145029"/>
                </a:lnTo>
                <a:close/>
              </a:path>
            </a:pathLst>
          </a:custGeom>
          <a:solidFill xmlns:a="http://schemas.openxmlformats.org/drawingml/2006/main">
            <a:srgbClr val="285BD0"/>
          </a:solidFill>
          <a:ln xmlns:a="http://schemas.openxmlformats.org/drawingml/2006/main" w="0">
            <a:noFill/>
          </a:ln>
        </p:spPr>
      </p:sp>
      <p:sp>
        <p:nvSpPr>
          <p:cNvPr id="5" name="Markov brand bar 3">
            <a:extLst xmlns:a="http://schemas.openxmlformats.org/drawingml/2006/main">
              <a:ext uri="{FF2B5EF4-FFF2-40B4-BE49-F238E27FC236}">
                <a16:creationId xmlns:a16="http://schemas.microsoft.com/office/drawing/2014/main" id="{D469F990-7A8F-4706-8A7D-473DD1943ADC}"/>
              </a:ext>
            </a:extLst>
          </p:cNvPr>
          <p:cNvSpPr>
            <a:spLocks xmlns:a="http://schemas.openxmlformats.org/drawingml/2006/main" noGrp="1"/>
          </p:cNvSpPr>
          <p:nvPr/>
        </p:nvSpPr>
        <p:spPr>
          <a:xfrm xmlns:a="http://schemas.openxmlformats.org/drawingml/2006/main">
            <a:off x="758190" y="228600"/>
            <a:ext cx="52388" cy="274784"/>
          </a:xfrm>
          <a:custGeom xmlns:a="http://schemas.openxmlformats.org/drawingml/2006/main">
            <a:pathLst>
              <a:path w="47625" h="249804">
                <a:moveTo>
                  <a:pt x="0" y="21204"/>
                </a:moveTo>
                <a:lnTo>
                  <a:pt x="47625" y="0"/>
                </a:lnTo>
                <a:lnTo>
                  <a:pt x="47625" y="228600"/>
                </a:lnTo>
                <a:lnTo>
                  <a:pt x="0" y="249804"/>
                </a:lnTo>
                <a:close/>
              </a:path>
            </a:pathLst>
          </a:custGeom>
          <a:solidFill xmlns:a="http://schemas.openxmlformats.org/drawingml/2006/main">
            <a:srgbClr val="203047"/>
          </a:solidFill>
          <a:ln xmlns:a="http://schemas.openxmlformats.org/drawingml/2006/main" w="0">
            <a:noFill/>
          </a:ln>
        </p:spPr>
      </p:sp>
      <p:sp>
        <p:nvSpPr>
          <p:cNvPr id="6" name="Markov">
            <a:extLst xmlns:a="http://schemas.openxmlformats.org/drawingml/2006/main">
              <a:ext uri="{FF2B5EF4-FFF2-40B4-BE49-F238E27FC236}">
                <a16:creationId xmlns:a16="http://schemas.microsoft.com/office/drawing/2014/main" id="{13E4D4A9-01B1-415C-883D-AB19E4822C9C}"/>
              </a:ext>
            </a:extLst>
          </p:cNvPr>
          <p:cNvSpPr>
            <a:spLocks xmlns:a="http://schemas.openxmlformats.org/drawingml/2006/main" noGrp="1"/>
          </p:cNvSpPr>
          <p:nvPr/>
        </p:nvSpPr>
        <p:spPr>
          <a:xfrm xmlns:a="http://schemas.openxmlformats.org/drawingml/2006/main">
            <a:off x="952500" y="2095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203047"/>
                </a:solidFill>
                <a:latin typeface="Avenir Next"/>
                <a:ea typeface="Avenir Next"/>
                <a:cs typeface="Avenir Next"/>
              </a:defRPr>
            </a:pPr>
            <a:r>
              <a:rPr sz="2250" b="1">
                <a:solidFill>
                  <a:srgbClr val="203047"/>
                </a:solidFill>
                <a:latin typeface="Avenir Next"/>
                <a:ea typeface="Avenir Next"/>
                <a:cs typeface="Avenir Next"/>
              </a:rPr>
              <a:t>Markov</a:t>
            </a:r>
          </a:p>
        </p:txBody>
      </p:sp>
      <p:sp>
        <p:nvSpPr>
          <p:cNvPr id="7" name="13 / 13">
            <a:extLst xmlns:a="http://schemas.openxmlformats.org/drawingml/2006/main">
              <a:ext uri="{FF2B5EF4-FFF2-40B4-BE49-F238E27FC236}">
                <a16:creationId xmlns:a16="http://schemas.microsoft.com/office/drawing/2014/main" id="{B2166C40-0731-4971-B0D6-FB345241D0AD}"/>
              </a:ext>
            </a:extLst>
          </p:cNvPr>
          <p:cNvSpPr>
            <a:spLocks xmlns:a="http://schemas.openxmlformats.org/drawingml/2006/main" noGrp="1"/>
          </p:cNvSpPr>
          <p:nvPr/>
        </p:nvSpPr>
        <p:spPr>
          <a:xfrm xmlns:a="http://schemas.openxmlformats.org/drawingml/2006/main">
            <a:off x="10648950" y="25717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779"/>
                </a:solidFill>
                <a:latin typeface="Avenir Next"/>
                <a:ea typeface="Avenir Next"/>
                <a:cs typeface="Avenir Next"/>
              </a:defRPr>
            </a:pPr>
            <a:r>
              <a:rPr sz="1200" b="0">
                <a:solidFill>
                  <a:srgbClr val="596779"/>
                </a:solidFill>
                <a:latin typeface="Avenir Next"/>
                <a:ea typeface="Avenir Next"/>
                <a:cs typeface="Avenir Next"/>
              </a:rPr>
              <a:t>13 / 13</a:t>
            </a:r>
          </a:p>
        </p:txBody>
      </p:sp>
      <p:sp>
        <p:nvSpPr>
          <p:cNvPr id="8" name="Three conditions. One product across industries.">
            <a:extLst xmlns:a="http://schemas.openxmlformats.org/drawingml/2006/main">
              <a:ext uri="{FF2B5EF4-FFF2-40B4-BE49-F238E27FC236}">
                <a16:creationId xmlns:a16="http://schemas.microsoft.com/office/drawing/2014/main" id="{68E99545-4BCD-42D4-B225-7D2F97370D95}"/>
              </a:ext>
            </a:extLst>
          </p:cNvPr>
          <p:cNvSpPr>
            <a:spLocks xmlns:a="http://schemas.openxmlformats.org/drawingml/2006/main" noGrp="1"/>
          </p:cNvSpPr>
          <p:nvPr/>
        </p:nvSpPr>
        <p:spPr>
          <a:xfrm xmlns:a="http://schemas.openxmlformats.org/drawingml/2006/main">
            <a:off x="590550" y="106680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3047"/>
                </a:solidFill>
                <a:latin typeface="Avenir Next"/>
                <a:ea typeface="Avenir Next"/>
                <a:cs typeface="Avenir Next"/>
              </a:defRPr>
            </a:pPr>
            <a:r>
              <a:rPr sz="3225" b="1">
                <a:solidFill>
                  <a:srgbClr val="203047"/>
                </a:solidFill>
                <a:latin typeface="Avenir Next"/>
                <a:ea typeface="Avenir Next"/>
                <a:cs typeface="Avenir Next"/>
              </a:rPr>
              <a:t>Three conditions. One product across industries.</a:t>
            </a:r>
          </a:p>
        </p:txBody>
      </p:sp>
      <p:sp>
        <p:nvSpPr>
          <p:cNvPr id="9" name="Defense makes the constraints clear. The architecture also s">
            <a:extLst xmlns:a="http://schemas.openxmlformats.org/drawingml/2006/main">
              <a:ext uri="{FF2B5EF4-FFF2-40B4-BE49-F238E27FC236}">
                <a16:creationId xmlns:a16="http://schemas.microsoft.com/office/drawing/2014/main" id="{FDD93D33-442D-4F4F-83AE-E8E8CFD47E13}"/>
              </a:ext>
            </a:extLst>
          </p:cNvPr>
          <p:cNvSpPr>
            <a:spLocks xmlns:a="http://schemas.openxmlformats.org/drawingml/2006/main" noGrp="1"/>
          </p:cNvSpPr>
          <p:nvPr/>
        </p:nvSpPr>
        <p:spPr>
          <a:xfrm xmlns:a="http://schemas.openxmlformats.org/drawingml/2006/main">
            <a:off x="590550" y="191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Defense makes the constraints clear. The architecture also serves broader corporate operations.</a:t>
            </a:r>
          </a:p>
        </p:txBody>
      </p:sp>
      <p:sp>
        <p:nvSpPr>
          <p:cNvPr id="10" name="Insert an event, let the agent find it, and review the respo">
            <a:extLst xmlns:a="http://schemas.openxmlformats.org/drawingml/2006/main">
              <a:ext uri="{FF2B5EF4-FFF2-40B4-BE49-F238E27FC236}">
                <a16:creationId xmlns:a16="http://schemas.microsoft.com/office/drawing/2014/main" id="{FBC7C28E-42CB-4705-94BD-7EFAF1BB42CD}"/>
              </a:ext>
            </a:extLst>
          </p:cNvPr>
          <p:cNvSpPr>
            <a:spLocks xmlns:a="http://schemas.openxmlformats.org/drawingml/2006/main" noGrp="1"/>
          </p:cNvSpPr>
          <p:nvPr/>
        </p:nvSpPr>
        <p:spPr>
          <a:xfrm xmlns:a="http://schemas.openxmlformats.org/drawingml/2006/main">
            <a:off x="590550" y="62960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596779"/>
                </a:solidFill>
                <a:latin typeface="Avenir Next"/>
                <a:ea typeface="Avenir Next"/>
                <a:cs typeface="Avenir Next"/>
              </a:defRPr>
            </a:pPr>
            <a:r>
              <a:rPr sz="1125" b="0">
                <a:solidFill>
                  <a:srgbClr val="596779"/>
                </a:solidFill>
                <a:latin typeface="Avenir Next"/>
                <a:ea typeface="Avenir Next"/>
                <a:cs typeface="Avenir Next"/>
              </a:rPr>
              <a:t>Insert an event, let the agent find it, and review the response with the people responsible.</a:t>
            </a:r>
          </a:p>
        </p:txBody>
      </p:sp>
      <p:sp>
        <p:nvSpPr>
          <p:cNvPr id="11" name="A dependency graph">
            <a:extLst xmlns:a="http://schemas.openxmlformats.org/drawingml/2006/main">
              <a:ext uri="{FF2B5EF4-FFF2-40B4-BE49-F238E27FC236}">
                <a16:creationId xmlns:a16="http://schemas.microsoft.com/office/drawing/2014/main" id="{659DC24F-21AC-4DC0-B4E9-D6C224DCAE82}"/>
              </a:ext>
            </a:extLst>
          </p:cNvPr>
          <p:cNvSpPr>
            <a:spLocks xmlns:a="http://schemas.openxmlformats.org/drawingml/2006/main" noGrp="1"/>
          </p:cNvSpPr>
          <p:nvPr/>
        </p:nvSpPr>
        <p:spPr>
          <a:xfrm xmlns:a="http://schemas.openxmlformats.org/drawingml/2006/main">
            <a:off x="590550" y="2771775"/>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A dependency graph</a:t>
            </a:r>
          </a:p>
        </p:txBody>
      </p:sp>
      <p:sp>
        <p:nvSpPr>
          <p:cNvPr id="12" name="Parts, suppliers, assets, or services depend on one another ">
            <a:extLst xmlns:a="http://schemas.openxmlformats.org/drawingml/2006/main">
              <a:ext uri="{FF2B5EF4-FFF2-40B4-BE49-F238E27FC236}">
                <a16:creationId xmlns:a16="http://schemas.microsoft.com/office/drawing/2014/main" id="{B55A82DB-8F58-4510-953D-253F564835BC}"/>
              </a:ext>
            </a:extLst>
          </p:cNvPr>
          <p:cNvSpPr>
            <a:spLocks xmlns:a="http://schemas.openxmlformats.org/drawingml/2006/main" noGrp="1"/>
          </p:cNvSpPr>
          <p:nvPr/>
        </p:nvSpPr>
        <p:spPr>
          <a:xfrm xmlns:a="http://schemas.openxmlformats.org/drawingml/2006/main">
            <a:off x="590550" y="3524250"/>
            <a:ext cx="34353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Parts, suppliers, assets, or services depend on one another across several layers.</a:t>
            </a:r>
          </a:p>
        </p:txBody>
      </p:sp>
      <p:sp>
        <p:nvSpPr>
          <p:cNvPr id="13" name="Events that invalidate plans">
            <a:extLst xmlns:a="http://schemas.openxmlformats.org/drawingml/2006/main">
              <a:ext uri="{FF2B5EF4-FFF2-40B4-BE49-F238E27FC236}">
                <a16:creationId xmlns:a16="http://schemas.microsoft.com/office/drawing/2014/main" id="{0C095620-21B7-4E5C-8580-BF3CDF287AD9}"/>
              </a:ext>
            </a:extLst>
          </p:cNvPr>
          <p:cNvSpPr>
            <a:spLocks xmlns:a="http://schemas.openxmlformats.org/drawingml/2006/main" noGrp="1"/>
          </p:cNvSpPr>
          <p:nvPr/>
        </p:nvSpPr>
        <p:spPr>
          <a:xfrm xmlns:a="http://schemas.openxmlformats.org/drawingml/2006/main">
            <a:off x="4349750" y="2771775"/>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Events that invalidate plans</a:t>
            </a:r>
          </a:p>
        </p:txBody>
      </p:sp>
      <p:sp>
        <p:nvSpPr>
          <p:cNvPr id="14" name="The standing schedule or commitment becomes impossible and s">
            <a:extLst xmlns:a="http://schemas.openxmlformats.org/drawingml/2006/main">
              <a:ext uri="{FF2B5EF4-FFF2-40B4-BE49-F238E27FC236}">
                <a16:creationId xmlns:a16="http://schemas.microsoft.com/office/drawing/2014/main" id="{CF76AB98-4B70-44BF-900D-3528C0D0D047}"/>
              </a:ext>
            </a:extLst>
          </p:cNvPr>
          <p:cNvSpPr>
            <a:spLocks xmlns:a="http://schemas.openxmlformats.org/drawingml/2006/main" noGrp="1"/>
          </p:cNvSpPr>
          <p:nvPr/>
        </p:nvSpPr>
        <p:spPr>
          <a:xfrm xmlns:a="http://schemas.openxmlformats.org/drawingml/2006/main">
            <a:off x="4349750" y="3524250"/>
            <a:ext cx="34353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The standing schedule or commitment becomes impossible and someone must choose a replacement.</a:t>
            </a:r>
          </a:p>
        </p:txBody>
      </p:sp>
      <p:sp>
        <p:nvSpPr>
          <p:cNvPr id="15" name="Sensitive operational data">
            <a:extLst xmlns:a="http://schemas.openxmlformats.org/drawingml/2006/main">
              <a:ext uri="{FF2B5EF4-FFF2-40B4-BE49-F238E27FC236}">
                <a16:creationId xmlns:a16="http://schemas.microsoft.com/office/drawing/2014/main" id="{25BE5F68-754F-48CF-9A63-99A8B36F9BF7}"/>
              </a:ext>
            </a:extLst>
          </p:cNvPr>
          <p:cNvSpPr>
            <a:spLocks xmlns:a="http://schemas.openxmlformats.org/drawingml/2006/main" noGrp="1"/>
          </p:cNvSpPr>
          <p:nvPr/>
        </p:nvSpPr>
        <p:spPr>
          <a:xfrm xmlns:a="http://schemas.openxmlformats.org/drawingml/2006/main">
            <a:off x="8108950" y="2771775"/>
            <a:ext cx="3435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03047"/>
                </a:solidFill>
                <a:latin typeface="Avenir Next"/>
                <a:ea typeface="Avenir Next"/>
                <a:cs typeface="Avenir Next"/>
              </a:defRPr>
            </a:pPr>
            <a:r>
              <a:rPr sz="1875" b="1">
                <a:solidFill>
                  <a:srgbClr val="203047"/>
                </a:solidFill>
                <a:latin typeface="Avenir Next"/>
                <a:ea typeface="Avenir Next"/>
                <a:cs typeface="Avenir Next"/>
              </a:rPr>
              <a:t>Sensitive operational data</a:t>
            </a:r>
          </a:p>
        </p:txBody>
      </p:sp>
      <p:sp>
        <p:nvSpPr>
          <p:cNvPr id="16" name="Law, contracts, or commercial priorities favor keeping the g">
            <a:extLst xmlns:a="http://schemas.openxmlformats.org/drawingml/2006/main">
              <a:ext uri="{FF2B5EF4-FFF2-40B4-BE49-F238E27FC236}">
                <a16:creationId xmlns:a16="http://schemas.microsoft.com/office/drawing/2014/main" id="{1D5BD476-7990-4BF2-8000-8161F81C1ECC}"/>
              </a:ext>
            </a:extLst>
          </p:cNvPr>
          <p:cNvSpPr>
            <a:spLocks xmlns:a="http://schemas.openxmlformats.org/drawingml/2006/main" noGrp="1"/>
          </p:cNvSpPr>
          <p:nvPr/>
        </p:nvSpPr>
        <p:spPr>
          <a:xfrm xmlns:a="http://schemas.openxmlformats.org/drawingml/2006/main">
            <a:off x="8108950" y="3524250"/>
            <a:ext cx="34353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779"/>
                </a:solidFill>
                <a:latin typeface="Avenir Next"/>
                <a:ea typeface="Avenir Next"/>
                <a:cs typeface="Avenir Next"/>
              </a:defRPr>
            </a:pPr>
            <a:r>
              <a:rPr sz="1725" b="0">
                <a:solidFill>
                  <a:srgbClr val="596779"/>
                </a:solidFill>
                <a:latin typeface="Avenir Next"/>
                <a:ea typeface="Avenir Next"/>
                <a:cs typeface="Avenir Next"/>
              </a:rPr>
              <a:t>Law, contracts, or commercial priorities favor keeping the graph and reasoning under company control.</a:t>
            </a:r>
          </a:p>
        </p:txBody>
      </p:sp>
      <p:sp>
        <p:nvSpPr>
          <p:cNvPr id="17" name="">
            <a:extLst xmlns:a="http://schemas.openxmlformats.org/drawingml/2006/main">
              <a:ext uri="{FF2B5EF4-FFF2-40B4-BE49-F238E27FC236}">
                <a16:creationId xmlns:a16="http://schemas.microsoft.com/office/drawing/2014/main" id="{D7E8FD84-3B57-4FED-8889-70256A751B95}"/>
              </a:ext>
            </a:extLst>
          </p:cNvPr>
          <p:cNvSpPr>
            <a:spLocks xmlns:a="http://schemas.openxmlformats.org/drawingml/2006/main" noGrp="1"/>
          </p:cNvSpPr>
          <p:nvPr/>
        </p:nvSpPr>
        <p:spPr>
          <a:xfrm xmlns:a="http://schemas.openxmlformats.org/drawingml/2006/main">
            <a:off x="590550" y="5305425"/>
            <a:ext cx="10953750" cy="742950"/>
          </a:xfrm>
          <a:prstGeom xmlns:a="http://schemas.openxmlformats.org/drawingml/2006/main" prst="roundRect">
            <a:avLst>
              <a:gd name="adj" fmla="val 11538"/>
            </a:avLst>
          </a:prstGeom>
          <a:solidFill xmlns:a="http://schemas.openxmlformats.org/drawingml/2006/main">
            <a:srgbClr val="203047"/>
          </a:solidFill>
          <a:ln xmlns:a="http://schemas.openxmlformats.org/drawingml/2006/main" w="0">
            <a:noFill/>
          </a:ln>
        </p:spPr>
      </p:sp>
      <p:sp>
        <p:nvSpPr>
          <p:cNvPr id="18" name="Pharmaceuticals   ·   Semiconductors   ·   Energy">
            <a:extLst xmlns:a="http://schemas.openxmlformats.org/drawingml/2006/main">
              <a:ext uri="{FF2B5EF4-FFF2-40B4-BE49-F238E27FC236}">
                <a16:creationId xmlns:a16="http://schemas.microsoft.com/office/drawing/2014/main" id="{72FC9700-2EA5-440B-91A9-0A111553F5FF}"/>
              </a:ext>
            </a:extLst>
          </p:cNvPr>
          <p:cNvSpPr>
            <a:spLocks xmlns:a="http://schemas.openxmlformats.org/drawingml/2006/main" noGrp="1"/>
          </p:cNvSpPr>
          <p:nvPr/>
        </p:nvSpPr>
        <p:spPr>
          <a:xfrm xmlns:a="http://schemas.openxmlformats.org/drawingml/2006/main">
            <a:off x="800100" y="5429250"/>
            <a:ext cx="10525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Avenir Next"/>
                <a:ea typeface="Avenir Next"/>
                <a:cs typeface="Avenir Next"/>
              </a:defRPr>
            </a:pPr>
            <a:r>
              <a:rPr sz="1800" b="1">
                <a:solidFill>
                  <a:srgbClr val="FFFFFF"/>
                </a:solidFill>
                <a:latin typeface="Avenir Next"/>
                <a:ea typeface="Avenir Next"/>
                <a:cs typeface="Avenir Next"/>
              </a:rPr>
              <a:t>Pharmaceuticals   ·   Semiconductors   ·   Energy</a:t>
            </a:r>
          </a:p>
        </p:txBody>
      </p:sp>
      <p:sp>
        <p:nvSpPr>
          <p:cNvPr id="19" name="Hospital systems   ·   Banking   ·   Manufacturing">
            <a:extLst xmlns:a="http://schemas.openxmlformats.org/drawingml/2006/main">
              <a:ext uri="{FF2B5EF4-FFF2-40B4-BE49-F238E27FC236}">
                <a16:creationId xmlns:a16="http://schemas.microsoft.com/office/drawing/2014/main" id="{2D7ABC0E-9E05-451A-ADF8-F5EB48A91BE6}"/>
              </a:ext>
            </a:extLst>
          </p:cNvPr>
          <p:cNvSpPr>
            <a:spLocks xmlns:a="http://schemas.openxmlformats.org/drawingml/2006/main" noGrp="1"/>
          </p:cNvSpPr>
          <p:nvPr/>
        </p:nvSpPr>
        <p:spPr>
          <a:xfrm xmlns:a="http://schemas.openxmlformats.org/drawingml/2006/main">
            <a:off x="800100" y="57816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D2DEF0"/>
                </a:solidFill>
                <a:latin typeface="Avenir Next"/>
                <a:ea typeface="Avenir Next"/>
                <a:cs typeface="Avenir Next"/>
              </a:defRPr>
            </a:pPr>
            <a:r>
              <a:rPr sz="1575" b="0">
                <a:solidFill>
                  <a:srgbClr val="D2DEF0"/>
                </a:solidFill>
                <a:latin typeface="Avenir Next"/>
                <a:ea typeface="Avenir Next"/>
                <a:cs typeface="Avenir Next"/>
              </a:rPr>
              <a:t>Hospital systems   ·   Banking   ·   Manufacturing</a:t>
            </a:r>
          </a:p>
        </p:txBody>
      </p:sp>
    </p:spTree>
    <p:extLst>
      <p:ext uri="{BB962C8B-B14F-4D97-AF65-F5344CB8AC3E}">
        <p14:creationId xmlns:p14="http://schemas.microsoft.com/office/powerpoint/2010/main" val="13855361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2026-09-12T21:05:14.1620000Z</dcterms:created>
  <dcterms:modified xsi:type="dcterms:W3CDTF">2026-09-12T21:05:14.1620000Z</dcterms:modified>
</coreProperties>
</file>