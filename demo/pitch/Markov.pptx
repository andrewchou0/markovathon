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Rectangle 3"/>
          <p:cNvSpPr/>
          <p:nvPr/>
        </p:nvSpPr>
        <p:spPr>
          <a:xfrm>
            <a:off x="658368" y="731520"/>
            <a:ext cx="68580" cy="201168"/>
          </a:xfrm>
          <a:prstGeom prst="rect">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3524" y="621792"/>
            <a:ext cx="68580" cy="310896"/>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512064"/>
            <a:ext cx="68580" cy="420624"/>
          </a:xfrm>
          <a:prstGeom prst="rect">
            <a:avLst/>
          </a:prstGeom>
          <a:solidFill>
            <a:srgbClr val="E3C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3836" y="402336"/>
            <a:ext cx="68580" cy="530352"/>
          </a:xfrm>
          <a:prstGeom prst="rect">
            <a:avLst/>
          </a:prstGeom>
          <a:solidFill>
            <a:srgbClr val="D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 y="475488"/>
            <a:ext cx="2743200" cy="502920"/>
          </a:xfrm>
          <a:prstGeom prst="rect">
            <a:avLst/>
          </a:prstGeom>
          <a:noFill/>
        </p:spPr>
        <p:txBody>
          <a:bodyPr wrap="square" lIns="0" rIns="0" tIns="0" bIns="0">
            <a:spAutoFit/>
          </a:bodyPr>
          <a:lstStyle/>
          <a:p>
            <a:pPr algn="l"/>
            <a:r>
              <a:rPr sz="3200" b="1" spc="100">
                <a:solidFill>
                  <a:srgbClr val="E8EAE3"/>
                </a:solidFill>
                <a:latin typeface="Arial Narrow"/>
              </a:rPr>
              <a:t>MARKOV</a:t>
            </a:r>
          </a:p>
        </p:txBody>
      </p:sp>
      <p:sp>
        <p:nvSpPr>
          <p:cNvPr id="9" name="Rectangle 8"/>
          <p:cNvSpPr/>
          <p:nvPr/>
        </p:nvSpPr>
        <p:spPr>
          <a:xfrm>
            <a:off x="2807208" y="548640"/>
            <a:ext cx="3200400" cy="292608"/>
          </a:xfrm>
          <a:prstGeom prst="rect">
            <a:avLst/>
          </a:prstGeom>
          <a:noFill/>
          <a:ln w="12700">
            <a:solidFill>
              <a:srgbClr val="8E713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spc="140">
                <a:solidFill>
                  <a:srgbClr val="C8A04A"/>
                </a:solidFill>
                <a:latin typeface="Consolas"/>
              </a:rPr>
              <a:t>BUILT IN ONE DAY  ·  GB10  ·  NO CLOUD API</a:t>
            </a:r>
          </a:p>
        </p:txBody>
      </p:sp>
      <p:sp>
        <p:nvSpPr>
          <p:cNvPr id="10" name="TextBox 9"/>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01   WHY WE BUILT THIS   / 11</a:t>
            </a:r>
          </a:p>
        </p:txBody>
      </p:sp>
      <p:sp>
        <p:nvSpPr>
          <p:cNvPr id="11" name="TextBox 10"/>
          <p:cNvSpPr txBox="1"/>
          <p:nvPr/>
        </p:nvSpPr>
        <p:spPr>
          <a:xfrm>
            <a:off x="658368" y="1371600"/>
            <a:ext cx="10874959" cy="658368"/>
          </a:xfrm>
          <a:prstGeom prst="rect">
            <a:avLst/>
          </a:prstGeom>
          <a:noFill/>
        </p:spPr>
        <p:txBody>
          <a:bodyPr wrap="square" lIns="0" rIns="0" tIns="0" bIns="0">
            <a:spAutoFit/>
          </a:bodyPr>
          <a:lstStyle/>
          <a:p>
            <a:pPr algn="l">
              <a:lnSpc>
                <a:spcPct val="95000"/>
              </a:lnSpc>
            </a:pPr>
            <a:r>
              <a:rPr sz="4000" b="1">
                <a:solidFill>
                  <a:srgbClr val="E8EAE3"/>
                </a:solidFill>
                <a:latin typeface="Arial Narrow"/>
              </a:rPr>
              <a:t>EVERYONE SHIPPED A CLOUD AGENT.</a:t>
            </a:r>
          </a:p>
        </p:txBody>
      </p:sp>
      <p:sp>
        <p:nvSpPr>
          <p:cNvPr id="12" name="TextBox 11"/>
          <p:cNvSpPr txBox="1"/>
          <p:nvPr/>
        </p:nvSpPr>
        <p:spPr>
          <a:xfrm>
            <a:off x="658368" y="1975104"/>
            <a:ext cx="10874959" cy="1371600"/>
          </a:xfrm>
          <a:prstGeom prst="rect">
            <a:avLst/>
          </a:prstGeom>
          <a:noFill/>
        </p:spPr>
        <p:txBody>
          <a:bodyPr wrap="square" lIns="0" rIns="0" tIns="0" bIns="0">
            <a:spAutoFit/>
          </a:bodyPr>
          <a:lstStyle/>
          <a:p>
            <a:pPr algn="l">
              <a:lnSpc>
                <a:spcPct val="95000"/>
              </a:lnSpc>
            </a:pPr>
            <a:r>
              <a:rPr sz="4000" b="1">
                <a:solidFill>
                  <a:srgbClr val="C8A04A"/>
                </a:solidFill>
                <a:latin typeface="Arial Narrow"/>
              </a:rPr>
              <a:t>THE PEOPLE WHO NEED ONE MOST ARE NOT ALLOWED TO USE IT.</a:t>
            </a:r>
          </a:p>
        </p:txBody>
      </p:sp>
      <p:sp>
        <p:nvSpPr>
          <p:cNvPr id="13" name="TextBox 12"/>
          <p:cNvSpPr txBox="1"/>
          <p:nvPr/>
        </p:nvSpPr>
        <p:spPr>
          <a:xfrm>
            <a:off x="658368" y="3566160"/>
            <a:ext cx="6766560" cy="365760"/>
          </a:xfrm>
          <a:prstGeom prst="rect">
            <a:avLst/>
          </a:prstGeom>
          <a:noFill/>
        </p:spPr>
        <p:txBody>
          <a:bodyPr wrap="square" lIns="0" rIns="0" tIns="0" bIns="0">
            <a:spAutoFit/>
          </a:bodyPr>
          <a:lstStyle/>
          <a:p>
            <a:pPr>
              <a:lnSpc>
                <a:spcPct val="135000"/>
              </a:lnSpc>
              <a:spcAft>
                <a:spcPts val="1200"/>
              </a:spcAft>
            </a:pPr>
            <a:r>
              <a:rPr sz="1400" b="0">
                <a:solidFill>
                  <a:srgbClr val="C3C8BA"/>
                </a:solidFill>
                <a:latin typeface="Georgia"/>
              </a:rPr>
              <a:t>This year every useful AI agent became a request to somebody else's datacenter. That is fine if you sell shoes. The American defense industrial base cannot send a supplier list, a part number, or a program schedule to a commercial model — not as policy, as law.</a:t>
            </a:r>
          </a:p>
          <a:p>
            <a:pPr>
              <a:lnSpc>
                <a:spcPct val="135000"/>
              </a:lnSpc>
              <a:spcAft>
                <a:spcPts val="800"/>
              </a:spcAft>
            </a:pPr>
            <a:r>
              <a:rPr sz="1400" b="0">
                <a:solidFill>
                  <a:srgbClr val="C3C8BA"/>
                </a:solidFill>
                <a:latin typeface="Georgia"/>
              </a:rPr>
              <a:t>So the organizations carrying the most fragile supply chains in the country were handed exactly none of this decade's tooling. We built the agent they are permitted to run: it never leaves the machine it is installed on.</a:t>
            </a:r>
          </a:p>
        </p:txBody>
      </p:sp>
      <p:sp>
        <p:nvSpPr>
          <p:cNvPr id="14" name="TextBox 13"/>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GOVERNING INSTRUMENTS: DFARS 252.204-7012 · NIST SP 800-171 · CMMC 2.0 · ITAR 22 CFR 120-130</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02   NAMING IT PROPERLY   / 11</a:t>
            </a:r>
          </a:p>
        </p:txBody>
      </p:sp>
      <p:sp>
        <p:nvSpPr>
          <p:cNvPr id="5" name="TextBox 4"/>
          <p:cNvSpPr txBox="1"/>
          <p:nvPr/>
        </p:nvSpPr>
        <p:spPr>
          <a:xfrm>
            <a:off x="658368" y="932688"/>
            <a:ext cx="10874959" cy="1097280"/>
          </a:xfrm>
          <a:prstGeom prst="rect">
            <a:avLst/>
          </a:prstGeom>
          <a:noFill/>
        </p:spPr>
        <p:txBody>
          <a:bodyPr wrap="square" lIns="0" rIns="0" tIns="0" bIns="0">
            <a:spAutoFit/>
          </a:bodyPr>
          <a:lstStyle/>
          <a:p>
            <a:pPr algn="l">
              <a:lnSpc>
                <a:spcPct val="95000"/>
              </a:lnSpc>
            </a:pPr>
            <a:r>
              <a:rPr sz="3300" b="1">
                <a:solidFill>
                  <a:srgbClr val="E8EAE3"/>
                </a:solidFill>
                <a:latin typeface="Arial Narrow"/>
              </a:rPr>
              <a:t>WE DO NOT BUILD FOR "DISRUPTIONS." A DISRUPTION IS WEATHER.</a:t>
            </a:r>
          </a:p>
        </p:txBody>
      </p:sp>
      <p:sp>
        <p:nvSpPr>
          <p:cNvPr id="6" name="Rectangle 5"/>
          <p:cNvSpPr/>
          <p:nvPr/>
        </p:nvSpPr>
        <p:spPr>
          <a:xfrm>
            <a:off x="658368" y="2121408"/>
            <a:ext cx="10874959" cy="137160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121408"/>
            <a:ext cx="38100" cy="137160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2340864"/>
            <a:ext cx="10234879" cy="365760"/>
          </a:xfrm>
          <a:prstGeom prst="rect">
            <a:avLst/>
          </a:prstGeom>
          <a:noFill/>
        </p:spPr>
        <p:txBody>
          <a:bodyPr wrap="square" lIns="0" rIns="0" tIns="0" bIns="0">
            <a:spAutoFit/>
          </a:bodyPr>
          <a:lstStyle/>
          <a:p>
            <a:pPr algn="l"/>
            <a:r>
              <a:rPr sz="2300" b="1">
                <a:solidFill>
                  <a:srgbClr val="E3C483"/>
                </a:solidFill>
                <a:latin typeface="Arial Narrow"/>
              </a:rPr>
              <a:t>PLAN-INVALIDATING EVENT</a:t>
            </a:r>
          </a:p>
        </p:txBody>
      </p:sp>
      <p:sp>
        <p:nvSpPr>
          <p:cNvPr id="9" name="TextBox 8"/>
          <p:cNvSpPr txBox="1"/>
          <p:nvPr/>
        </p:nvSpPr>
        <p:spPr>
          <a:xfrm>
            <a:off x="969264" y="2779776"/>
            <a:ext cx="10234879" cy="640080"/>
          </a:xfrm>
          <a:prstGeom prst="rect">
            <a:avLst/>
          </a:prstGeom>
          <a:noFill/>
        </p:spPr>
        <p:txBody>
          <a:bodyPr wrap="square" lIns="0" rIns="0" tIns="0" bIns="0">
            <a:spAutoFit/>
          </a:bodyPr>
          <a:lstStyle/>
          <a:p>
            <a:pPr algn="l">
              <a:lnSpc>
                <a:spcPct val="135000"/>
              </a:lnSpc>
            </a:pPr>
            <a:r>
              <a:rPr sz="1500" b="0">
                <a:solidFill>
                  <a:srgbClr val="E8EAE3"/>
                </a:solidFill>
                <a:latin typeface="Georgia"/>
              </a:rPr>
              <a:t>Any event that makes the plan you are currently executing impossible to execute as written — and therefore obliges someone to decide, quickly, what replaces it.</a:t>
            </a:r>
          </a:p>
        </p:txBody>
      </p:sp>
      <p:sp>
        <p:nvSpPr>
          <p:cNvPr id="10" name="TextBox 9"/>
          <p:cNvSpPr txBox="1"/>
          <p:nvPr/>
        </p:nvSpPr>
        <p:spPr>
          <a:xfrm>
            <a:off x="658368" y="3730752"/>
            <a:ext cx="7863840" cy="365760"/>
          </a:xfrm>
          <a:prstGeom prst="rect">
            <a:avLst/>
          </a:prstGeom>
          <a:noFill/>
        </p:spPr>
        <p:txBody>
          <a:bodyPr wrap="square" lIns="0" rIns="0" tIns="0" bIns="0">
            <a:spAutoFit/>
          </a:bodyPr>
          <a:lstStyle/>
          <a:p>
            <a:pPr>
              <a:lnSpc>
                <a:spcPct val="135000"/>
              </a:lnSpc>
              <a:spcAft>
                <a:spcPts val="800"/>
              </a:spcAft>
            </a:pPr>
            <a:r>
              <a:rPr sz="1400" b="0">
                <a:solidFill>
                  <a:srgbClr val="C3C8BA"/>
                </a:solidFill>
                <a:latin typeface="Georgia"/>
              </a:rPr>
              <a:t>The distinction is not stylistic. “Disruption” describes a condition in the world. A plan-invalidating event describes a state change in your obligations: a schedule you can no longer meet, a delivery you can no longer promise, a clause you are now in breach of.</a:t>
            </a:r>
          </a:p>
        </p:txBody>
      </p:sp>
      <p:sp>
        <p:nvSpPr>
          <p:cNvPr id="11" name="TextBox 10"/>
          <p:cNvSpPr txBox="1"/>
          <p:nvPr/>
        </p:nvSpPr>
        <p:spPr>
          <a:xfrm>
            <a:off x="658368" y="4709160"/>
            <a:ext cx="3442106" cy="274320"/>
          </a:xfrm>
          <a:prstGeom prst="rect">
            <a:avLst/>
          </a:prstGeom>
          <a:noFill/>
        </p:spPr>
        <p:txBody>
          <a:bodyPr wrap="square" lIns="0" rIns="0" tIns="0" bIns="0">
            <a:spAutoFit/>
          </a:bodyPr>
          <a:lstStyle/>
          <a:p>
            <a:pPr algn="l"/>
            <a:r>
              <a:rPr sz="1250" b="1" spc="160">
                <a:solidFill>
                  <a:srgbClr val="C8A04A"/>
                </a:solidFill>
                <a:latin typeface="Arial Narrow"/>
              </a:rPr>
              <a:t>THE EVENT</a:t>
            </a:r>
          </a:p>
        </p:txBody>
      </p:sp>
      <p:sp>
        <p:nvSpPr>
          <p:cNvPr id="12" name="TextBox 11"/>
          <p:cNvSpPr txBox="1"/>
          <p:nvPr/>
        </p:nvSpPr>
        <p:spPr>
          <a:xfrm>
            <a:off x="658368" y="5029200"/>
            <a:ext cx="3442106" cy="914400"/>
          </a:xfrm>
          <a:prstGeom prst="rect">
            <a:avLst/>
          </a:prstGeom>
          <a:noFill/>
        </p:spPr>
        <p:txBody>
          <a:bodyPr wrap="square" lIns="0" rIns="0" tIns="0" bIns="0">
            <a:spAutoFit/>
          </a:bodyPr>
          <a:lstStyle/>
          <a:p>
            <a:pPr algn="l">
              <a:lnSpc>
                <a:spcPct val="135000"/>
              </a:lnSpc>
            </a:pPr>
            <a:r>
              <a:rPr sz="1250" b="0">
                <a:solidFill>
                  <a:srgbClr val="C3C8BA"/>
                </a:solidFill>
                <a:latin typeface="Georgia"/>
              </a:rPr>
              <a:t>An export licence is suspended, indefinitely, on a rare-earth concentrate.</a:t>
            </a:r>
          </a:p>
        </p:txBody>
      </p:sp>
      <p:sp>
        <p:nvSpPr>
          <p:cNvPr id="13" name="TextBox 12"/>
          <p:cNvSpPr txBox="1"/>
          <p:nvPr/>
        </p:nvSpPr>
        <p:spPr>
          <a:xfrm>
            <a:off x="4374794" y="4709160"/>
            <a:ext cx="3442106" cy="274320"/>
          </a:xfrm>
          <a:prstGeom prst="rect">
            <a:avLst/>
          </a:prstGeom>
          <a:noFill/>
        </p:spPr>
        <p:txBody>
          <a:bodyPr wrap="square" lIns="0" rIns="0" tIns="0" bIns="0">
            <a:spAutoFit/>
          </a:bodyPr>
          <a:lstStyle/>
          <a:p>
            <a:pPr algn="l"/>
            <a:r>
              <a:rPr sz="1250" b="1" spc="160">
                <a:solidFill>
                  <a:srgbClr val="C8A04A"/>
                </a:solidFill>
                <a:latin typeface="Arial Narrow"/>
              </a:rPr>
              <a:t>WHAT IT INVALIDATES</a:t>
            </a:r>
          </a:p>
        </p:txBody>
      </p:sp>
      <p:sp>
        <p:nvSpPr>
          <p:cNvPr id="14" name="TextBox 13"/>
          <p:cNvSpPr txBox="1"/>
          <p:nvPr/>
        </p:nvSpPr>
        <p:spPr>
          <a:xfrm>
            <a:off x="4374794" y="5029200"/>
            <a:ext cx="3442106" cy="914400"/>
          </a:xfrm>
          <a:prstGeom prst="rect">
            <a:avLst/>
          </a:prstGeom>
          <a:noFill/>
        </p:spPr>
        <p:txBody>
          <a:bodyPr wrap="square" lIns="0" rIns="0" tIns="0" bIns="0">
            <a:spAutoFit/>
          </a:bodyPr>
          <a:lstStyle/>
          <a:p>
            <a:pPr algn="l">
              <a:lnSpc>
                <a:spcPct val="135000"/>
              </a:lnSpc>
            </a:pPr>
            <a:r>
              <a:rPr sz="1250" b="0">
                <a:solidFill>
                  <a:srgbClr val="C3C8BA"/>
                </a:solidFill>
                <a:latin typeface="Georgia"/>
              </a:rPr>
              <a:t>Not a shipment. The build sequence for every assembly drawing that specifies that magnet billet.</a:t>
            </a:r>
          </a:p>
        </p:txBody>
      </p:sp>
      <p:sp>
        <p:nvSpPr>
          <p:cNvPr id="15" name="TextBox 14"/>
          <p:cNvSpPr txBox="1"/>
          <p:nvPr/>
        </p:nvSpPr>
        <p:spPr>
          <a:xfrm>
            <a:off x="8091220" y="4709160"/>
            <a:ext cx="3442106" cy="274320"/>
          </a:xfrm>
          <a:prstGeom prst="rect">
            <a:avLst/>
          </a:prstGeom>
          <a:noFill/>
        </p:spPr>
        <p:txBody>
          <a:bodyPr wrap="square" lIns="0" rIns="0" tIns="0" bIns="0">
            <a:spAutoFit/>
          </a:bodyPr>
          <a:lstStyle/>
          <a:p>
            <a:pPr algn="l"/>
            <a:r>
              <a:rPr sz="1250" b="1" spc="160">
                <a:solidFill>
                  <a:srgbClr val="C8A04A"/>
                </a:solidFill>
                <a:latin typeface="Arial Narrow"/>
              </a:rPr>
              <a:t>WHO HAS TO DECIDE</a:t>
            </a:r>
          </a:p>
        </p:txBody>
      </p:sp>
      <p:sp>
        <p:nvSpPr>
          <p:cNvPr id="16" name="TextBox 15"/>
          <p:cNvSpPr txBox="1"/>
          <p:nvPr/>
        </p:nvSpPr>
        <p:spPr>
          <a:xfrm>
            <a:off x="8091220" y="5029200"/>
            <a:ext cx="3442106" cy="914400"/>
          </a:xfrm>
          <a:prstGeom prst="rect">
            <a:avLst/>
          </a:prstGeom>
          <a:noFill/>
        </p:spPr>
        <p:txBody>
          <a:bodyPr wrap="square" lIns="0" rIns="0" tIns="0" bIns="0">
            <a:spAutoFit/>
          </a:bodyPr>
          <a:lstStyle/>
          <a:p>
            <a:pPr algn="l">
              <a:lnSpc>
                <a:spcPct val="135000"/>
              </a:lnSpc>
            </a:pPr>
            <a:r>
              <a:rPr sz="1250" b="0">
                <a:solidFill>
                  <a:srgbClr val="C3C8BA"/>
                </a:solidFill>
                <a:latin typeface="Georgia"/>
              </a:rPr>
              <a:t>A named human, inside hours, with authority to commit — who must first be told which programs are exposed.</a:t>
            </a:r>
          </a:p>
        </p:txBody>
      </p:sp>
      <p:sp>
        <p:nvSpPr>
          <p:cNvPr id="17" name="TextBox 16"/>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NONE OF THE THREE EXAMPLES WE DEMONSTRATE ARE WEATHER. ALL THREE STOP A PLAN.</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03   THE MARKET   / 11</a:t>
            </a:r>
          </a:p>
        </p:txBody>
      </p:sp>
      <p:sp>
        <p:nvSpPr>
          <p:cNvPr id="5" name="TextBox 4"/>
          <p:cNvSpPr txBox="1"/>
          <p:nvPr/>
        </p:nvSpPr>
        <p:spPr>
          <a:xfrm>
            <a:off x="658368" y="932688"/>
            <a:ext cx="10874959" cy="1097280"/>
          </a:xfrm>
          <a:prstGeom prst="rect">
            <a:avLst/>
          </a:prstGeom>
          <a:noFill/>
        </p:spPr>
        <p:txBody>
          <a:bodyPr wrap="square" lIns="0" rIns="0" tIns="0" bIns="0">
            <a:spAutoFit/>
          </a:bodyPr>
          <a:lstStyle/>
          <a:p>
            <a:pPr algn="l">
              <a:lnSpc>
                <a:spcPct val="95000"/>
              </a:lnSpc>
            </a:pPr>
            <a:r>
              <a:rPr sz="3100" b="1">
                <a:solidFill>
                  <a:srgbClr val="E8EAE3"/>
                </a:solidFill>
                <a:latin typeface="Arial Narrow"/>
              </a:rPr>
              <a:t>A HUNDRED THOUSAND COMPANIES, AND THE ONE THAT STOPS THE PROGRAM IS INVISIBLE</a:t>
            </a:r>
          </a:p>
        </p:txBody>
      </p:sp>
      <p:sp>
        <p:nvSpPr>
          <p:cNvPr id="6" name="Rectangle 5"/>
          <p:cNvSpPr/>
          <p:nvPr/>
        </p:nvSpPr>
        <p:spPr>
          <a:xfrm>
            <a:off x="658368" y="2103120"/>
            <a:ext cx="2636443" cy="210312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267712"/>
            <a:ext cx="2270683" cy="548640"/>
          </a:xfrm>
          <a:prstGeom prst="rect">
            <a:avLst/>
          </a:prstGeom>
          <a:noFill/>
        </p:spPr>
        <p:txBody>
          <a:bodyPr wrap="square" lIns="0" rIns="0" tIns="0" bIns="0">
            <a:spAutoFit/>
          </a:bodyPr>
          <a:lstStyle/>
          <a:p>
            <a:pPr algn="l"/>
            <a:r>
              <a:rPr sz="3200" b="1">
                <a:solidFill>
                  <a:srgbClr val="E3C483"/>
                </a:solidFill>
                <a:latin typeface="Arial Narrow"/>
              </a:rPr>
              <a:t>100,000+</a:t>
            </a:r>
          </a:p>
        </p:txBody>
      </p:sp>
      <p:sp>
        <p:nvSpPr>
          <p:cNvPr id="8" name="TextBox 7"/>
          <p:cNvSpPr txBox="1"/>
          <p:nvPr/>
        </p:nvSpPr>
        <p:spPr>
          <a:xfrm>
            <a:off x="841248" y="2816352"/>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Companies and subcontractors under contract in the defense industrial base.</a:t>
            </a:r>
          </a:p>
        </p:txBody>
      </p:sp>
      <p:sp>
        <p:nvSpPr>
          <p:cNvPr id="9" name="TextBox 8"/>
          <p:cNvSpPr txBox="1"/>
          <p:nvPr/>
        </p:nvSpPr>
        <p:spPr>
          <a:xfrm>
            <a:off x="841248" y="3877056"/>
            <a:ext cx="2270683" cy="274320"/>
          </a:xfrm>
          <a:prstGeom prst="rect">
            <a:avLst/>
          </a:prstGeom>
          <a:noFill/>
        </p:spPr>
        <p:txBody>
          <a:bodyPr wrap="square" lIns="0" rIns="0" tIns="0" bIns="0">
            <a:spAutoFit/>
          </a:bodyPr>
          <a:lstStyle/>
          <a:p>
            <a:pPr algn="l"/>
            <a:r>
              <a:rPr sz="800" b="0" spc="120">
                <a:solidFill>
                  <a:srgbClr val="8D9486"/>
                </a:solidFill>
                <a:latin typeface="Consolas"/>
              </a:rPr>
              <a:t>CISA, DIB SECTOR</a:t>
            </a:r>
          </a:p>
        </p:txBody>
      </p:sp>
      <p:sp>
        <p:nvSpPr>
          <p:cNvPr id="10" name="Rectangle 9"/>
          <p:cNvSpPr/>
          <p:nvPr/>
        </p:nvSpPr>
        <p:spPr>
          <a:xfrm>
            <a:off x="3404539" y="2103120"/>
            <a:ext cx="2636443" cy="210312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7419" y="2267712"/>
            <a:ext cx="2270683" cy="548640"/>
          </a:xfrm>
          <a:prstGeom prst="rect">
            <a:avLst/>
          </a:prstGeom>
          <a:noFill/>
        </p:spPr>
        <p:txBody>
          <a:bodyPr wrap="square" lIns="0" rIns="0" tIns="0" bIns="0">
            <a:spAutoFit/>
          </a:bodyPr>
          <a:lstStyle/>
          <a:p>
            <a:pPr algn="l"/>
            <a:r>
              <a:rPr sz="3200" b="1">
                <a:solidFill>
                  <a:srgbClr val="E3C483"/>
                </a:solidFill>
                <a:latin typeface="Arial Narrow"/>
              </a:rPr>
              <a:t>~300,000</a:t>
            </a:r>
          </a:p>
        </p:txBody>
      </p:sp>
      <p:sp>
        <p:nvSpPr>
          <p:cNvPr id="12" name="TextBox 11"/>
          <p:cNvSpPr txBox="1"/>
          <p:nvPr/>
        </p:nvSpPr>
        <p:spPr>
          <a:xfrm>
            <a:off x="3587419" y="2816352"/>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Companies and suppliers in the broader defense ecosystem.</a:t>
            </a:r>
          </a:p>
        </p:txBody>
      </p:sp>
      <p:sp>
        <p:nvSpPr>
          <p:cNvPr id="13" name="TextBox 12"/>
          <p:cNvSpPr txBox="1"/>
          <p:nvPr/>
        </p:nvSpPr>
        <p:spPr>
          <a:xfrm>
            <a:off x="3587419" y="3877056"/>
            <a:ext cx="2270683" cy="274320"/>
          </a:xfrm>
          <a:prstGeom prst="rect">
            <a:avLst/>
          </a:prstGeom>
          <a:noFill/>
        </p:spPr>
        <p:txBody>
          <a:bodyPr wrap="square" lIns="0" rIns="0" tIns="0" bIns="0">
            <a:spAutoFit/>
          </a:bodyPr>
          <a:lstStyle/>
          <a:p>
            <a:pPr algn="l"/>
            <a:r>
              <a:rPr sz="800" b="0" spc="120">
                <a:solidFill>
                  <a:srgbClr val="8D9486"/>
                </a:solidFill>
                <a:latin typeface="Consolas"/>
              </a:rPr>
              <a:t>DOD CIO</a:t>
            </a:r>
          </a:p>
        </p:txBody>
      </p:sp>
      <p:sp>
        <p:nvSpPr>
          <p:cNvPr id="14" name="Rectangle 13"/>
          <p:cNvSpPr/>
          <p:nvPr/>
        </p:nvSpPr>
        <p:spPr>
          <a:xfrm>
            <a:off x="6150711" y="2103120"/>
            <a:ext cx="2636443" cy="210312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3591" y="2267712"/>
            <a:ext cx="2270683" cy="548640"/>
          </a:xfrm>
          <a:prstGeom prst="rect">
            <a:avLst/>
          </a:prstGeom>
          <a:noFill/>
        </p:spPr>
        <p:txBody>
          <a:bodyPr wrap="square" lIns="0" rIns="0" tIns="0" bIns="0">
            <a:spAutoFit/>
          </a:bodyPr>
          <a:lstStyle/>
          <a:p>
            <a:pPr algn="l"/>
            <a:r>
              <a:rPr sz="3200" b="1">
                <a:solidFill>
                  <a:srgbClr val="E3C483"/>
                </a:solidFill>
                <a:latin typeface="Arial Narrow"/>
              </a:rPr>
              <a:t>12,000+</a:t>
            </a:r>
          </a:p>
        </p:txBody>
      </p:sp>
      <p:sp>
        <p:nvSpPr>
          <p:cNvPr id="16" name="TextBox 15"/>
          <p:cNvSpPr txBox="1"/>
          <p:nvPr/>
        </p:nvSpPr>
        <p:spPr>
          <a:xfrm>
            <a:off x="6333591" y="2816352"/>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Small and mid-size subcontractors whose capacities — sometimes whose identities — are not well known to DoD.</a:t>
            </a:r>
          </a:p>
        </p:txBody>
      </p:sp>
      <p:sp>
        <p:nvSpPr>
          <p:cNvPr id="17" name="TextBox 16"/>
          <p:cNvSpPr txBox="1"/>
          <p:nvPr/>
        </p:nvSpPr>
        <p:spPr>
          <a:xfrm>
            <a:off x="6333591" y="3877056"/>
            <a:ext cx="2270683" cy="274320"/>
          </a:xfrm>
          <a:prstGeom prst="rect">
            <a:avLst/>
          </a:prstGeom>
          <a:noFill/>
        </p:spPr>
        <p:txBody>
          <a:bodyPr wrap="square" lIns="0" rIns="0" tIns="0" bIns="0">
            <a:spAutoFit/>
          </a:bodyPr>
          <a:lstStyle/>
          <a:p>
            <a:pPr algn="l"/>
            <a:r>
              <a:rPr sz="800" b="0" spc="120">
                <a:solidFill>
                  <a:srgbClr val="8D9486"/>
                </a:solidFill>
                <a:latin typeface="Consolas"/>
              </a:rPr>
              <a:t>BROOKINGS</a:t>
            </a:r>
          </a:p>
        </p:txBody>
      </p:sp>
      <p:sp>
        <p:nvSpPr>
          <p:cNvPr id="18" name="Rectangle 17"/>
          <p:cNvSpPr/>
          <p:nvPr/>
        </p:nvSpPr>
        <p:spPr>
          <a:xfrm>
            <a:off x="8896883" y="2103120"/>
            <a:ext cx="2636443" cy="210312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763" y="2267712"/>
            <a:ext cx="2270683" cy="548640"/>
          </a:xfrm>
          <a:prstGeom prst="rect">
            <a:avLst/>
          </a:prstGeom>
          <a:noFill/>
        </p:spPr>
        <p:txBody>
          <a:bodyPr wrap="square" lIns="0" rIns="0" tIns="0" bIns="0">
            <a:spAutoFit/>
          </a:bodyPr>
          <a:lstStyle/>
          <a:p>
            <a:pPr algn="l"/>
            <a:r>
              <a:rPr sz="3200" b="1">
                <a:solidFill>
                  <a:srgbClr val="E3C483"/>
                </a:solidFill>
                <a:latin typeface="Arial Narrow"/>
              </a:rPr>
              <a:t>51 → 5</a:t>
            </a:r>
          </a:p>
        </p:txBody>
      </p:sp>
      <p:sp>
        <p:nvSpPr>
          <p:cNvPr id="20" name="TextBox 19"/>
          <p:cNvSpPr txBox="1"/>
          <p:nvPr/>
        </p:nvSpPr>
        <p:spPr>
          <a:xfrm>
            <a:off x="9079763" y="2816352"/>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Aerospace and defense prime contractors, after three decades of consolidation.</a:t>
            </a:r>
          </a:p>
        </p:txBody>
      </p:sp>
      <p:sp>
        <p:nvSpPr>
          <p:cNvPr id="21" name="TextBox 20"/>
          <p:cNvSpPr txBox="1"/>
          <p:nvPr/>
        </p:nvSpPr>
        <p:spPr>
          <a:xfrm>
            <a:off x="9079763" y="3877056"/>
            <a:ext cx="2270683" cy="274320"/>
          </a:xfrm>
          <a:prstGeom prst="rect">
            <a:avLst/>
          </a:prstGeom>
          <a:noFill/>
        </p:spPr>
        <p:txBody>
          <a:bodyPr wrap="square" lIns="0" rIns="0" tIns="0" bIns="0">
            <a:spAutoFit/>
          </a:bodyPr>
          <a:lstStyle/>
          <a:p>
            <a:pPr algn="l"/>
            <a:r>
              <a:rPr sz="800" b="0" spc="120">
                <a:solidFill>
                  <a:srgbClr val="8D9486"/>
                </a:solidFill>
                <a:latin typeface="Consolas"/>
              </a:rPr>
              <a:t>DOD, 2022</a:t>
            </a:r>
          </a:p>
        </p:txBody>
      </p:sp>
      <p:sp>
        <p:nvSpPr>
          <p:cNvPr id="22" name="Rectangle 21"/>
          <p:cNvSpPr/>
          <p:nvPr/>
        </p:nvSpPr>
        <p:spPr>
          <a:xfrm>
            <a:off x="658368" y="4443984"/>
            <a:ext cx="10874959"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443984"/>
            <a:ext cx="38100" cy="105156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498848"/>
            <a:ext cx="10417759" cy="914400"/>
          </a:xfrm>
          <a:prstGeom prst="rect">
            <a:avLst/>
          </a:prstGeom>
          <a:noFill/>
        </p:spPr>
        <p:txBody>
          <a:bodyPr wrap="square" lIns="0" rIns="0" tIns="0" bIns="0">
            <a:spAutoFit/>
          </a:bodyPr>
          <a:lstStyle/>
          <a:p>
            <a:pPr algn="l">
              <a:lnSpc>
                <a:spcPct val="140000"/>
              </a:lnSpc>
            </a:pPr>
            <a:r>
              <a:rPr sz="1350" b="0">
                <a:solidFill>
                  <a:srgbClr val="E8EAE3"/>
                </a:solidFill>
                <a:latin typeface="Georgia"/>
              </a:rPr>
              <a:t>Read the third tile again. By the Department's own account, thousands of the firms that programs depend on are not reliably identified. You cannot manage exposure through a supplier you cannot name — and the vendor base shrank from roughly 69,000 firms to 55,000 between 2016 and 2020, so each remaining one carries more.</a:t>
            </a:r>
          </a:p>
        </p:txBody>
      </p:sp>
      <p:sp>
        <p:nvSpPr>
          <p:cNvPr id="25" name="TextBox 24"/>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CISA DIB SECTOR PROFILE · DOD CIO · BROOKINGS · DOD STATE OF COMPETITION WITHIN THE DEFENSE INDUSTRIAL BASE, FEB 2022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04   THE ANNUAL BILL   / 11</a:t>
            </a:r>
          </a:p>
        </p:txBody>
      </p:sp>
      <p:sp>
        <p:nvSpPr>
          <p:cNvPr id="5" name="TextBox 4"/>
          <p:cNvSpPr txBox="1"/>
          <p:nvPr/>
        </p:nvSpPr>
        <p:spPr>
          <a:xfrm>
            <a:off x="658368" y="932688"/>
            <a:ext cx="10874959" cy="731520"/>
          </a:xfrm>
          <a:prstGeom prst="rect">
            <a:avLst/>
          </a:prstGeom>
          <a:noFill/>
        </p:spPr>
        <p:txBody>
          <a:bodyPr wrap="square" lIns="0" rIns="0" tIns="0" bIns="0">
            <a:spAutoFit/>
          </a:bodyPr>
          <a:lstStyle/>
          <a:p>
            <a:pPr algn="l">
              <a:lnSpc>
                <a:spcPct val="95000"/>
              </a:lnSpc>
            </a:pPr>
            <a:r>
              <a:rPr sz="3400" b="1">
                <a:solidFill>
                  <a:srgbClr val="E8EAE3"/>
                </a:solidFill>
                <a:latin typeface="Arial Narrow"/>
              </a:rPr>
              <a:t>WHAT A YEAR OF UNEXECUTABLE PLANS ACTUALLY COSTS</a:t>
            </a:r>
          </a:p>
        </p:txBody>
      </p:sp>
      <p:sp>
        <p:nvSpPr>
          <p:cNvPr id="6" name="Rectangle 5"/>
          <p:cNvSpPr/>
          <p:nvPr/>
        </p:nvSpPr>
        <p:spPr>
          <a:xfrm>
            <a:off x="658368" y="1755648"/>
            <a:ext cx="2636443" cy="201168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20240"/>
            <a:ext cx="2270683" cy="548640"/>
          </a:xfrm>
          <a:prstGeom prst="rect">
            <a:avLst/>
          </a:prstGeom>
          <a:noFill/>
        </p:spPr>
        <p:txBody>
          <a:bodyPr wrap="square" lIns="0" rIns="0" tIns="0" bIns="0">
            <a:spAutoFit/>
          </a:bodyPr>
          <a:lstStyle/>
          <a:p>
            <a:pPr algn="l"/>
            <a:r>
              <a:rPr sz="3400" b="1">
                <a:solidFill>
                  <a:srgbClr val="D4553F"/>
                </a:solidFill>
                <a:latin typeface="Arial Narrow"/>
              </a:rPr>
              <a:t>$1.4T</a:t>
            </a:r>
          </a:p>
        </p:txBody>
      </p:sp>
      <p:sp>
        <p:nvSpPr>
          <p:cNvPr id="8" name="TextBox 7"/>
          <p:cNvSpPr txBox="1"/>
          <p:nvPr/>
        </p:nvSpPr>
        <p:spPr>
          <a:xfrm>
            <a:off x="841248" y="2487168"/>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Lost annually to unplanned downtime across the world's 500 largest companies — 11% of total revenue, up from 8% in 2019.</a:t>
            </a:r>
          </a:p>
        </p:txBody>
      </p:sp>
      <p:sp>
        <p:nvSpPr>
          <p:cNvPr id="9" name="TextBox 8"/>
          <p:cNvSpPr txBox="1"/>
          <p:nvPr/>
        </p:nvSpPr>
        <p:spPr>
          <a:xfrm>
            <a:off x="841248" y="3438144"/>
            <a:ext cx="2270683" cy="274320"/>
          </a:xfrm>
          <a:prstGeom prst="rect">
            <a:avLst/>
          </a:prstGeom>
          <a:noFill/>
        </p:spPr>
        <p:txBody>
          <a:bodyPr wrap="square" lIns="0" rIns="0" tIns="0" bIns="0">
            <a:spAutoFit/>
          </a:bodyPr>
          <a:lstStyle/>
          <a:p>
            <a:pPr algn="l"/>
            <a:r>
              <a:rPr sz="800" b="0" spc="120">
                <a:solidFill>
                  <a:srgbClr val="8D9486"/>
                </a:solidFill>
                <a:latin typeface="Consolas"/>
              </a:rPr>
              <a:t>SIEMENS, 2024</a:t>
            </a:r>
          </a:p>
        </p:txBody>
      </p:sp>
      <p:sp>
        <p:nvSpPr>
          <p:cNvPr id="10" name="Rectangle 9"/>
          <p:cNvSpPr/>
          <p:nvPr/>
        </p:nvSpPr>
        <p:spPr>
          <a:xfrm>
            <a:off x="3404539" y="1755648"/>
            <a:ext cx="2636443" cy="201168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7419" y="1920240"/>
            <a:ext cx="2270683" cy="548640"/>
          </a:xfrm>
          <a:prstGeom prst="rect">
            <a:avLst/>
          </a:prstGeom>
          <a:noFill/>
        </p:spPr>
        <p:txBody>
          <a:bodyPr wrap="square" lIns="0" rIns="0" tIns="0" bIns="0">
            <a:spAutoFit/>
          </a:bodyPr>
          <a:lstStyle/>
          <a:p>
            <a:pPr algn="l"/>
            <a:r>
              <a:rPr sz="3400" b="1">
                <a:solidFill>
                  <a:srgbClr val="D4553F"/>
                </a:solidFill>
                <a:latin typeface="Arial Narrow"/>
              </a:rPr>
              <a:t>$82M</a:t>
            </a:r>
          </a:p>
        </p:txBody>
      </p:sp>
      <p:sp>
        <p:nvSpPr>
          <p:cNvPr id="12" name="TextBox 11"/>
          <p:cNvSpPr txBox="1"/>
          <p:nvPr/>
        </p:nvSpPr>
        <p:spPr>
          <a:xfrm>
            <a:off x="3587419" y="2487168"/>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Average annual losses per company from supply-side events.</a:t>
            </a:r>
          </a:p>
        </p:txBody>
      </p:sp>
      <p:sp>
        <p:nvSpPr>
          <p:cNvPr id="13" name="TextBox 12"/>
          <p:cNvSpPr txBox="1"/>
          <p:nvPr/>
        </p:nvSpPr>
        <p:spPr>
          <a:xfrm>
            <a:off x="3587419" y="3438144"/>
            <a:ext cx="2270683" cy="274320"/>
          </a:xfrm>
          <a:prstGeom prst="rect">
            <a:avLst/>
          </a:prstGeom>
          <a:noFill/>
        </p:spPr>
        <p:txBody>
          <a:bodyPr wrap="square" lIns="0" rIns="0" tIns="0" bIns="0">
            <a:spAutoFit/>
          </a:bodyPr>
          <a:lstStyle/>
          <a:p>
            <a:pPr algn="l"/>
            <a:r>
              <a:rPr sz="800" b="0" spc="120">
                <a:solidFill>
                  <a:srgbClr val="8D9486"/>
                </a:solidFill>
                <a:latin typeface="Consolas"/>
              </a:rPr>
              <a:t>INTEROS, 2022</a:t>
            </a:r>
          </a:p>
        </p:txBody>
      </p:sp>
      <p:sp>
        <p:nvSpPr>
          <p:cNvPr id="14" name="Rectangle 13"/>
          <p:cNvSpPr/>
          <p:nvPr/>
        </p:nvSpPr>
        <p:spPr>
          <a:xfrm>
            <a:off x="6150711" y="1755648"/>
            <a:ext cx="2636443" cy="201168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3591" y="1920240"/>
            <a:ext cx="2270683" cy="548640"/>
          </a:xfrm>
          <a:prstGeom prst="rect">
            <a:avLst/>
          </a:prstGeom>
          <a:noFill/>
        </p:spPr>
        <p:txBody>
          <a:bodyPr wrap="square" lIns="0" rIns="0" tIns="0" bIns="0">
            <a:spAutoFit/>
          </a:bodyPr>
          <a:lstStyle/>
          <a:p>
            <a:pPr algn="l"/>
            <a:r>
              <a:rPr sz="3400" b="1">
                <a:solidFill>
                  <a:srgbClr val="D4553F"/>
                </a:solidFill>
                <a:latin typeface="Arial Narrow"/>
              </a:rPr>
              <a:t>$184M</a:t>
            </a:r>
          </a:p>
        </p:txBody>
      </p:sp>
      <p:sp>
        <p:nvSpPr>
          <p:cNvPr id="16" name="TextBox 15"/>
          <p:cNvSpPr txBox="1"/>
          <p:nvPr/>
        </p:nvSpPr>
        <p:spPr>
          <a:xfrm>
            <a:off x="6333591" y="2487168"/>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Average lost revenue per year, per large organization.</a:t>
            </a:r>
          </a:p>
        </p:txBody>
      </p:sp>
      <p:sp>
        <p:nvSpPr>
          <p:cNvPr id="17" name="TextBox 16"/>
          <p:cNvSpPr txBox="1"/>
          <p:nvPr/>
        </p:nvSpPr>
        <p:spPr>
          <a:xfrm>
            <a:off x="6333591" y="3438144"/>
            <a:ext cx="2270683" cy="274320"/>
          </a:xfrm>
          <a:prstGeom prst="rect">
            <a:avLst/>
          </a:prstGeom>
          <a:noFill/>
        </p:spPr>
        <p:txBody>
          <a:bodyPr wrap="square" lIns="0" rIns="0" tIns="0" bIns="0">
            <a:spAutoFit/>
          </a:bodyPr>
          <a:lstStyle/>
          <a:p>
            <a:pPr algn="l"/>
            <a:r>
              <a:rPr sz="800" b="0" spc="120">
                <a:solidFill>
                  <a:srgbClr val="8D9486"/>
                </a:solidFill>
                <a:latin typeface="Consolas"/>
              </a:rPr>
              <a:t>INTEROS</a:t>
            </a:r>
          </a:p>
        </p:txBody>
      </p:sp>
      <p:sp>
        <p:nvSpPr>
          <p:cNvPr id="18" name="Rectangle 17"/>
          <p:cNvSpPr/>
          <p:nvPr/>
        </p:nvSpPr>
        <p:spPr>
          <a:xfrm>
            <a:off x="8896883" y="1755648"/>
            <a:ext cx="2636443" cy="201168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763" y="1920240"/>
            <a:ext cx="2270683" cy="548640"/>
          </a:xfrm>
          <a:prstGeom prst="rect">
            <a:avLst/>
          </a:prstGeom>
          <a:noFill/>
        </p:spPr>
        <p:txBody>
          <a:bodyPr wrap="square" lIns="0" rIns="0" tIns="0" bIns="0">
            <a:spAutoFit/>
          </a:bodyPr>
          <a:lstStyle/>
          <a:p>
            <a:pPr algn="l"/>
            <a:r>
              <a:rPr sz="3400" b="1">
                <a:solidFill>
                  <a:srgbClr val="D4553F"/>
                </a:solidFill>
                <a:latin typeface="Arial Narrow"/>
              </a:rPr>
              <a:t>$22M</a:t>
            </a:r>
          </a:p>
        </p:txBody>
      </p:sp>
      <p:sp>
        <p:nvSpPr>
          <p:cNvPr id="20" name="TextBox 19"/>
          <p:cNvSpPr txBox="1"/>
          <p:nvPr/>
        </p:nvSpPr>
        <p:spPr>
          <a:xfrm>
            <a:off x="9079763" y="2487168"/>
            <a:ext cx="2270683" cy="1005840"/>
          </a:xfrm>
          <a:prstGeom prst="rect">
            <a:avLst/>
          </a:prstGeom>
          <a:noFill/>
        </p:spPr>
        <p:txBody>
          <a:bodyPr wrap="square" lIns="0" rIns="0" tIns="0" bIns="0">
            <a:spAutoFit/>
          </a:bodyPr>
          <a:lstStyle/>
          <a:p>
            <a:pPr algn="l">
              <a:lnSpc>
                <a:spcPct val="130000"/>
              </a:lnSpc>
            </a:pPr>
            <a:r>
              <a:rPr sz="1150" b="0">
                <a:solidFill>
                  <a:srgbClr val="C3C8BA"/>
                </a:solidFill>
                <a:latin typeface="Georgia"/>
              </a:rPr>
              <a:t>Average cost of a single event, across surveyed companies.</a:t>
            </a:r>
          </a:p>
        </p:txBody>
      </p:sp>
      <p:sp>
        <p:nvSpPr>
          <p:cNvPr id="21" name="TextBox 20"/>
          <p:cNvSpPr txBox="1"/>
          <p:nvPr/>
        </p:nvSpPr>
        <p:spPr>
          <a:xfrm>
            <a:off x="9079763" y="3438144"/>
            <a:ext cx="2270683" cy="274320"/>
          </a:xfrm>
          <a:prstGeom prst="rect">
            <a:avLst/>
          </a:prstGeom>
          <a:noFill/>
        </p:spPr>
        <p:txBody>
          <a:bodyPr wrap="square" lIns="0" rIns="0" tIns="0" bIns="0">
            <a:spAutoFit/>
          </a:bodyPr>
          <a:lstStyle/>
          <a:p>
            <a:pPr algn="l"/>
            <a:r>
              <a:rPr sz="800" b="0" spc="120">
                <a:solidFill>
                  <a:srgbClr val="8D9486"/>
                </a:solidFill>
                <a:latin typeface="Consolas"/>
              </a:rPr>
              <a:t>INTEROS</a:t>
            </a:r>
          </a:p>
        </p:txBody>
      </p:sp>
      <p:sp>
        <p:nvSpPr>
          <p:cNvPr id="22" name="TextBox 21"/>
          <p:cNvSpPr txBox="1"/>
          <p:nvPr/>
        </p:nvSpPr>
        <p:spPr>
          <a:xfrm>
            <a:off x="658368" y="4041648"/>
            <a:ext cx="3442106" cy="274320"/>
          </a:xfrm>
          <a:prstGeom prst="rect">
            <a:avLst/>
          </a:prstGeom>
          <a:noFill/>
        </p:spPr>
        <p:txBody>
          <a:bodyPr wrap="square" lIns="0" rIns="0" tIns="0" bIns="0">
            <a:spAutoFit/>
          </a:bodyPr>
          <a:lstStyle/>
          <a:p>
            <a:pPr algn="l"/>
            <a:r>
              <a:rPr sz="1250" b="1" spc="160">
                <a:solidFill>
                  <a:srgbClr val="C8A04A"/>
                </a:solidFill>
                <a:latin typeface="Arial Narrow"/>
              </a:rPr>
              <a:t>REVENUE</a:t>
            </a:r>
          </a:p>
        </p:txBody>
      </p:sp>
      <p:sp>
        <p:nvSpPr>
          <p:cNvPr id="23" name="TextBox 22"/>
          <p:cNvSpPr txBox="1"/>
          <p:nvPr/>
        </p:nvSpPr>
        <p:spPr>
          <a:xfrm>
            <a:off x="658368" y="4370832"/>
            <a:ext cx="3442106" cy="1097280"/>
          </a:xfrm>
          <a:prstGeom prst="rect">
            <a:avLst/>
          </a:prstGeom>
          <a:noFill/>
        </p:spPr>
        <p:txBody>
          <a:bodyPr wrap="square" lIns="0" rIns="0" tIns="0" bIns="0">
            <a:spAutoFit/>
          </a:bodyPr>
          <a:lstStyle/>
          <a:p>
            <a:pPr algn="l">
              <a:lnSpc>
                <a:spcPct val="135000"/>
              </a:lnSpc>
            </a:pPr>
            <a:r>
              <a:rPr sz="1250" b="0">
                <a:solidFill>
                  <a:srgbClr val="C3C8BA"/>
                </a:solidFill>
                <a:latin typeface="Georgia"/>
              </a:rPr>
              <a:t>Deliveries missed inside the quarter they were promised in. On a defense program, that is a milestone payment, not a deferred sale.</a:t>
            </a:r>
          </a:p>
        </p:txBody>
      </p:sp>
      <p:sp>
        <p:nvSpPr>
          <p:cNvPr id="24" name="TextBox 23"/>
          <p:cNvSpPr txBox="1"/>
          <p:nvPr/>
        </p:nvSpPr>
        <p:spPr>
          <a:xfrm>
            <a:off x="4374794" y="4041648"/>
            <a:ext cx="3442106" cy="274320"/>
          </a:xfrm>
          <a:prstGeom prst="rect">
            <a:avLst/>
          </a:prstGeom>
          <a:noFill/>
        </p:spPr>
        <p:txBody>
          <a:bodyPr wrap="square" lIns="0" rIns="0" tIns="0" bIns="0">
            <a:spAutoFit/>
          </a:bodyPr>
          <a:lstStyle/>
          <a:p>
            <a:pPr algn="l"/>
            <a:r>
              <a:rPr sz="1250" b="1" spc="160">
                <a:solidFill>
                  <a:srgbClr val="C8A04A"/>
                </a:solidFill>
                <a:latin typeface="Arial Narrow"/>
              </a:rPr>
              <a:t>LABOR</a:t>
            </a:r>
          </a:p>
        </p:txBody>
      </p:sp>
      <p:sp>
        <p:nvSpPr>
          <p:cNvPr id="25" name="TextBox 24"/>
          <p:cNvSpPr txBox="1"/>
          <p:nvPr/>
        </p:nvSpPr>
        <p:spPr>
          <a:xfrm>
            <a:off x="4374794" y="4370832"/>
            <a:ext cx="3442106" cy="1097280"/>
          </a:xfrm>
          <a:prstGeom prst="rect">
            <a:avLst/>
          </a:prstGeom>
          <a:noFill/>
        </p:spPr>
        <p:txBody>
          <a:bodyPr wrap="square" lIns="0" rIns="0" tIns="0" bIns="0">
            <a:spAutoFit/>
          </a:bodyPr>
          <a:lstStyle/>
          <a:p>
            <a:pPr algn="l">
              <a:lnSpc>
                <a:spcPct val="135000"/>
              </a:lnSpc>
            </a:pPr>
            <a:r>
              <a:rPr sz="1250" b="0">
                <a:solidFill>
                  <a:srgbClr val="C3C8BA"/>
                </a:solidFill>
                <a:latin typeface="Georgia"/>
              </a:rPr>
              <a:t>A stopped line does not stop payroll. Cleared, trained staff stand idle at full cost — then the recovery is paid again at overtime.</a:t>
            </a:r>
          </a:p>
        </p:txBody>
      </p:sp>
      <p:sp>
        <p:nvSpPr>
          <p:cNvPr id="26" name="TextBox 25"/>
          <p:cNvSpPr txBox="1"/>
          <p:nvPr/>
        </p:nvSpPr>
        <p:spPr>
          <a:xfrm>
            <a:off x="8091220" y="4041648"/>
            <a:ext cx="3442106" cy="274320"/>
          </a:xfrm>
          <a:prstGeom prst="rect">
            <a:avLst/>
          </a:prstGeom>
          <a:noFill/>
        </p:spPr>
        <p:txBody>
          <a:bodyPr wrap="square" lIns="0" rIns="0" tIns="0" bIns="0">
            <a:spAutoFit/>
          </a:bodyPr>
          <a:lstStyle/>
          <a:p>
            <a:pPr algn="l"/>
            <a:r>
              <a:rPr sz="1250" b="1" spc="160">
                <a:solidFill>
                  <a:srgbClr val="C8A04A"/>
                </a:solidFill>
                <a:latin typeface="Arial Narrow"/>
              </a:rPr>
              <a:t>TRUST</a:t>
            </a:r>
          </a:p>
        </p:txBody>
      </p:sp>
      <p:sp>
        <p:nvSpPr>
          <p:cNvPr id="27" name="TextBox 26"/>
          <p:cNvSpPr txBox="1"/>
          <p:nvPr/>
        </p:nvSpPr>
        <p:spPr>
          <a:xfrm>
            <a:off x="8091220" y="4370832"/>
            <a:ext cx="3442106" cy="1097280"/>
          </a:xfrm>
          <a:prstGeom prst="rect">
            <a:avLst/>
          </a:prstGeom>
          <a:noFill/>
        </p:spPr>
        <p:txBody>
          <a:bodyPr wrap="square" lIns="0" rIns="0" tIns="0" bIns="0">
            <a:spAutoFit/>
          </a:bodyPr>
          <a:lstStyle/>
          <a:p>
            <a:pPr algn="l">
              <a:lnSpc>
                <a:spcPct val="135000"/>
              </a:lnSpc>
            </a:pPr>
            <a:r>
              <a:rPr sz="1250" b="0">
                <a:solidFill>
                  <a:srgbClr val="C3C8BA"/>
                </a:solidFill>
                <a:latin typeface="Georgia"/>
              </a:rPr>
              <a:t>Past performance is scored. A subcontractor that surprises a prime twice stops being asked to bid.</a:t>
            </a:r>
          </a:p>
        </p:txBody>
      </p:sp>
      <p:sp>
        <p:nvSpPr>
          <p:cNvPr id="28" name="TextBox 27"/>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SEPARATE STUDIES MEASURING DIFFERENT POPULATIONS, DELIBERATELY NOT PLOTTED ON ONE SCALE. SIEMENS TRUE COST OF DOWNTIME 2024 · INTEROS SUPPLIER-RISK RESEARCH</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05   THE MINUTE   / 11</a:t>
            </a:r>
          </a:p>
        </p:txBody>
      </p:sp>
      <p:sp>
        <p:nvSpPr>
          <p:cNvPr id="5" name="TextBox 4"/>
          <p:cNvSpPr txBox="1"/>
          <p:nvPr/>
        </p:nvSpPr>
        <p:spPr>
          <a:xfrm>
            <a:off x="658368" y="932688"/>
            <a:ext cx="10874959" cy="1097280"/>
          </a:xfrm>
          <a:prstGeom prst="rect">
            <a:avLst/>
          </a:prstGeom>
          <a:noFill/>
        </p:spPr>
        <p:txBody>
          <a:bodyPr wrap="square" lIns="0" rIns="0" tIns="0" bIns="0">
            <a:spAutoFit/>
          </a:bodyPr>
          <a:lstStyle/>
          <a:p>
            <a:pPr algn="l">
              <a:lnSpc>
                <a:spcPct val="95000"/>
              </a:lnSpc>
            </a:pPr>
            <a:r>
              <a:rPr sz="3300" b="1">
                <a:solidFill>
                  <a:srgbClr val="E8EAE3"/>
                </a:solidFill>
                <a:latin typeface="Arial Narrow"/>
              </a:rPr>
              <a:t>A LARGE PLANT LOSES $33,000 A MINUTE. THE CLOCK STARTS BEFORE ANYONE KNOWS WHY.</a:t>
            </a:r>
          </a:p>
        </p:txBody>
      </p:sp>
      <p:sp>
        <p:nvSpPr>
          <p:cNvPr id="6" name="Rectangle 5"/>
          <p:cNvSpPr/>
          <p:nvPr/>
        </p:nvSpPr>
        <p:spPr>
          <a:xfrm>
            <a:off x="658368" y="2286000"/>
            <a:ext cx="10874959" cy="210312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86000"/>
            <a:ext cx="10874959" cy="33020"/>
          </a:xfrm>
          <a:prstGeom prst="rect">
            <a:avLst/>
          </a:prstGeom>
          <a:solidFill>
            <a:srgbClr val="D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505456"/>
            <a:ext cx="10143439" cy="274320"/>
          </a:xfrm>
          <a:prstGeom prst="rect">
            <a:avLst/>
          </a:prstGeom>
          <a:noFill/>
        </p:spPr>
        <p:txBody>
          <a:bodyPr wrap="square" lIns="0" rIns="0" tIns="0" bIns="0">
            <a:spAutoFit/>
          </a:bodyPr>
          <a:lstStyle/>
          <a:p>
            <a:pPr algn="l"/>
            <a:r>
              <a:rPr sz="1000" b="0" spc="180">
                <a:solidFill>
                  <a:srgbClr val="8D9486"/>
                </a:solidFill>
                <a:latin typeface="Consolas"/>
              </a:rPr>
              <a:t>ACCRUING AT $33,000 / MINUTE</a:t>
            </a:r>
          </a:p>
        </p:txBody>
      </p:sp>
      <p:sp>
        <p:nvSpPr>
          <p:cNvPr id="9" name="TextBox 8"/>
          <p:cNvSpPr txBox="1"/>
          <p:nvPr/>
        </p:nvSpPr>
        <p:spPr>
          <a:xfrm>
            <a:off x="1024128" y="2743200"/>
            <a:ext cx="10143439" cy="1005840"/>
          </a:xfrm>
          <a:prstGeom prst="rect">
            <a:avLst/>
          </a:prstGeom>
          <a:noFill/>
        </p:spPr>
        <p:txBody>
          <a:bodyPr wrap="square" lIns="0" rIns="0" tIns="0" bIns="0">
            <a:spAutoFit/>
          </a:bodyPr>
          <a:lstStyle/>
          <a:p>
            <a:pPr algn="l"/>
            <a:r>
              <a:rPr sz="5800" b="1">
                <a:solidFill>
                  <a:srgbClr val="D4553F"/>
                </a:solidFill>
                <a:latin typeface="Arial Narrow"/>
              </a:rPr>
              <a:t>$1,650 every 3 seconds</a:t>
            </a:r>
          </a:p>
        </p:txBody>
      </p:sp>
      <p:sp>
        <p:nvSpPr>
          <p:cNvPr id="10" name="TextBox 9"/>
          <p:cNvSpPr txBox="1"/>
          <p:nvPr/>
        </p:nvSpPr>
        <p:spPr>
          <a:xfrm>
            <a:off x="1024128" y="3767328"/>
            <a:ext cx="7863840" cy="457200"/>
          </a:xfrm>
          <a:prstGeom prst="rect">
            <a:avLst/>
          </a:prstGeom>
          <a:noFill/>
        </p:spPr>
        <p:txBody>
          <a:bodyPr wrap="square" lIns="0" rIns="0" tIns="0" bIns="0">
            <a:spAutoFit/>
          </a:bodyPr>
          <a:lstStyle/>
          <a:p>
            <a:pPr algn="l">
              <a:lnSpc>
                <a:spcPct val="135000"/>
              </a:lnSpc>
            </a:pPr>
            <a:r>
              <a:rPr sz="1300" b="0">
                <a:solidFill>
                  <a:srgbClr val="C3C8BA"/>
                </a:solidFill>
                <a:latin typeface="Georgia"/>
              </a:rPr>
              <a:t>One stopped station backs up welding, paint, final assembly, labor and outbound shipping at once. A full plant hour runs to $2.3 million.</a:t>
            </a:r>
          </a:p>
        </p:txBody>
      </p:sp>
      <p:sp>
        <p:nvSpPr>
          <p:cNvPr id="11" name="Rectangle 10"/>
          <p:cNvSpPr/>
          <p:nvPr/>
        </p:nvSpPr>
        <p:spPr>
          <a:xfrm>
            <a:off x="658368" y="4617720"/>
            <a:ext cx="10874959"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4617720"/>
            <a:ext cx="38100" cy="91440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663440"/>
            <a:ext cx="10417759" cy="822960"/>
          </a:xfrm>
          <a:prstGeom prst="rect">
            <a:avLst/>
          </a:prstGeom>
          <a:noFill/>
        </p:spPr>
        <p:txBody>
          <a:bodyPr wrap="square" lIns="0" rIns="0" tIns="0" bIns="0">
            <a:spAutoFit/>
          </a:bodyPr>
          <a:lstStyle/>
          <a:p>
            <a:pPr algn="l">
              <a:lnSpc>
                <a:spcPct val="140000"/>
              </a:lnSpc>
            </a:pPr>
            <a:r>
              <a:rPr sz="1350" b="0">
                <a:solidFill>
                  <a:srgbClr val="E8EAE3"/>
                </a:solidFill>
                <a:latin typeface="Georgia"/>
              </a:rPr>
              <a:t>Average time to restore production has risen from 49 minutes to 81. Very little of that is the physical fix. It is the interval spent establishing which suppliers are affected, how far down the chain it reaches, and who has the authority to act. That interval is information work — and it is the part we remove.</a:t>
            </a:r>
          </a:p>
        </p:txBody>
      </p:sp>
      <p:sp>
        <p:nvSpPr>
          <p:cNvPr id="14" name="TextBox 13"/>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SIEMENS, TRUE COST OF DOWNTIME 2024. PER-MINUTE FIGURE AS REPORTED; THE HOURLY FIGURE IMPLIES ~$38,000, SO $33,000 IS THE CONSERVATIVE OF THE TWO.</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06   WHY IT MUST BE LOCAL   / 11</a:t>
            </a:r>
          </a:p>
        </p:txBody>
      </p:sp>
      <p:sp>
        <p:nvSpPr>
          <p:cNvPr id="5" name="TextBox 4"/>
          <p:cNvSpPr txBox="1"/>
          <p:nvPr/>
        </p:nvSpPr>
        <p:spPr>
          <a:xfrm>
            <a:off x="658368" y="932688"/>
            <a:ext cx="10874959" cy="1188720"/>
          </a:xfrm>
          <a:prstGeom prst="rect">
            <a:avLst/>
          </a:prstGeom>
          <a:noFill/>
        </p:spPr>
        <p:txBody>
          <a:bodyPr wrap="square" lIns="0" rIns="0" tIns="0" bIns="0">
            <a:spAutoFit/>
          </a:bodyPr>
          <a:lstStyle/>
          <a:p>
            <a:pPr algn="l">
              <a:lnSpc>
                <a:spcPct val="95000"/>
              </a:lnSpc>
            </a:pPr>
            <a:r>
              <a:rPr sz="3100" b="1">
                <a:solidFill>
                  <a:srgbClr val="E8EAE3"/>
                </a:solidFill>
                <a:latin typeface="Arial Narrow"/>
              </a:rPr>
              <a:t>SENDING THIS TO A CLOUD MODEL IS NOT A PRIVACY PREFERENCE. IT MAY BE AN UNLICENSED EXPORT.</a:t>
            </a:r>
          </a:p>
        </p:txBody>
      </p:sp>
      <p:sp>
        <p:nvSpPr>
          <p:cNvPr id="6" name="TextBox 5"/>
          <p:cNvSpPr txBox="1"/>
          <p:nvPr/>
        </p:nvSpPr>
        <p:spPr>
          <a:xfrm>
            <a:off x="658368" y="2212848"/>
            <a:ext cx="3442106" cy="310896"/>
          </a:xfrm>
          <a:prstGeom prst="rect">
            <a:avLst/>
          </a:prstGeom>
          <a:noFill/>
        </p:spPr>
        <p:txBody>
          <a:bodyPr wrap="square" lIns="0" rIns="0" tIns="0" bIns="0">
            <a:spAutoFit/>
          </a:bodyPr>
          <a:lstStyle/>
          <a:p>
            <a:pPr algn="l"/>
            <a:r>
              <a:rPr sz="1300" b="1" spc="160">
                <a:solidFill>
                  <a:srgbClr val="C8A04A"/>
                </a:solidFill>
                <a:latin typeface="Arial Narrow"/>
              </a:rPr>
              <a:t>PERSON-BASED, NOT GEOGRAPHIC</a:t>
            </a:r>
          </a:p>
        </p:txBody>
      </p:sp>
      <p:sp>
        <p:nvSpPr>
          <p:cNvPr id="7" name="TextBox 6"/>
          <p:cNvSpPr txBox="1"/>
          <p:nvPr/>
        </p:nvSpPr>
        <p:spPr>
          <a:xfrm>
            <a:off x="658368" y="2578608"/>
            <a:ext cx="3442106" cy="1554480"/>
          </a:xfrm>
          <a:prstGeom prst="rect">
            <a:avLst/>
          </a:prstGeom>
          <a:noFill/>
        </p:spPr>
        <p:txBody>
          <a:bodyPr wrap="square" lIns="0" rIns="0" tIns="0" bIns="0">
            <a:spAutoFit/>
          </a:bodyPr>
          <a:lstStyle/>
          <a:p>
            <a:pPr algn="l">
              <a:lnSpc>
                <a:spcPct val="140000"/>
              </a:lnSpc>
            </a:pPr>
            <a:r>
              <a:rPr sz="1250" b="0">
                <a:solidFill>
                  <a:srgbClr val="C3C8BA"/>
                </a:solidFill>
                <a:latin typeface="Georgia"/>
              </a:rPr>
              <a:t>ITAR restricts access by foreign persons regardless of where the server sits. If a provider's infrastructure is operated by or accessible to foreign nationals, sending controlled technical data to it can constitute an export without a licence.</a:t>
            </a:r>
          </a:p>
        </p:txBody>
      </p:sp>
      <p:sp>
        <p:nvSpPr>
          <p:cNvPr id="8" name="TextBox 7"/>
          <p:cNvSpPr txBox="1"/>
          <p:nvPr/>
        </p:nvSpPr>
        <p:spPr>
          <a:xfrm>
            <a:off x="4374794" y="2212848"/>
            <a:ext cx="3442106" cy="310896"/>
          </a:xfrm>
          <a:prstGeom prst="rect">
            <a:avLst/>
          </a:prstGeom>
          <a:noFill/>
        </p:spPr>
        <p:txBody>
          <a:bodyPr wrap="square" lIns="0" rIns="0" tIns="0" bIns="0">
            <a:spAutoFit/>
          </a:bodyPr>
          <a:lstStyle/>
          <a:p>
            <a:pPr algn="l"/>
            <a:r>
              <a:rPr sz="1300" b="1" spc="160">
                <a:solidFill>
                  <a:srgbClr val="C8A04A"/>
                </a:solidFill>
                <a:latin typeface="Arial Narrow"/>
              </a:rPr>
              <a:t>“US REGION” IS NOT A CONTROL</a:t>
            </a:r>
          </a:p>
        </p:txBody>
      </p:sp>
      <p:sp>
        <p:nvSpPr>
          <p:cNvPr id="9" name="TextBox 8"/>
          <p:cNvSpPr txBox="1"/>
          <p:nvPr/>
        </p:nvSpPr>
        <p:spPr>
          <a:xfrm>
            <a:off x="4374794" y="2578608"/>
            <a:ext cx="3442106" cy="1554480"/>
          </a:xfrm>
          <a:prstGeom prst="rect">
            <a:avLst/>
          </a:prstGeom>
          <a:noFill/>
        </p:spPr>
        <p:txBody>
          <a:bodyPr wrap="square" lIns="0" rIns="0" tIns="0" bIns="0">
            <a:spAutoFit/>
          </a:bodyPr>
          <a:lstStyle/>
          <a:p>
            <a:pPr algn="l">
              <a:lnSpc>
                <a:spcPct val="140000"/>
              </a:lnSpc>
            </a:pPr>
            <a:r>
              <a:rPr sz="1250" b="0">
                <a:solidFill>
                  <a:srgbClr val="C3C8BA"/>
                </a:solidFill>
                <a:latin typeface="Georgia"/>
              </a:rPr>
              <a:t>A provider subject to foreign government access law creates sovereignty exposure whatever the datacenter's address. Routing CUI through a commercial tool's external servers violates the contract directly.</a:t>
            </a:r>
          </a:p>
        </p:txBody>
      </p:sp>
      <p:sp>
        <p:nvSpPr>
          <p:cNvPr id="10" name="TextBox 9"/>
          <p:cNvSpPr txBox="1"/>
          <p:nvPr/>
        </p:nvSpPr>
        <p:spPr>
          <a:xfrm>
            <a:off x="8091220" y="2212848"/>
            <a:ext cx="3442106" cy="310896"/>
          </a:xfrm>
          <a:prstGeom prst="rect">
            <a:avLst/>
          </a:prstGeom>
          <a:noFill/>
        </p:spPr>
        <p:txBody>
          <a:bodyPr wrap="square" lIns="0" rIns="0" tIns="0" bIns="0">
            <a:spAutoFit/>
          </a:bodyPr>
          <a:lstStyle/>
          <a:p>
            <a:pPr algn="l"/>
            <a:r>
              <a:rPr sz="1300" b="1" spc="160">
                <a:solidFill>
                  <a:srgbClr val="C8A04A"/>
                </a:solidFill>
                <a:latin typeface="Arial Narrow"/>
              </a:rPr>
              <a:t>THE PENALTY IS PERSONAL</a:t>
            </a:r>
          </a:p>
        </p:txBody>
      </p:sp>
      <p:sp>
        <p:nvSpPr>
          <p:cNvPr id="11" name="TextBox 10"/>
          <p:cNvSpPr txBox="1"/>
          <p:nvPr/>
        </p:nvSpPr>
        <p:spPr>
          <a:xfrm>
            <a:off x="8091220" y="2578608"/>
            <a:ext cx="3442106" cy="1554480"/>
          </a:xfrm>
          <a:prstGeom prst="rect">
            <a:avLst/>
          </a:prstGeom>
          <a:noFill/>
        </p:spPr>
        <p:txBody>
          <a:bodyPr wrap="square" lIns="0" rIns="0" tIns="0" bIns="0">
            <a:spAutoFit/>
          </a:bodyPr>
          <a:lstStyle/>
          <a:p>
            <a:pPr algn="l">
              <a:lnSpc>
                <a:spcPct val="140000"/>
              </a:lnSpc>
            </a:pPr>
            <a:r>
              <a:rPr sz="1250" b="0">
                <a:solidFill>
                  <a:srgbClr val="C3C8BA"/>
                </a:solidFill>
                <a:latin typeface="Georgia"/>
              </a:rPr>
              <a:t>Up to $1M per violation, with criminal liability reaching executives. No procurement officer signs off on that to save an afternoon of analysis.</a:t>
            </a:r>
          </a:p>
        </p:txBody>
      </p:sp>
      <p:sp>
        <p:nvSpPr>
          <p:cNvPr id="12" name="Rectangle 11"/>
          <p:cNvSpPr/>
          <p:nvPr/>
        </p:nvSpPr>
        <p:spPr>
          <a:xfrm>
            <a:off x="658368" y="4315968"/>
            <a:ext cx="10874959" cy="1371600"/>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4315968"/>
            <a:ext cx="38100" cy="137160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517136"/>
            <a:ext cx="10234879" cy="310896"/>
          </a:xfrm>
          <a:prstGeom prst="rect">
            <a:avLst/>
          </a:prstGeom>
          <a:noFill/>
        </p:spPr>
        <p:txBody>
          <a:bodyPr wrap="square" lIns="0" rIns="0" tIns="0" bIns="0">
            <a:spAutoFit/>
          </a:bodyPr>
          <a:lstStyle/>
          <a:p>
            <a:pPr algn="l"/>
            <a:r>
              <a:rPr sz="2000" b="1">
                <a:solidFill>
                  <a:srgbClr val="E3C483"/>
                </a:solidFill>
                <a:latin typeface="Arial Narrow"/>
              </a:rPr>
              <a:t>AND THE GRAPH IS THE SECRET</a:t>
            </a:r>
          </a:p>
        </p:txBody>
      </p:sp>
      <p:sp>
        <p:nvSpPr>
          <p:cNvPr id="15" name="TextBox 14"/>
          <p:cNvSpPr txBox="1"/>
          <p:nvPr/>
        </p:nvSpPr>
        <p:spPr>
          <a:xfrm>
            <a:off x="969264" y="4901184"/>
            <a:ext cx="10234879" cy="731520"/>
          </a:xfrm>
          <a:prstGeom prst="rect">
            <a:avLst/>
          </a:prstGeom>
          <a:noFill/>
        </p:spPr>
        <p:txBody>
          <a:bodyPr wrap="square" lIns="0" rIns="0" tIns="0" bIns="0">
            <a:spAutoFit/>
          </a:bodyPr>
          <a:lstStyle/>
          <a:p>
            <a:pPr algn="l">
              <a:lnSpc>
                <a:spcPct val="135000"/>
              </a:lnSpc>
            </a:pPr>
            <a:r>
              <a:rPr sz="1400" b="0">
                <a:solidFill>
                  <a:srgbClr val="E8EAE3"/>
                </a:solidFill>
                <a:latin typeface="Georgia"/>
              </a:rPr>
              <a:t>A supplier network is not metadata about a program. Which firm machines which part, sole-sourced, for which assembly — that IS the program, described from the bottom up. An adversary who wants to know what you are building, and where to press, would ask for exactly this file.</a:t>
            </a:r>
          </a:p>
        </p:txBody>
      </p:sp>
      <p:sp>
        <p:nvSpPr>
          <p:cNvPr id="16" name="TextBox 15"/>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ITAR 22 CFR 120-130 · DFARS 252.204-7012 · NIST SP 800-171 · CMMC 2.0 · CUI ENCLAVE GUIDANCE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07   WHAT WE BUILT, AND HOW   / 11</a:t>
            </a:r>
          </a:p>
        </p:txBody>
      </p:sp>
      <p:sp>
        <p:nvSpPr>
          <p:cNvPr id="5" name="TextBox 4"/>
          <p:cNvSpPr txBox="1"/>
          <p:nvPr/>
        </p:nvSpPr>
        <p:spPr>
          <a:xfrm>
            <a:off x="658368" y="932688"/>
            <a:ext cx="10874959" cy="1143000"/>
          </a:xfrm>
          <a:prstGeom prst="rect">
            <a:avLst/>
          </a:prstGeom>
          <a:noFill/>
        </p:spPr>
        <p:txBody>
          <a:bodyPr wrap="square" lIns="0" rIns="0" tIns="0" bIns="0">
            <a:spAutoFit/>
          </a:bodyPr>
          <a:lstStyle/>
          <a:p>
            <a:pPr algn="l">
              <a:lnSpc>
                <a:spcPct val="95000"/>
              </a:lnSpc>
            </a:pPr>
            <a:r>
              <a:rPr sz="2700" b="1">
                <a:solidFill>
                  <a:srgbClr val="E8EAE3"/>
                </a:solidFill>
                <a:latin typeface="Arial Narrow"/>
              </a:rPr>
              <a:t>IT WATCHES UNATTENDED, TRACES THREE TIERS, AND DRAFTS THE RESPONSE. THE MODEL WRITES — IT NEVER DECIDES WHO IS AFFECTED.</a:t>
            </a:r>
          </a:p>
        </p:txBody>
      </p:sp>
      <p:sp>
        <p:nvSpPr>
          <p:cNvPr id="6" name="Rectangle 5"/>
          <p:cNvSpPr/>
          <p:nvPr/>
        </p:nvSpPr>
        <p:spPr>
          <a:xfrm>
            <a:off x="658368" y="2212848"/>
            <a:ext cx="2087209" cy="157276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12848"/>
            <a:ext cx="2087209" cy="33020"/>
          </a:xfrm>
          <a:prstGeom prst="rect">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377440"/>
            <a:ext cx="1794601" cy="182880"/>
          </a:xfrm>
          <a:prstGeom prst="rect">
            <a:avLst/>
          </a:prstGeom>
          <a:noFill/>
        </p:spPr>
        <p:txBody>
          <a:bodyPr wrap="square" lIns="0" rIns="0" tIns="0" bIns="0">
            <a:spAutoFit/>
          </a:bodyPr>
          <a:lstStyle/>
          <a:p>
            <a:pPr algn="l"/>
            <a:r>
              <a:rPr sz="750" b="0" spc="120">
                <a:solidFill>
                  <a:srgbClr val="8D9486"/>
                </a:solidFill>
                <a:latin typeface="Consolas"/>
              </a:rPr>
              <a:t>01 · LOCAL</a:t>
            </a:r>
          </a:p>
        </p:txBody>
      </p:sp>
      <p:sp>
        <p:nvSpPr>
          <p:cNvPr id="9" name="TextBox 8"/>
          <p:cNvSpPr txBox="1"/>
          <p:nvPr/>
        </p:nvSpPr>
        <p:spPr>
          <a:xfrm>
            <a:off x="804672" y="2578608"/>
            <a:ext cx="1794601" cy="237744"/>
          </a:xfrm>
          <a:prstGeom prst="rect">
            <a:avLst/>
          </a:prstGeom>
          <a:noFill/>
        </p:spPr>
        <p:txBody>
          <a:bodyPr wrap="square" lIns="0" rIns="0" tIns="0" bIns="0">
            <a:spAutoFit/>
          </a:bodyPr>
          <a:lstStyle/>
          <a:p>
            <a:pPr algn="l"/>
            <a:r>
              <a:rPr sz="1100" b="1">
                <a:solidFill>
                  <a:srgbClr val="E8EAE3"/>
                </a:solidFill>
                <a:latin typeface="Consolas"/>
              </a:rPr>
              <a:t>MongoDB</a:t>
            </a:r>
          </a:p>
        </p:txBody>
      </p:sp>
      <p:sp>
        <p:nvSpPr>
          <p:cNvPr id="10" name="TextBox 9"/>
          <p:cNvSpPr txBox="1"/>
          <p:nvPr/>
        </p:nvSpPr>
        <p:spPr>
          <a:xfrm>
            <a:off x="804672" y="2871216"/>
            <a:ext cx="1794601" cy="822960"/>
          </a:xfrm>
          <a:prstGeom prst="rect">
            <a:avLst/>
          </a:prstGeom>
          <a:noFill/>
        </p:spPr>
        <p:txBody>
          <a:bodyPr wrap="square" lIns="0" rIns="0" tIns="0" bIns="0">
            <a:spAutoFit/>
          </a:bodyPr>
          <a:lstStyle/>
          <a:p>
            <a:pPr algn="l">
              <a:lnSpc>
                <a:spcPct val="130000"/>
              </a:lnSpc>
            </a:pPr>
            <a:r>
              <a:rPr sz="1000" b="0">
                <a:solidFill>
                  <a:srgbClr val="C3C8BA"/>
                </a:solidFill>
                <a:latin typeface="Georgia"/>
              </a:rPr>
              <a:t>Suppliers, parts, sole-source flags, the dependency graph. Loopback only.</a:t>
            </a:r>
          </a:p>
        </p:txBody>
      </p:sp>
      <p:sp>
        <p:nvSpPr>
          <p:cNvPr id="11" name="Right Triangle 10"/>
          <p:cNvSpPr/>
          <p:nvPr/>
        </p:nvSpPr>
        <p:spPr>
          <a:xfrm rot="5400000">
            <a:off x="2751577" y="2889504"/>
            <a:ext cx="100584" cy="128016"/>
          </a:xfrm>
          <a:prstGeom prst="rtTriangle">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55305" y="2212848"/>
            <a:ext cx="2087209" cy="157276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5305" y="2212848"/>
            <a:ext cx="2087209" cy="33020"/>
          </a:xfrm>
          <a:prstGeom prst="rect">
            <a:avLst/>
          </a:prstGeom>
          <a:solidFill>
            <a:srgbClr val="E3C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1609" y="2377440"/>
            <a:ext cx="1794601" cy="182880"/>
          </a:xfrm>
          <a:prstGeom prst="rect">
            <a:avLst/>
          </a:prstGeom>
          <a:noFill/>
        </p:spPr>
        <p:txBody>
          <a:bodyPr wrap="square" lIns="0" rIns="0" tIns="0" bIns="0">
            <a:spAutoFit/>
          </a:bodyPr>
          <a:lstStyle/>
          <a:p>
            <a:pPr algn="l"/>
            <a:r>
              <a:rPr sz="750" b="0" spc="120">
                <a:solidFill>
                  <a:srgbClr val="8D9486"/>
                </a:solidFill>
                <a:latin typeface="Consolas"/>
              </a:rPr>
              <a:t>02 · DETERMINISTIC</a:t>
            </a:r>
          </a:p>
        </p:txBody>
      </p:sp>
      <p:sp>
        <p:nvSpPr>
          <p:cNvPr id="15" name="TextBox 14"/>
          <p:cNvSpPr txBox="1"/>
          <p:nvPr/>
        </p:nvSpPr>
        <p:spPr>
          <a:xfrm>
            <a:off x="3001609" y="2578608"/>
            <a:ext cx="1794601" cy="237744"/>
          </a:xfrm>
          <a:prstGeom prst="rect">
            <a:avLst/>
          </a:prstGeom>
          <a:noFill/>
        </p:spPr>
        <p:txBody>
          <a:bodyPr wrap="square" lIns="0" rIns="0" tIns="0" bIns="0">
            <a:spAutoFit/>
          </a:bodyPr>
          <a:lstStyle/>
          <a:p>
            <a:pPr algn="l"/>
            <a:r>
              <a:rPr sz="1100" b="1">
                <a:solidFill>
                  <a:srgbClr val="E8EAE3"/>
                </a:solidFill>
                <a:latin typeface="Consolas"/>
              </a:rPr>
              <a:t>propagation.py</a:t>
            </a:r>
          </a:p>
        </p:txBody>
      </p:sp>
      <p:sp>
        <p:nvSpPr>
          <p:cNvPr id="16" name="TextBox 15"/>
          <p:cNvSpPr txBox="1"/>
          <p:nvPr/>
        </p:nvSpPr>
        <p:spPr>
          <a:xfrm>
            <a:off x="3001609" y="2871216"/>
            <a:ext cx="1794601" cy="822960"/>
          </a:xfrm>
          <a:prstGeom prst="rect">
            <a:avLst/>
          </a:prstGeom>
          <a:noFill/>
        </p:spPr>
        <p:txBody>
          <a:bodyPr wrap="square" lIns="0" rIns="0" tIns="0" bIns="0">
            <a:spAutoFit/>
          </a:bodyPr>
          <a:lstStyle/>
          <a:p>
            <a:pPr algn="l">
              <a:lnSpc>
                <a:spcPct val="130000"/>
              </a:lnSpc>
            </a:pPr>
            <a:r>
              <a:rPr sz="1000" b="0">
                <a:solidFill>
                  <a:srgbClr val="C3C8BA"/>
                </a:solidFill>
                <a:latin typeface="Georgia"/>
              </a:rPr>
              <a:t>Who is hit and how far it cascades. Plain Python, cycle-safe, same answer every run.</a:t>
            </a:r>
          </a:p>
        </p:txBody>
      </p:sp>
      <p:sp>
        <p:nvSpPr>
          <p:cNvPr id="17" name="Right Triangle 16"/>
          <p:cNvSpPr/>
          <p:nvPr/>
        </p:nvSpPr>
        <p:spPr>
          <a:xfrm rot="5400000">
            <a:off x="4948514" y="2889504"/>
            <a:ext cx="100584" cy="128016"/>
          </a:xfrm>
          <a:prstGeom prst="rtTriangle">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52242" y="2212848"/>
            <a:ext cx="2087209" cy="157276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2242" y="2212848"/>
            <a:ext cx="2087209" cy="33020"/>
          </a:xfrm>
          <a:prstGeom prst="rect">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98546" y="2377440"/>
            <a:ext cx="1794601" cy="182880"/>
          </a:xfrm>
          <a:prstGeom prst="rect">
            <a:avLst/>
          </a:prstGeom>
          <a:noFill/>
        </p:spPr>
        <p:txBody>
          <a:bodyPr wrap="square" lIns="0" rIns="0" tIns="0" bIns="0">
            <a:spAutoFit/>
          </a:bodyPr>
          <a:lstStyle/>
          <a:p>
            <a:pPr algn="l"/>
            <a:r>
              <a:rPr sz="750" b="0" spc="120">
                <a:solidFill>
                  <a:srgbClr val="8D9486"/>
                </a:solidFill>
                <a:latin typeface="Consolas"/>
              </a:rPr>
              <a:t>03 · OPENCLAW</a:t>
            </a:r>
          </a:p>
        </p:txBody>
      </p:sp>
      <p:sp>
        <p:nvSpPr>
          <p:cNvPr id="21" name="TextBox 20"/>
          <p:cNvSpPr txBox="1"/>
          <p:nvPr/>
        </p:nvSpPr>
        <p:spPr>
          <a:xfrm>
            <a:off x="5198546" y="2578608"/>
            <a:ext cx="1794601" cy="237744"/>
          </a:xfrm>
          <a:prstGeom prst="rect">
            <a:avLst/>
          </a:prstGeom>
          <a:noFill/>
        </p:spPr>
        <p:txBody>
          <a:bodyPr wrap="square" lIns="0" rIns="0" tIns="0" bIns="0">
            <a:spAutoFit/>
          </a:bodyPr>
          <a:lstStyle/>
          <a:p>
            <a:pPr algn="l"/>
            <a:r>
              <a:rPr sz="1100" b="1">
                <a:solidFill>
                  <a:srgbClr val="E8EAE3"/>
                </a:solidFill>
                <a:latin typeface="Consolas"/>
              </a:rPr>
              <a:t>Gateway → Qwen</a:t>
            </a:r>
          </a:p>
        </p:txBody>
      </p:sp>
      <p:sp>
        <p:nvSpPr>
          <p:cNvPr id="22" name="TextBox 21"/>
          <p:cNvSpPr txBox="1"/>
          <p:nvPr/>
        </p:nvSpPr>
        <p:spPr>
          <a:xfrm>
            <a:off x="5198546" y="2871216"/>
            <a:ext cx="1794601" cy="822960"/>
          </a:xfrm>
          <a:prstGeom prst="rect">
            <a:avLst/>
          </a:prstGeom>
          <a:noFill/>
        </p:spPr>
        <p:txBody>
          <a:bodyPr wrap="square" lIns="0" rIns="0" tIns="0" bIns="0">
            <a:spAutoFit/>
          </a:bodyPr>
          <a:lstStyle/>
          <a:p>
            <a:pPr algn="l">
              <a:lnSpc>
                <a:spcPct val="130000"/>
              </a:lnSpc>
            </a:pPr>
            <a:r>
              <a:rPr sz="1000" b="0">
                <a:solidFill>
                  <a:srgbClr val="C3C8BA"/>
                </a:solidFill>
                <a:latin typeface="Georgia"/>
              </a:rPr>
              <a:t>The gateway runs the prompt. The model writes; it is never asked which suppliers matter.</a:t>
            </a:r>
          </a:p>
        </p:txBody>
      </p:sp>
      <p:sp>
        <p:nvSpPr>
          <p:cNvPr id="23" name="Right Triangle 22"/>
          <p:cNvSpPr/>
          <p:nvPr/>
        </p:nvSpPr>
        <p:spPr>
          <a:xfrm rot="5400000">
            <a:off x="7145452" y="2889504"/>
            <a:ext cx="100584" cy="128016"/>
          </a:xfrm>
          <a:prstGeom prst="rtTriangle">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49180" y="2212848"/>
            <a:ext cx="2087209" cy="157276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49180" y="2212848"/>
            <a:ext cx="2087209" cy="33020"/>
          </a:xfrm>
          <a:prstGeom prst="rect">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95484" y="2377440"/>
            <a:ext cx="1794601" cy="182880"/>
          </a:xfrm>
          <a:prstGeom prst="rect">
            <a:avLst/>
          </a:prstGeom>
          <a:noFill/>
        </p:spPr>
        <p:txBody>
          <a:bodyPr wrap="square" lIns="0" rIns="0" tIns="0" bIns="0">
            <a:spAutoFit/>
          </a:bodyPr>
          <a:lstStyle/>
          <a:p>
            <a:pPr algn="l"/>
            <a:r>
              <a:rPr sz="750" b="0" spc="120">
                <a:solidFill>
                  <a:srgbClr val="8D9486"/>
                </a:solidFill>
                <a:latin typeface="Consolas"/>
              </a:rPr>
              <a:t>04 · OPENCLAW</a:t>
            </a:r>
          </a:p>
        </p:txBody>
      </p:sp>
      <p:sp>
        <p:nvSpPr>
          <p:cNvPr id="27" name="TextBox 26"/>
          <p:cNvSpPr txBox="1"/>
          <p:nvPr/>
        </p:nvSpPr>
        <p:spPr>
          <a:xfrm>
            <a:off x="7395484" y="2578608"/>
            <a:ext cx="1794601" cy="237744"/>
          </a:xfrm>
          <a:prstGeom prst="rect">
            <a:avLst/>
          </a:prstGeom>
          <a:noFill/>
        </p:spPr>
        <p:txBody>
          <a:bodyPr wrap="square" lIns="0" rIns="0" tIns="0" bIns="0">
            <a:spAutoFit/>
          </a:bodyPr>
          <a:lstStyle/>
          <a:p>
            <a:pPr algn="l"/>
            <a:r>
              <a:rPr sz="1100" b="1">
                <a:solidFill>
                  <a:srgbClr val="E8EAE3"/>
                </a:solidFill>
                <a:latin typeface="Consolas"/>
              </a:rPr>
              <a:t>Channel → reviewer</a:t>
            </a:r>
          </a:p>
        </p:txBody>
      </p:sp>
      <p:sp>
        <p:nvSpPr>
          <p:cNvPr id="28" name="TextBox 27"/>
          <p:cNvSpPr txBox="1"/>
          <p:nvPr/>
        </p:nvSpPr>
        <p:spPr>
          <a:xfrm>
            <a:off x="7395484" y="2871216"/>
            <a:ext cx="1794601" cy="822960"/>
          </a:xfrm>
          <a:prstGeom prst="rect">
            <a:avLst/>
          </a:prstGeom>
          <a:noFill/>
        </p:spPr>
        <p:txBody>
          <a:bodyPr wrap="square" lIns="0" rIns="0" tIns="0" bIns="0">
            <a:spAutoFit/>
          </a:bodyPr>
          <a:lstStyle/>
          <a:p>
            <a:pPr algn="l">
              <a:lnSpc>
                <a:spcPct val="130000"/>
              </a:lnSpc>
            </a:pPr>
            <a:r>
              <a:rPr sz="1000" b="0">
                <a:solidFill>
                  <a:srgbClr val="C3C8BA"/>
                </a:solidFill>
                <a:latin typeface="Georgia"/>
              </a:rPr>
              <a:t>The draft is delivered to the person who can approve it, in the app they already use.</a:t>
            </a:r>
          </a:p>
        </p:txBody>
      </p:sp>
      <p:sp>
        <p:nvSpPr>
          <p:cNvPr id="29" name="Right Triangle 28"/>
          <p:cNvSpPr/>
          <p:nvPr/>
        </p:nvSpPr>
        <p:spPr>
          <a:xfrm rot="5400000">
            <a:off x="9342389" y="2889504"/>
            <a:ext cx="100584" cy="128016"/>
          </a:xfrm>
          <a:prstGeom prst="rtTriangle">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46117" y="2212848"/>
            <a:ext cx="2087209" cy="157276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446117" y="2212848"/>
            <a:ext cx="2087209" cy="33020"/>
          </a:xfrm>
          <a:prstGeom prst="rect">
            <a:avLst/>
          </a:prstGeom>
          <a:solidFill>
            <a:srgbClr val="8E71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92421" y="2377440"/>
            <a:ext cx="1794601" cy="182880"/>
          </a:xfrm>
          <a:prstGeom prst="rect">
            <a:avLst/>
          </a:prstGeom>
          <a:noFill/>
        </p:spPr>
        <p:txBody>
          <a:bodyPr wrap="square" lIns="0" rIns="0" tIns="0" bIns="0">
            <a:spAutoFit/>
          </a:bodyPr>
          <a:lstStyle/>
          <a:p>
            <a:pPr algn="l"/>
            <a:r>
              <a:rPr sz="750" b="0" spc="120">
                <a:solidFill>
                  <a:srgbClr val="8D9486"/>
                </a:solidFill>
                <a:latin typeface="Consolas"/>
              </a:rPr>
              <a:t>05 · HUMAN</a:t>
            </a:r>
          </a:p>
        </p:txBody>
      </p:sp>
      <p:sp>
        <p:nvSpPr>
          <p:cNvPr id="33" name="TextBox 32"/>
          <p:cNvSpPr txBox="1"/>
          <p:nvPr/>
        </p:nvSpPr>
        <p:spPr>
          <a:xfrm>
            <a:off x="9592421" y="2578608"/>
            <a:ext cx="1794601" cy="237744"/>
          </a:xfrm>
          <a:prstGeom prst="rect">
            <a:avLst/>
          </a:prstGeom>
          <a:noFill/>
        </p:spPr>
        <p:txBody>
          <a:bodyPr wrap="square" lIns="0" rIns="0" tIns="0" bIns="0">
            <a:spAutoFit/>
          </a:bodyPr>
          <a:lstStyle/>
          <a:p>
            <a:pPr algn="l"/>
            <a:r>
              <a:rPr sz="1100" b="1">
                <a:solidFill>
                  <a:srgbClr val="E8EAE3"/>
                </a:solidFill>
                <a:latin typeface="Consolas"/>
              </a:rPr>
              <a:t>Approval</a:t>
            </a:r>
          </a:p>
        </p:txBody>
      </p:sp>
      <p:sp>
        <p:nvSpPr>
          <p:cNvPr id="34" name="TextBox 33"/>
          <p:cNvSpPr txBox="1"/>
          <p:nvPr/>
        </p:nvSpPr>
        <p:spPr>
          <a:xfrm>
            <a:off x="9592421" y="2871216"/>
            <a:ext cx="1794601" cy="822960"/>
          </a:xfrm>
          <a:prstGeom prst="rect">
            <a:avLst/>
          </a:prstGeom>
          <a:noFill/>
        </p:spPr>
        <p:txBody>
          <a:bodyPr wrap="square" lIns="0" rIns="0" tIns="0" bIns="0">
            <a:spAutoFit/>
          </a:bodyPr>
          <a:lstStyle/>
          <a:p>
            <a:pPr algn="l">
              <a:lnSpc>
                <a:spcPct val="130000"/>
              </a:lnSpc>
            </a:pPr>
            <a:r>
              <a:rPr sz="1000" b="0">
                <a:solidFill>
                  <a:srgbClr val="C3C8BA"/>
                </a:solidFill>
                <a:latin typeface="Georgia"/>
              </a:rPr>
              <a:t>Unsent until a person says so. Every decision, including suppressions, is logged.</a:t>
            </a:r>
          </a:p>
        </p:txBody>
      </p:sp>
      <p:sp>
        <p:nvSpPr>
          <p:cNvPr id="35" name="Rectangle 34"/>
          <p:cNvSpPr/>
          <p:nvPr/>
        </p:nvSpPr>
        <p:spPr>
          <a:xfrm>
            <a:off x="658368" y="3968496"/>
            <a:ext cx="786384" cy="365760"/>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spc="120">
                <a:solidFill>
                  <a:srgbClr val="C3C8BA"/>
                </a:solidFill>
                <a:latin typeface="Consolas"/>
              </a:rPr>
              <a:t>TIER 0</a:t>
            </a:r>
          </a:p>
        </p:txBody>
      </p:sp>
      <p:sp>
        <p:nvSpPr>
          <p:cNvPr id="36" name="Rectangle 35"/>
          <p:cNvSpPr/>
          <p:nvPr/>
        </p:nvSpPr>
        <p:spPr>
          <a:xfrm>
            <a:off x="1536192" y="3968496"/>
            <a:ext cx="9997135" cy="365760"/>
          </a:xfrm>
          <a:prstGeom prst="rect">
            <a:avLst/>
          </a:prstGeom>
          <a:solidFill>
            <a:srgbClr val="E3C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64208" y="3995928"/>
            <a:ext cx="9722815" cy="310896"/>
          </a:xfrm>
          <a:prstGeom prst="rect">
            <a:avLst/>
          </a:prstGeom>
          <a:noFill/>
        </p:spPr>
        <p:txBody>
          <a:bodyPr wrap="none" lIns="0" tIns="0" bIns="0">
            <a:spAutoFit/>
          </a:bodyPr>
          <a:lstStyle/>
          <a:p>
            <a:r>
              <a:rPr sz="1200" b="1">
                <a:solidFill>
                  <a:srgbClr val="10130F"/>
                </a:solidFill>
                <a:latin typeface="Arial Narrow"/>
              </a:rPr>
              <a:t>ALTIPLANO RARE EARTH   </a:t>
            </a:r>
            <a:r>
              <a:rPr sz="950">
                <a:solidFill>
                  <a:srgbClr val="10130F"/>
                </a:solidFill>
                <a:latin typeface="Georgia"/>
              </a:rPr>
              <a:t>neodymium magnet billet · sole source · non-compliant</a:t>
            </a:r>
          </a:p>
        </p:txBody>
      </p:sp>
      <p:sp>
        <p:nvSpPr>
          <p:cNvPr id="38" name="Rectangle 37"/>
          <p:cNvSpPr/>
          <p:nvPr/>
        </p:nvSpPr>
        <p:spPr>
          <a:xfrm>
            <a:off x="658368" y="4389120"/>
            <a:ext cx="786384" cy="365760"/>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spc="120">
                <a:solidFill>
                  <a:srgbClr val="C3C8BA"/>
                </a:solidFill>
                <a:latin typeface="Consolas"/>
              </a:rPr>
              <a:t>TIER 1</a:t>
            </a:r>
          </a:p>
        </p:txBody>
      </p:sp>
      <p:sp>
        <p:nvSpPr>
          <p:cNvPr id="39" name="Rectangle 38"/>
          <p:cNvSpPr/>
          <p:nvPr/>
        </p:nvSpPr>
        <p:spPr>
          <a:xfrm>
            <a:off x="1536192" y="4389120"/>
            <a:ext cx="8397593" cy="36576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64208" y="4416552"/>
            <a:ext cx="8123273" cy="310896"/>
          </a:xfrm>
          <a:prstGeom prst="rect">
            <a:avLst/>
          </a:prstGeom>
          <a:noFill/>
        </p:spPr>
        <p:txBody>
          <a:bodyPr wrap="none" lIns="0" tIns="0" bIns="0">
            <a:spAutoFit/>
          </a:bodyPr>
          <a:lstStyle/>
          <a:p>
            <a:r>
              <a:rPr sz="1200" b="1">
                <a:solidFill>
                  <a:srgbClr val="10130F"/>
                </a:solidFill>
                <a:latin typeface="Arial Narrow"/>
              </a:rPr>
              <a:t>2 SUPPLIERS   </a:t>
            </a:r>
            <a:r>
              <a:rPr sz="950">
                <a:solidFill>
                  <a:srgbClr val="10130F"/>
                </a:solidFill>
                <a:latin typeface="Georgia"/>
              </a:rPr>
              <a:t>sensor array · mounting bracket</a:t>
            </a:r>
          </a:p>
        </p:txBody>
      </p:sp>
      <p:sp>
        <p:nvSpPr>
          <p:cNvPr id="41" name="Rectangle 40"/>
          <p:cNvSpPr/>
          <p:nvPr/>
        </p:nvSpPr>
        <p:spPr>
          <a:xfrm>
            <a:off x="658368" y="4809744"/>
            <a:ext cx="786384" cy="365760"/>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spc="120">
                <a:solidFill>
                  <a:srgbClr val="C3C8BA"/>
                </a:solidFill>
                <a:latin typeface="Consolas"/>
              </a:rPr>
              <a:t>TIER 2</a:t>
            </a:r>
          </a:p>
        </p:txBody>
      </p:sp>
      <p:sp>
        <p:nvSpPr>
          <p:cNvPr id="42" name="Rectangle 41"/>
          <p:cNvSpPr/>
          <p:nvPr/>
        </p:nvSpPr>
        <p:spPr>
          <a:xfrm>
            <a:off x="1536192" y="4809744"/>
            <a:ext cx="6398166" cy="365760"/>
          </a:xfrm>
          <a:prstGeom prst="rect">
            <a:avLst/>
          </a:prstGeom>
          <a:solidFill>
            <a:srgbClr val="9C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664208" y="4837176"/>
            <a:ext cx="6123846" cy="310896"/>
          </a:xfrm>
          <a:prstGeom prst="rect">
            <a:avLst/>
          </a:prstGeom>
          <a:noFill/>
        </p:spPr>
        <p:txBody>
          <a:bodyPr wrap="none" lIns="0" tIns="0" bIns="0">
            <a:spAutoFit/>
          </a:bodyPr>
          <a:lstStyle/>
          <a:p>
            <a:r>
              <a:rPr sz="1200" b="1">
                <a:solidFill>
                  <a:srgbClr val="F2EEE4"/>
                </a:solidFill>
                <a:latin typeface="Arial Narrow"/>
              </a:rPr>
              <a:t>2 SUPPLIERS   </a:t>
            </a:r>
            <a:r>
              <a:rPr sz="950">
                <a:solidFill>
                  <a:srgbClr val="F2EEE4"/>
                </a:solidFill>
                <a:latin typeface="Georgia"/>
              </a:rPr>
              <a:t>turbocharger subassembly · wiring harness</a:t>
            </a:r>
          </a:p>
        </p:txBody>
      </p:sp>
      <p:sp>
        <p:nvSpPr>
          <p:cNvPr id="44" name="Rectangle 43"/>
          <p:cNvSpPr/>
          <p:nvPr/>
        </p:nvSpPr>
        <p:spPr>
          <a:xfrm>
            <a:off x="658368" y="5230368"/>
            <a:ext cx="786384" cy="365760"/>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spc="120">
                <a:solidFill>
                  <a:srgbClr val="C3C8BA"/>
                </a:solidFill>
                <a:latin typeface="Consolas"/>
              </a:rPr>
              <a:t>TIER 3</a:t>
            </a:r>
          </a:p>
        </p:txBody>
      </p:sp>
      <p:sp>
        <p:nvSpPr>
          <p:cNvPr id="45" name="Rectangle 44"/>
          <p:cNvSpPr/>
          <p:nvPr/>
        </p:nvSpPr>
        <p:spPr>
          <a:xfrm>
            <a:off x="1536192" y="5230368"/>
            <a:ext cx="4398739" cy="365760"/>
          </a:xfrm>
          <a:prstGeom prst="rect">
            <a:avLst/>
          </a:prstGeom>
          <a:solidFill>
            <a:srgbClr val="6D5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64208" y="5257800"/>
            <a:ext cx="4124419" cy="310896"/>
          </a:xfrm>
          <a:prstGeom prst="rect">
            <a:avLst/>
          </a:prstGeom>
          <a:noFill/>
        </p:spPr>
        <p:txBody>
          <a:bodyPr wrap="none" lIns="0" tIns="0" bIns="0">
            <a:spAutoFit/>
          </a:bodyPr>
          <a:lstStyle/>
          <a:p>
            <a:r>
              <a:rPr sz="1200" b="1">
                <a:solidFill>
                  <a:srgbClr val="F2EEE4"/>
                </a:solidFill>
                <a:latin typeface="Arial Narrow"/>
              </a:rPr>
              <a:t>FINISHED POWERTRAIN MODULE   </a:t>
            </a:r>
            <a:r>
              <a:rPr sz="950">
                <a:solidFill>
                  <a:srgbClr val="F2EEE4"/>
                </a:solidFill>
                <a:latin typeface="Georgia"/>
              </a:rPr>
              <a:t>the deliverable</a:t>
            </a:r>
          </a:p>
        </p:txBody>
      </p:sp>
      <p:sp>
        <p:nvSpPr>
          <p:cNvPr id="47" name="TextBox 46"/>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WORKED EXAMPLE FROM THE RUNNING SYSTEM: ONE LICENCE SUSPENSION, SIX FIRMS EXPOSED, NETWORK RISK 0.961 — FOUR TIERS FROM THE PRODUCT THAT SHIPS.   MEASURED: 0.57S WITH THE MODEL OFF · 267 AUTOMATED CHECKS · EXTERNAL CALLS MADE: 0</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08   BUILT WITH   / 11</a:t>
            </a:r>
          </a:p>
        </p:txBody>
      </p:sp>
      <p:sp>
        <p:nvSpPr>
          <p:cNvPr id="5" name="TextBox 4"/>
          <p:cNvSpPr txBox="1"/>
          <p:nvPr/>
        </p:nvSpPr>
        <p:spPr>
          <a:xfrm>
            <a:off x="658368" y="932688"/>
            <a:ext cx="10874959" cy="731520"/>
          </a:xfrm>
          <a:prstGeom prst="rect">
            <a:avLst/>
          </a:prstGeom>
          <a:noFill/>
        </p:spPr>
        <p:txBody>
          <a:bodyPr wrap="square" lIns="0" rIns="0" tIns="0" bIns="0">
            <a:spAutoFit/>
          </a:bodyPr>
          <a:lstStyle/>
          <a:p>
            <a:pPr algn="l">
              <a:lnSpc>
                <a:spcPct val="95000"/>
              </a:lnSpc>
            </a:pPr>
            <a:r>
              <a:rPr sz="3400" b="1">
                <a:solidFill>
                  <a:srgbClr val="E8EAE3"/>
                </a:solidFill>
                <a:latin typeface="Arial Narrow"/>
              </a:rPr>
              <a:t>ELEVEN COMPONENTS. EVERY ONE OF THEM ON THE BOX.</a:t>
            </a:r>
          </a:p>
        </p:txBody>
      </p:sp>
      <p:sp>
        <p:nvSpPr>
          <p:cNvPr id="6" name="TextBox 5"/>
          <p:cNvSpPr txBox="1"/>
          <p:nvPr/>
        </p:nvSpPr>
        <p:spPr>
          <a:xfrm>
            <a:off x="658368" y="1755648"/>
            <a:ext cx="457200" cy="201168"/>
          </a:xfrm>
          <a:prstGeom prst="rect">
            <a:avLst/>
          </a:prstGeom>
          <a:noFill/>
        </p:spPr>
        <p:txBody>
          <a:bodyPr wrap="square" lIns="0" rIns="0" tIns="0" bIns="0">
            <a:spAutoFit/>
          </a:bodyPr>
          <a:lstStyle/>
          <a:p>
            <a:pPr algn="l"/>
            <a:r>
              <a:rPr sz="800" b="0" spc="140">
                <a:solidFill>
                  <a:srgbClr val="8E7133"/>
                </a:solidFill>
                <a:latin typeface="Consolas"/>
              </a:rPr>
              <a:t>REF</a:t>
            </a:r>
          </a:p>
        </p:txBody>
      </p:sp>
      <p:sp>
        <p:nvSpPr>
          <p:cNvPr id="7" name="TextBox 6"/>
          <p:cNvSpPr txBox="1"/>
          <p:nvPr/>
        </p:nvSpPr>
        <p:spPr>
          <a:xfrm>
            <a:off x="1170432" y="1755648"/>
            <a:ext cx="2103120" cy="201168"/>
          </a:xfrm>
          <a:prstGeom prst="rect">
            <a:avLst/>
          </a:prstGeom>
          <a:noFill/>
        </p:spPr>
        <p:txBody>
          <a:bodyPr wrap="square" lIns="0" rIns="0" tIns="0" bIns="0">
            <a:spAutoFit/>
          </a:bodyPr>
          <a:lstStyle/>
          <a:p>
            <a:pPr algn="l"/>
            <a:r>
              <a:rPr sz="800" b="0" spc="140">
                <a:solidFill>
                  <a:srgbClr val="8E7133"/>
                </a:solidFill>
                <a:latin typeface="Consolas"/>
              </a:rPr>
              <a:t>COMPONENT</a:t>
            </a:r>
          </a:p>
        </p:txBody>
      </p:sp>
      <p:sp>
        <p:nvSpPr>
          <p:cNvPr id="8" name="TextBox 7"/>
          <p:cNvSpPr txBox="1"/>
          <p:nvPr/>
        </p:nvSpPr>
        <p:spPr>
          <a:xfrm>
            <a:off x="3328416" y="1755648"/>
            <a:ext cx="6035040" cy="201168"/>
          </a:xfrm>
          <a:prstGeom prst="rect">
            <a:avLst/>
          </a:prstGeom>
          <a:noFill/>
        </p:spPr>
        <p:txBody>
          <a:bodyPr wrap="square" lIns="0" rIns="0" tIns="0" bIns="0">
            <a:spAutoFit/>
          </a:bodyPr>
          <a:lstStyle/>
          <a:p>
            <a:pPr algn="l"/>
            <a:r>
              <a:rPr sz="800" b="0" spc="140">
                <a:solidFill>
                  <a:srgbClr val="8E7133"/>
                </a:solidFill>
                <a:latin typeface="Consolas"/>
              </a:rPr>
              <a:t>FUNCTION</a:t>
            </a:r>
          </a:p>
        </p:txBody>
      </p:sp>
      <p:sp>
        <p:nvSpPr>
          <p:cNvPr id="9" name="TextBox 8"/>
          <p:cNvSpPr txBox="1"/>
          <p:nvPr/>
        </p:nvSpPr>
        <p:spPr>
          <a:xfrm>
            <a:off x="9418320" y="1755648"/>
            <a:ext cx="1463040" cy="201168"/>
          </a:xfrm>
          <a:prstGeom prst="rect">
            <a:avLst/>
          </a:prstGeom>
          <a:noFill/>
        </p:spPr>
        <p:txBody>
          <a:bodyPr wrap="square" lIns="0" rIns="0" tIns="0" bIns="0">
            <a:spAutoFit/>
          </a:bodyPr>
          <a:lstStyle/>
          <a:p>
            <a:pPr algn="r"/>
            <a:r>
              <a:rPr sz="800" b="0" spc="140">
                <a:solidFill>
                  <a:srgbClr val="8E7133"/>
                </a:solidFill>
                <a:latin typeface="Consolas"/>
              </a:rPr>
              <a:t>RUNS AT</a:t>
            </a:r>
          </a:p>
        </p:txBody>
      </p:sp>
      <p:sp>
        <p:nvSpPr>
          <p:cNvPr id="10" name="Rectangle 9"/>
          <p:cNvSpPr/>
          <p:nvPr/>
        </p:nvSpPr>
        <p:spPr>
          <a:xfrm>
            <a:off x="658368" y="2011680"/>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093976"/>
            <a:ext cx="457200" cy="182880"/>
          </a:xfrm>
          <a:prstGeom prst="rect">
            <a:avLst/>
          </a:prstGeom>
          <a:noFill/>
        </p:spPr>
        <p:txBody>
          <a:bodyPr wrap="square" lIns="0" rIns="0" tIns="0" bIns="0">
            <a:spAutoFit/>
          </a:bodyPr>
          <a:lstStyle/>
          <a:p>
            <a:pPr algn="ctr"/>
            <a:r>
              <a:rPr sz="800" b="0">
                <a:solidFill>
                  <a:srgbClr val="8D9486"/>
                </a:solidFill>
                <a:latin typeface="Consolas"/>
              </a:rPr>
              <a:t>A1</a:t>
            </a:r>
          </a:p>
        </p:txBody>
      </p:sp>
      <p:sp>
        <p:nvSpPr>
          <p:cNvPr id="12" name="Rectangle 11"/>
          <p:cNvSpPr/>
          <p:nvPr/>
        </p:nvSpPr>
        <p:spPr>
          <a:xfrm>
            <a:off x="1170432" y="2011680"/>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080260"/>
            <a:ext cx="1920240" cy="201168"/>
          </a:xfrm>
          <a:prstGeom prst="rect">
            <a:avLst/>
          </a:prstGeom>
          <a:noFill/>
        </p:spPr>
        <p:txBody>
          <a:bodyPr wrap="square" lIns="0" rIns="0" tIns="0" bIns="0">
            <a:spAutoFit/>
          </a:bodyPr>
          <a:lstStyle/>
          <a:p>
            <a:pPr algn="l"/>
            <a:r>
              <a:rPr sz="1000" b="0">
                <a:solidFill>
                  <a:srgbClr val="E8EAE3"/>
                </a:solidFill>
                <a:latin typeface="Consolas"/>
              </a:rPr>
              <a:t>NVIDIA GB10</a:t>
            </a:r>
          </a:p>
        </p:txBody>
      </p:sp>
      <p:sp>
        <p:nvSpPr>
          <p:cNvPr id="14" name="Rectangle 13"/>
          <p:cNvSpPr/>
          <p:nvPr/>
        </p:nvSpPr>
        <p:spPr>
          <a:xfrm>
            <a:off x="3328416" y="2011680"/>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38144" y="2084832"/>
            <a:ext cx="5852160" cy="201168"/>
          </a:xfrm>
          <a:prstGeom prst="rect">
            <a:avLst/>
          </a:prstGeom>
          <a:noFill/>
        </p:spPr>
        <p:txBody>
          <a:bodyPr wrap="square" lIns="0" rIns="0" tIns="0" bIns="0">
            <a:spAutoFit/>
          </a:bodyPr>
          <a:lstStyle/>
          <a:p>
            <a:pPr algn="l"/>
            <a:r>
              <a:rPr sz="1050" b="0">
                <a:solidFill>
                  <a:srgbClr val="C3C8BA"/>
                </a:solidFill>
                <a:latin typeface="Georgia"/>
              </a:rPr>
              <a:t>The box. Everything below this line runs on it.</a:t>
            </a:r>
          </a:p>
        </p:txBody>
      </p:sp>
      <p:sp>
        <p:nvSpPr>
          <p:cNvPr id="16" name="Rectangle 15"/>
          <p:cNvSpPr/>
          <p:nvPr/>
        </p:nvSpPr>
        <p:spPr>
          <a:xfrm>
            <a:off x="9418320" y="2011680"/>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4896" y="2089404"/>
            <a:ext cx="1335024" cy="182880"/>
          </a:xfrm>
          <a:prstGeom prst="rect">
            <a:avLst/>
          </a:prstGeom>
          <a:noFill/>
        </p:spPr>
        <p:txBody>
          <a:bodyPr wrap="square" lIns="0" rIns="0" tIns="0" bIns="0">
            <a:spAutoFit/>
          </a:bodyPr>
          <a:lstStyle/>
          <a:p>
            <a:pPr algn="r"/>
            <a:r>
              <a:rPr sz="900" b="0">
                <a:solidFill>
                  <a:srgbClr val="C8A04A"/>
                </a:solidFill>
                <a:latin typeface="Consolas"/>
              </a:rPr>
              <a:t>on prem</a:t>
            </a:r>
          </a:p>
        </p:txBody>
      </p:sp>
      <p:sp>
        <p:nvSpPr>
          <p:cNvPr id="18" name="Rectangle 17"/>
          <p:cNvSpPr/>
          <p:nvPr/>
        </p:nvSpPr>
        <p:spPr>
          <a:xfrm>
            <a:off x="658368" y="2336292"/>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418588"/>
            <a:ext cx="457200" cy="182880"/>
          </a:xfrm>
          <a:prstGeom prst="rect">
            <a:avLst/>
          </a:prstGeom>
          <a:noFill/>
        </p:spPr>
        <p:txBody>
          <a:bodyPr wrap="square" lIns="0" rIns="0" tIns="0" bIns="0">
            <a:spAutoFit/>
          </a:bodyPr>
          <a:lstStyle/>
          <a:p>
            <a:pPr algn="ctr"/>
            <a:r>
              <a:rPr sz="800" b="0">
                <a:solidFill>
                  <a:srgbClr val="8D9486"/>
                </a:solidFill>
                <a:latin typeface="Consolas"/>
              </a:rPr>
              <a:t>A2</a:t>
            </a:r>
          </a:p>
        </p:txBody>
      </p:sp>
      <p:sp>
        <p:nvSpPr>
          <p:cNvPr id="20" name="Rectangle 19"/>
          <p:cNvSpPr/>
          <p:nvPr/>
        </p:nvSpPr>
        <p:spPr>
          <a:xfrm>
            <a:off x="1170432" y="2336292"/>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2404872"/>
            <a:ext cx="1920240" cy="201168"/>
          </a:xfrm>
          <a:prstGeom prst="rect">
            <a:avLst/>
          </a:prstGeom>
          <a:noFill/>
        </p:spPr>
        <p:txBody>
          <a:bodyPr wrap="square" lIns="0" rIns="0" tIns="0" bIns="0">
            <a:spAutoFit/>
          </a:bodyPr>
          <a:lstStyle/>
          <a:p>
            <a:pPr algn="l"/>
            <a:r>
              <a:rPr sz="1000" b="0">
                <a:solidFill>
                  <a:srgbClr val="E8EAE3"/>
                </a:solidFill>
                <a:latin typeface="Consolas"/>
              </a:rPr>
              <a:t>Qwen 3.6 35B</a:t>
            </a:r>
          </a:p>
        </p:txBody>
      </p:sp>
      <p:sp>
        <p:nvSpPr>
          <p:cNvPr id="22" name="Rectangle 21"/>
          <p:cNvSpPr/>
          <p:nvPr/>
        </p:nvSpPr>
        <p:spPr>
          <a:xfrm>
            <a:off x="3328416" y="2336292"/>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38144" y="2409444"/>
            <a:ext cx="5852160" cy="201168"/>
          </a:xfrm>
          <a:prstGeom prst="rect">
            <a:avLst/>
          </a:prstGeom>
          <a:noFill/>
        </p:spPr>
        <p:txBody>
          <a:bodyPr wrap="square" lIns="0" rIns="0" tIns="0" bIns="0">
            <a:spAutoFit/>
          </a:bodyPr>
          <a:lstStyle/>
          <a:p>
            <a:pPr algn="l"/>
            <a:r>
              <a:rPr sz="1050" b="0">
                <a:solidFill>
                  <a:srgbClr val="C3C8BA"/>
                </a:solidFill>
                <a:latin typeface="Georgia"/>
              </a:rPr>
              <a:t>Language model. Writes the assessment and the draft.</a:t>
            </a:r>
          </a:p>
        </p:txBody>
      </p:sp>
      <p:sp>
        <p:nvSpPr>
          <p:cNvPr id="24" name="Rectangle 23"/>
          <p:cNvSpPr/>
          <p:nvPr/>
        </p:nvSpPr>
        <p:spPr>
          <a:xfrm>
            <a:off x="9418320" y="2336292"/>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54896" y="2414016"/>
            <a:ext cx="1335024" cy="182880"/>
          </a:xfrm>
          <a:prstGeom prst="rect">
            <a:avLst/>
          </a:prstGeom>
          <a:noFill/>
        </p:spPr>
        <p:txBody>
          <a:bodyPr wrap="square" lIns="0" rIns="0" tIns="0" bIns="0">
            <a:spAutoFit/>
          </a:bodyPr>
          <a:lstStyle/>
          <a:p>
            <a:pPr algn="r"/>
            <a:r>
              <a:rPr sz="900" b="0">
                <a:solidFill>
                  <a:srgbClr val="C8A04A"/>
                </a:solidFill>
                <a:latin typeface="Consolas"/>
              </a:rPr>
              <a:t>local weights</a:t>
            </a:r>
          </a:p>
        </p:txBody>
      </p:sp>
      <p:sp>
        <p:nvSpPr>
          <p:cNvPr id="26" name="Rectangle 25"/>
          <p:cNvSpPr/>
          <p:nvPr/>
        </p:nvSpPr>
        <p:spPr>
          <a:xfrm>
            <a:off x="658368" y="2660904"/>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2743200"/>
            <a:ext cx="457200" cy="182880"/>
          </a:xfrm>
          <a:prstGeom prst="rect">
            <a:avLst/>
          </a:prstGeom>
          <a:noFill/>
        </p:spPr>
        <p:txBody>
          <a:bodyPr wrap="square" lIns="0" rIns="0" tIns="0" bIns="0">
            <a:spAutoFit/>
          </a:bodyPr>
          <a:lstStyle/>
          <a:p>
            <a:pPr algn="ctr"/>
            <a:r>
              <a:rPr sz="800" b="0">
                <a:solidFill>
                  <a:srgbClr val="8D9486"/>
                </a:solidFill>
                <a:latin typeface="Consolas"/>
              </a:rPr>
              <a:t>A3</a:t>
            </a:r>
          </a:p>
        </p:txBody>
      </p:sp>
      <p:sp>
        <p:nvSpPr>
          <p:cNvPr id="28" name="Rectangle 27"/>
          <p:cNvSpPr/>
          <p:nvPr/>
        </p:nvSpPr>
        <p:spPr>
          <a:xfrm>
            <a:off x="1170432" y="2660904"/>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2729484"/>
            <a:ext cx="1920240" cy="201168"/>
          </a:xfrm>
          <a:prstGeom prst="rect">
            <a:avLst/>
          </a:prstGeom>
          <a:noFill/>
        </p:spPr>
        <p:txBody>
          <a:bodyPr wrap="square" lIns="0" rIns="0" tIns="0" bIns="0">
            <a:spAutoFit/>
          </a:bodyPr>
          <a:lstStyle/>
          <a:p>
            <a:pPr algn="l"/>
            <a:r>
              <a:rPr sz="1000" b="0">
                <a:solidFill>
                  <a:srgbClr val="E8EAE3"/>
                </a:solidFill>
                <a:latin typeface="Consolas"/>
              </a:rPr>
              <a:t>Ollama</a:t>
            </a:r>
          </a:p>
        </p:txBody>
      </p:sp>
      <p:sp>
        <p:nvSpPr>
          <p:cNvPr id="30" name="Rectangle 29"/>
          <p:cNvSpPr/>
          <p:nvPr/>
        </p:nvSpPr>
        <p:spPr>
          <a:xfrm>
            <a:off x="3328416" y="2660904"/>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38144" y="2734056"/>
            <a:ext cx="5852160" cy="201168"/>
          </a:xfrm>
          <a:prstGeom prst="rect">
            <a:avLst/>
          </a:prstGeom>
          <a:noFill/>
        </p:spPr>
        <p:txBody>
          <a:bodyPr wrap="square" lIns="0" rIns="0" tIns="0" bIns="0">
            <a:spAutoFit/>
          </a:bodyPr>
          <a:lstStyle/>
          <a:p>
            <a:pPr algn="l"/>
            <a:r>
              <a:rPr sz="1050" b="0">
                <a:solidFill>
                  <a:srgbClr val="C3C8BA"/>
                </a:solidFill>
                <a:latin typeface="Georgia"/>
              </a:rPr>
              <a:t>Serves the model on the box.</a:t>
            </a:r>
          </a:p>
        </p:txBody>
      </p:sp>
      <p:sp>
        <p:nvSpPr>
          <p:cNvPr id="32" name="Rectangle 31"/>
          <p:cNvSpPr/>
          <p:nvPr/>
        </p:nvSpPr>
        <p:spPr>
          <a:xfrm>
            <a:off x="9418320" y="2660904"/>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54896" y="2738628"/>
            <a:ext cx="1335024" cy="182880"/>
          </a:xfrm>
          <a:prstGeom prst="rect">
            <a:avLst/>
          </a:prstGeom>
          <a:noFill/>
        </p:spPr>
        <p:txBody>
          <a:bodyPr wrap="square" lIns="0" rIns="0" tIns="0" bIns="0">
            <a:spAutoFit/>
          </a:bodyPr>
          <a:lstStyle/>
          <a:p>
            <a:pPr algn="r"/>
            <a:r>
              <a:rPr sz="900" b="0">
                <a:solidFill>
                  <a:srgbClr val="C8A04A"/>
                </a:solidFill>
                <a:latin typeface="Consolas"/>
              </a:rPr>
              <a:t>:11434</a:t>
            </a:r>
          </a:p>
        </p:txBody>
      </p:sp>
      <p:sp>
        <p:nvSpPr>
          <p:cNvPr id="34" name="Rectangle 33"/>
          <p:cNvSpPr/>
          <p:nvPr/>
        </p:nvSpPr>
        <p:spPr>
          <a:xfrm>
            <a:off x="658368" y="2985516"/>
            <a:ext cx="45720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067812"/>
            <a:ext cx="457200" cy="182880"/>
          </a:xfrm>
          <a:prstGeom prst="rect">
            <a:avLst/>
          </a:prstGeom>
          <a:noFill/>
        </p:spPr>
        <p:txBody>
          <a:bodyPr wrap="square" lIns="0" rIns="0" tIns="0" bIns="0">
            <a:spAutoFit/>
          </a:bodyPr>
          <a:lstStyle/>
          <a:p>
            <a:pPr algn="ctr"/>
            <a:r>
              <a:rPr sz="800" b="0">
                <a:solidFill>
                  <a:srgbClr val="8D9486"/>
                </a:solidFill>
                <a:latin typeface="Consolas"/>
              </a:rPr>
              <a:t>A4</a:t>
            </a:r>
          </a:p>
        </p:txBody>
      </p:sp>
      <p:sp>
        <p:nvSpPr>
          <p:cNvPr id="36" name="Rectangle 35"/>
          <p:cNvSpPr/>
          <p:nvPr/>
        </p:nvSpPr>
        <p:spPr>
          <a:xfrm>
            <a:off x="1170432" y="2985516"/>
            <a:ext cx="210312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80160" y="3054096"/>
            <a:ext cx="1920240" cy="201168"/>
          </a:xfrm>
          <a:prstGeom prst="rect">
            <a:avLst/>
          </a:prstGeom>
          <a:noFill/>
        </p:spPr>
        <p:txBody>
          <a:bodyPr wrap="square" lIns="0" rIns="0" tIns="0" bIns="0">
            <a:spAutoFit/>
          </a:bodyPr>
          <a:lstStyle/>
          <a:p>
            <a:pPr algn="l"/>
            <a:r>
              <a:rPr sz="1000" b="0">
                <a:solidFill>
                  <a:srgbClr val="E3C483"/>
                </a:solidFill>
                <a:latin typeface="Consolas"/>
              </a:rPr>
              <a:t>OpenClaw</a:t>
            </a:r>
          </a:p>
        </p:txBody>
      </p:sp>
      <p:sp>
        <p:nvSpPr>
          <p:cNvPr id="38" name="Rectangle 37"/>
          <p:cNvSpPr/>
          <p:nvPr/>
        </p:nvSpPr>
        <p:spPr>
          <a:xfrm>
            <a:off x="3328416" y="2985516"/>
            <a:ext cx="6035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38144" y="3058668"/>
            <a:ext cx="5852160" cy="201168"/>
          </a:xfrm>
          <a:prstGeom prst="rect">
            <a:avLst/>
          </a:prstGeom>
          <a:noFill/>
        </p:spPr>
        <p:txBody>
          <a:bodyPr wrap="square" lIns="0" rIns="0" tIns="0" bIns="0">
            <a:spAutoFit/>
          </a:bodyPr>
          <a:lstStyle/>
          <a:p>
            <a:pPr algn="l"/>
            <a:r>
              <a:rPr sz="1050" b="0">
                <a:solidFill>
                  <a:srgbClr val="C3C8BA"/>
                </a:solidFill>
                <a:latin typeface="Georgia"/>
              </a:rPr>
              <a:t>Agent gateway. Two jobs — next slide.</a:t>
            </a:r>
          </a:p>
        </p:txBody>
      </p:sp>
      <p:sp>
        <p:nvSpPr>
          <p:cNvPr id="40" name="Rectangle 39"/>
          <p:cNvSpPr/>
          <p:nvPr/>
        </p:nvSpPr>
        <p:spPr>
          <a:xfrm>
            <a:off x="9418320" y="2985516"/>
            <a:ext cx="1463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54896" y="3063240"/>
            <a:ext cx="1335024" cy="182880"/>
          </a:xfrm>
          <a:prstGeom prst="rect">
            <a:avLst/>
          </a:prstGeom>
          <a:noFill/>
        </p:spPr>
        <p:txBody>
          <a:bodyPr wrap="square" lIns="0" rIns="0" tIns="0" bIns="0">
            <a:spAutoFit/>
          </a:bodyPr>
          <a:lstStyle/>
          <a:p>
            <a:pPr algn="r"/>
            <a:r>
              <a:rPr sz="900" b="0">
                <a:solidFill>
                  <a:srgbClr val="C8A04A"/>
                </a:solidFill>
                <a:latin typeface="Consolas"/>
              </a:rPr>
              <a:t>:18789</a:t>
            </a:r>
          </a:p>
        </p:txBody>
      </p:sp>
      <p:sp>
        <p:nvSpPr>
          <p:cNvPr id="42" name="Rectangle 41"/>
          <p:cNvSpPr/>
          <p:nvPr/>
        </p:nvSpPr>
        <p:spPr>
          <a:xfrm>
            <a:off x="658368" y="3310128"/>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392424"/>
            <a:ext cx="457200" cy="182880"/>
          </a:xfrm>
          <a:prstGeom prst="rect">
            <a:avLst/>
          </a:prstGeom>
          <a:noFill/>
        </p:spPr>
        <p:txBody>
          <a:bodyPr wrap="square" lIns="0" rIns="0" tIns="0" bIns="0">
            <a:spAutoFit/>
          </a:bodyPr>
          <a:lstStyle/>
          <a:p>
            <a:pPr algn="ctr"/>
            <a:r>
              <a:rPr sz="800" b="0">
                <a:solidFill>
                  <a:srgbClr val="8D9486"/>
                </a:solidFill>
                <a:latin typeface="Consolas"/>
              </a:rPr>
              <a:t>A5</a:t>
            </a:r>
          </a:p>
        </p:txBody>
      </p:sp>
      <p:sp>
        <p:nvSpPr>
          <p:cNvPr id="44" name="Rectangle 43"/>
          <p:cNvSpPr/>
          <p:nvPr/>
        </p:nvSpPr>
        <p:spPr>
          <a:xfrm>
            <a:off x="1170432" y="3310128"/>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0160" y="3378708"/>
            <a:ext cx="1920240" cy="201168"/>
          </a:xfrm>
          <a:prstGeom prst="rect">
            <a:avLst/>
          </a:prstGeom>
          <a:noFill/>
        </p:spPr>
        <p:txBody>
          <a:bodyPr wrap="square" lIns="0" rIns="0" tIns="0" bIns="0">
            <a:spAutoFit/>
          </a:bodyPr>
          <a:lstStyle/>
          <a:p>
            <a:pPr algn="l"/>
            <a:r>
              <a:rPr sz="1000" b="0">
                <a:solidFill>
                  <a:srgbClr val="E8EAE3"/>
                </a:solidFill>
                <a:latin typeface="Consolas"/>
              </a:rPr>
              <a:t>MongoDB 7</a:t>
            </a:r>
          </a:p>
        </p:txBody>
      </p:sp>
      <p:sp>
        <p:nvSpPr>
          <p:cNvPr id="46" name="Rectangle 45"/>
          <p:cNvSpPr/>
          <p:nvPr/>
        </p:nvSpPr>
        <p:spPr>
          <a:xfrm>
            <a:off x="3328416" y="3310128"/>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38144" y="3383280"/>
            <a:ext cx="5852160" cy="201168"/>
          </a:xfrm>
          <a:prstGeom prst="rect">
            <a:avLst/>
          </a:prstGeom>
          <a:noFill/>
        </p:spPr>
        <p:txBody>
          <a:bodyPr wrap="square" lIns="0" rIns="0" tIns="0" bIns="0">
            <a:spAutoFit/>
          </a:bodyPr>
          <a:lstStyle/>
          <a:p>
            <a:pPr algn="l"/>
            <a:r>
              <a:rPr sz="1050" b="0">
                <a:solidFill>
                  <a:srgbClr val="C3C8BA"/>
                </a:solidFill>
                <a:latin typeface="Georgia"/>
              </a:rPr>
              <a:t>The supplier graph and the event log.</a:t>
            </a:r>
          </a:p>
        </p:txBody>
      </p:sp>
      <p:sp>
        <p:nvSpPr>
          <p:cNvPr id="48" name="Rectangle 47"/>
          <p:cNvSpPr/>
          <p:nvPr/>
        </p:nvSpPr>
        <p:spPr>
          <a:xfrm>
            <a:off x="9418320" y="3310128"/>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54896" y="3387852"/>
            <a:ext cx="1335024" cy="182880"/>
          </a:xfrm>
          <a:prstGeom prst="rect">
            <a:avLst/>
          </a:prstGeom>
          <a:noFill/>
        </p:spPr>
        <p:txBody>
          <a:bodyPr wrap="square" lIns="0" rIns="0" tIns="0" bIns="0">
            <a:spAutoFit/>
          </a:bodyPr>
          <a:lstStyle/>
          <a:p>
            <a:pPr algn="r"/>
            <a:r>
              <a:rPr sz="900" b="0">
                <a:solidFill>
                  <a:srgbClr val="C8A04A"/>
                </a:solidFill>
                <a:latin typeface="Consolas"/>
              </a:rPr>
              <a:t>:27017</a:t>
            </a:r>
          </a:p>
        </p:txBody>
      </p:sp>
      <p:sp>
        <p:nvSpPr>
          <p:cNvPr id="50" name="Rectangle 49"/>
          <p:cNvSpPr/>
          <p:nvPr/>
        </p:nvSpPr>
        <p:spPr>
          <a:xfrm>
            <a:off x="658368" y="3634740"/>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3717036"/>
            <a:ext cx="457200" cy="182880"/>
          </a:xfrm>
          <a:prstGeom prst="rect">
            <a:avLst/>
          </a:prstGeom>
          <a:noFill/>
        </p:spPr>
        <p:txBody>
          <a:bodyPr wrap="square" lIns="0" rIns="0" tIns="0" bIns="0">
            <a:spAutoFit/>
          </a:bodyPr>
          <a:lstStyle/>
          <a:p>
            <a:pPr algn="ctr"/>
            <a:r>
              <a:rPr sz="800" b="0">
                <a:solidFill>
                  <a:srgbClr val="8D9486"/>
                </a:solidFill>
                <a:latin typeface="Consolas"/>
              </a:rPr>
              <a:t>A6</a:t>
            </a:r>
          </a:p>
        </p:txBody>
      </p:sp>
      <p:sp>
        <p:nvSpPr>
          <p:cNvPr id="52" name="Rectangle 51"/>
          <p:cNvSpPr/>
          <p:nvPr/>
        </p:nvSpPr>
        <p:spPr>
          <a:xfrm>
            <a:off x="1170432" y="3634740"/>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80160" y="3703320"/>
            <a:ext cx="1920240" cy="201168"/>
          </a:xfrm>
          <a:prstGeom prst="rect">
            <a:avLst/>
          </a:prstGeom>
          <a:noFill/>
        </p:spPr>
        <p:txBody>
          <a:bodyPr wrap="square" lIns="0" rIns="0" tIns="0" bIns="0">
            <a:spAutoFit/>
          </a:bodyPr>
          <a:lstStyle/>
          <a:p>
            <a:pPr algn="l"/>
            <a:r>
              <a:rPr sz="1000" b="0">
                <a:solidFill>
                  <a:srgbClr val="E8EAE3"/>
                </a:solidFill>
                <a:latin typeface="Consolas"/>
              </a:rPr>
              <a:t>FastAPI + uvicorn</a:t>
            </a:r>
          </a:p>
        </p:txBody>
      </p:sp>
      <p:sp>
        <p:nvSpPr>
          <p:cNvPr id="54" name="Rectangle 53"/>
          <p:cNvSpPr/>
          <p:nvPr/>
        </p:nvSpPr>
        <p:spPr>
          <a:xfrm>
            <a:off x="3328416" y="3634740"/>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38144" y="3707892"/>
            <a:ext cx="5852160" cy="201168"/>
          </a:xfrm>
          <a:prstGeom prst="rect">
            <a:avLst/>
          </a:prstGeom>
          <a:noFill/>
        </p:spPr>
        <p:txBody>
          <a:bodyPr wrap="square" lIns="0" rIns="0" tIns="0" bIns="0">
            <a:spAutoFit/>
          </a:bodyPr>
          <a:lstStyle/>
          <a:p>
            <a:pPr algn="l"/>
            <a:r>
              <a:rPr sz="1050" b="0">
                <a:solidFill>
                  <a:srgbClr val="C3C8BA"/>
                </a:solidFill>
                <a:latin typeface="Georgia"/>
              </a:rPr>
              <a:t>Five endpoints, thin routing, no logic.</a:t>
            </a:r>
          </a:p>
        </p:txBody>
      </p:sp>
      <p:sp>
        <p:nvSpPr>
          <p:cNvPr id="56" name="Rectangle 55"/>
          <p:cNvSpPr/>
          <p:nvPr/>
        </p:nvSpPr>
        <p:spPr>
          <a:xfrm>
            <a:off x="9418320" y="3634740"/>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54896" y="3712464"/>
            <a:ext cx="1335024" cy="182880"/>
          </a:xfrm>
          <a:prstGeom prst="rect">
            <a:avLst/>
          </a:prstGeom>
          <a:noFill/>
        </p:spPr>
        <p:txBody>
          <a:bodyPr wrap="square" lIns="0" rIns="0" tIns="0" bIns="0">
            <a:spAutoFit/>
          </a:bodyPr>
          <a:lstStyle/>
          <a:p>
            <a:pPr algn="r"/>
            <a:r>
              <a:rPr sz="900" b="0">
                <a:solidFill>
                  <a:srgbClr val="C8A04A"/>
                </a:solidFill>
                <a:latin typeface="Consolas"/>
              </a:rPr>
              <a:t>:8000</a:t>
            </a:r>
          </a:p>
        </p:txBody>
      </p:sp>
      <p:sp>
        <p:nvSpPr>
          <p:cNvPr id="58" name="Rectangle 57"/>
          <p:cNvSpPr/>
          <p:nvPr/>
        </p:nvSpPr>
        <p:spPr>
          <a:xfrm>
            <a:off x="658368" y="3959352"/>
            <a:ext cx="45720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4041648"/>
            <a:ext cx="457200" cy="182880"/>
          </a:xfrm>
          <a:prstGeom prst="rect">
            <a:avLst/>
          </a:prstGeom>
          <a:noFill/>
        </p:spPr>
        <p:txBody>
          <a:bodyPr wrap="square" lIns="0" rIns="0" tIns="0" bIns="0">
            <a:spAutoFit/>
          </a:bodyPr>
          <a:lstStyle/>
          <a:p>
            <a:pPr algn="ctr"/>
            <a:r>
              <a:rPr sz="800" b="0">
                <a:solidFill>
                  <a:srgbClr val="8D9486"/>
                </a:solidFill>
                <a:latin typeface="Consolas"/>
              </a:rPr>
              <a:t>A7</a:t>
            </a:r>
          </a:p>
        </p:txBody>
      </p:sp>
      <p:sp>
        <p:nvSpPr>
          <p:cNvPr id="60" name="Rectangle 59"/>
          <p:cNvSpPr/>
          <p:nvPr/>
        </p:nvSpPr>
        <p:spPr>
          <a:xfrm>
            <a:off x="1170432" y="3959352"/>
            <a:ext cx="210312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80160" y="4027932"/>
            <a:ext cx="1920240" cy="201168"/>
          </a:xfrm>
          <a:prstGeom prst="rect">
            <a:avLst/>
          </a:prstGeom>
          <a:noFill/>
        </p:spPr>
        <p:txBody>
          <a:bodyPr wrap="square" lIns="0" rIns="0" tIns="0" bIns="0">
            <a:spAutoFit/>
          </a:bodyPr>
          <a:lstStyle/>
          <a:p>
            <a:pPr algn="l"/>
            <a:r>
              <a:rPr sz="1000" b="0">
                <a:solidFill>
                  <a:srgbClr val="E8EAE3"/>
                </a:solidFill>
                <a:latin typeface="Consolas"/>
              </a:rPr>
              <a:t>React 19 + Vite</a:t>
            </a:r>
          </a:p>
        </p:txBody>
      </p:sp>
      <p:sp>
        <p:nvSpPr>
          <p:cNvPr id="62" name="Rectangle 61"/>
          <p:cNvSpPr/>
          <p:nvPr/>
        </p:nvSpPr>
        <p:spPr>
          <a:xfrm>
            <a:off x="3328416" y="3959352"/>
            <a:ext cx="6035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38144" y="4032504"/>
            <a:ext cx="5852160" cy="201168"/>
          </a:xfrm>
          <a:prstGeom prst="rect">
            <a:avLst/>
          </a:prstGeom>
          <a:noFill/>
        </p:spPr>
        <p:txBody>
          <a:bodyPr wrap="square" lIns="0" rIns="0" tIns="0" bIns="0">
            <a:spAutoFit/>
          </a:bodyPr>
          <a:lstStyle/>
          <a:p>
            <a:pPr algn="l"/>
            <a:r>
              <a:rPr sz="1050" b="0">
                <a:solidFill>
                  <a:srgbClr val="C3C8BA"/>
                </a:solidFill>
                <a:latin typeface="Georgia"/>
              </a:rPr>
              <a:t>The operations workspace.</a:t>
            </a:r>
          </a:p>
        </p:txBody>
      </p:sp>
      <p:sp>
        <p:nvSpPr>
          <p:cNvPr id="64" name="Rectangle 63"/>
          <p:cNvSpPr/>
          <p:nvPr/>
        </p:nvSpPr>
        <p:spPr>
          <a:xfrm>
            <a:off x="9418320" y="3959352"/>
            <a:ext cx="1463040" cy="306612"/>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454896" y="4037076"/>
            <a:ext cx="1335024" cy="182880"/>
          </a:xfrm>
          <a:prstGeom prst="rect">
            <a:avLst/>
          </a:prstGeom>
          <a:noFill/>
        </p:spPr>
        <p:txBody>
          <a:bodyPr wrap="square" lIns="0" rIns="0" tIns="0" bIns="0">
            <a:spAutoFit/>
          </a:bodyPr>
          <a:lstStyle/>
          <a:p>
            <a:pPr algn="r"/>
            <a:r>
              <a:rPr sz="900" b="0">
                <a:solidFill>
                  <a:srgbClr val="C8A04A"/>
                </a:solidFill>
                <a:latin typeface="Consolas"/>
              </a:rPr>
              <a:t>:5173</a:t>
            </a:r>
          </a:p>
        </p:txBody>
      </p:sp>
      <p:sp>
        <p:nvSpPr>
          <p:cNvPr id="66" name="Rectangle 65"/>
          <p:cNvSpPr/>
          <p:nvPr/>
        </p:nvSpPr>
        <p:spPr>
          <a:xfrm>
            <a:off x="658368" y="4283964"/>
            <a:ext cx="45720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 y="4366260"/>
            <a:ext cx="457200" cy="182880"/>
          </a:xfrm>
          <a:prstGeom prst="rect">
            <a:avLst/>
          </a:prstGeom>
          <a:noFill/>
        </p:spPr>
        <p:txBody>
          <a:bodyPr wrap="square" lIns="0" rIns="0" tIns="0" bIns="0">
            <a:spAutoFit/>
          </a:bodyPr>
          <a:lstStyle/>
          <a:p>
            <a:pPr algn="ctr"/>
            <a:r>
              <a:rPr sz="800" b="0">
                <a:solidFill>
                  <a:srgbClr val="8D9486"/>
                </a:solidFill>
                <a:latin typeface="Consolas"/>
              </a:rPr>
              <a:t>B1</a:t>
            </a:r>
          </a:p>
        </p:txBody>
      </p:sp>
      <p:sp>
        <p:nvSpPr>
          <p:cNvPr id="68" name="Rectangle 67"/>
          <p:cNvSpPr/>
          <p:nvPr/>
        </p:nvSpPr>
        <p:spPr>
          <a:xfrm>
            <a:off x="1170432" y="4283964"/>
            <a:ext cx="210312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0160" y="4352544"/>
            <a:ext cx="1920240" cy="201168"/>
          </a:xfrm>
          <a:prstGeom prst="rect">
            <a:avLst/>
          </a:prstGeom>
          <a:noFill/>
        </p:spPr>
        <p:txBody>
          <a:bodyPr wrap="square" lIns="0" rIns="0" tIns="0" bIns="0">
            <a:spAutoFit/>
          </a:bodyPr>
          <a:lstStyle/>
          <a:p>
            <a:pPr algn="l"/>
            <a:r>
              <a:rPr sz="1000" b="0">
                <a:solidFill>
                  <a:srgbClr val="E3C483"/>
                </a:solidFill>
                <a:latin typeface="Consolas"/>
              </a:rPr>
              <a:t>propagation.py</a:t>
            </a:r>
          </a:p>
        </p:txBody>
      </p:sp>
      <p:sp>
        <p:nvSpPr>
          <p:cNvPr id="70" name="Rectangle 69"/>
          <p:cNvSpPr/>
          <p:nvPr/>
        </p:nvSpPr>
        <p:spPr>
          <a:xfrm>
            <a:off x="3328416" y="4283964"/>
            <a:ext cx="6035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38144" y="4357116"/>
            <a:ext cx="5852160" cy="201168"/>
          </a:xfrm>
          <a:prstGeom prst="rect">
            <a:avLst/>
          </a:prstGeom>
          <a:noFill/>
        </p:spPr>
        <p:txBody>
          <a:bodyPr wrap="square" lIns="0" rIns="0" tIns="0" bIns="0">
            <a:spAutoFit/>
          </a:bodyPr>
          <a:lstStyle/>
          <a:p>
            <a:pPr algn="l"/>
            <a:r>
              <a:rPr sz="1050" b="0">
                <a:solidFill>
                  <a:srgbClr val="C3C8BA"/>
                </a:solidFill>
                <a:latin typeface="Georgia"/>
              </a:rPr>
              <a:t>Ours. Deterministic exposure. No model, no network.</a:t>
            </a:r>
          </a:p>
        </p:txBody>
      </p:sp>
      <p:sp>
        <p:nvSpPr>
          <p:cNvPr id="72" name="Rectangle 71"/>
          <p:cNvSpPr/>
          <p:nvPr/>
        </p:nvSpPr>
        <p:spPr>
          <a:xfrm>
            <a:off x="9418320" y="4283964"/>
            <a:ext cx="1463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454896" y="4361688"/>
            <a:ext cx="1335024" cy="182880"/>
          </a:xfrm>
          <a:prstGeom prst="rect">
            <a:avLst/>
          </a:prstGeom>
          <a:noFill/>
        </p:spPr>
        <p:txBody>
          <a:bodyPr wrap="square" lIns="0" rIns="0" tIns="0" bIns="0">
            <a:spAutoFit/>
          </a:bodyPr>
          <a:lstStyle/>
          <a:p>
            <a:pPr algn="r"/>
            <a:r>
              <a:rPr sz="900" b="0">
                <a:solidFill>
                  <a:srgbClr val="C8A04A"/>
                </a:solidFill>
                <a:latin typeface="Consolas"/>
              </a:rPr>
              <a:t>in process</a:t>
            </a:r>
          </a:p>
        </p:txBody>
      </p:sp>
      <p:sp>
        <p:nvSpPr>
          <p:cNvPr id="74" name="Rectangle 73"/>
          <p:cNvSpPr/>
          <p:nvPr/>
        </p:nvSpPr>
        <p:spPr>
          <a:xfrm>
            <a:off x="658368" y="4608576"/>
            <a:ext cx="45720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8368" y="4690872"/>
            <a:ext cx="457200" cy="182880"/>
          </a:xfrm>
          <a:prstGeom prst="rect">
            <a:avLst/>
          </a:prstGeom>
          <a:noFill/>
        </p:spPr>
        <p:txBody>
          <a:bodyPr wrap="square" lIns="0" rIns="0" tIns="0" bIns="0">
            <a:spAutoFit/>
          </a:bodyPr>
          <a:lstStyle/>
          <a:p>
            <a:pPr algn="ctr"/>
            <a:r>
              <a:rPr sz="800" b="0">
                <a:solidFill>
                  <a:srgbClr val="8D9486"/>
                </a:solidFill>
                <a:latin typeface="Consolas"/>
              </a:rPr>
              <a:t>B2</a:t>
            </a:r>
          </a:p>
        </p:txBody>
      </p:sp>
      <p:sp>
        <p:nvSpPr>
          <p:cNvPr id="76" name="Rectangle 75"/>
          <p:cNvSpPr/>
          <p:nvPr/>
        </p:nvSpPr>
        <p:spPr>
          <a:xfrm>
            <a:off x="1170432" y="4608576"/>
            <a:ext cx="210312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280160" y="4677156"/>
            <a:ext cx="1920240" cy="201168"/>
          </a:xfrm>
          <a:prstGeom prst="rect">
            <a:avLst/>
          </a:prstGeom>
          <a:noFill/>
        </p:spPr>
        <p:txBody>
          <a:bodyPr wrap="square" lIns="0" rIns="0" tIns="0" bIns="0">
            <a:spAutoFit/>
          </a:bodyPr>
          <a:lstStyle/>
          <a:p>
            <a:pPr algn="l"/>
            <a:r>
              <a:rPr sz="1000" b="0">
                <a:solidFill>
                  <a:srgbClr val="E3C483"/>
                </a:solidFill>
                <a:latin typeface="Consolas"/>
              </a:rPr>
              <a:t>monitor.py</a:t>
            </a:r>
          </a:p>
        </p:txBody>
      </p:sp>
      <p:sp>
        <p:nvSpPr>
          <p:cNvPr id="78" name="Rectangle 77"/>
          <p:cNvSpPr/>
          <p:nvPr/>
        </p:nvSpPr>
        <p:spPr>
          <a:xfrm>
            <a:off x="3328416" y="4608576"/>
            <a:ext cx="6035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438144" y="4681728"/>
            <a:ext cx="5852160" cy="201168"/>
          </a:xfrm>
          <a:prstGeom prst="rect">
            <a:avLst/>
          </a:prstGeom>
          <a:noFill/>
        </p:spPr>
        <p:txBody>
          <a:bodyPr wrap="square" lIns="0" rIns="0" tIns="0" bIns="0">
            <a:spAutoFit/>
          </a:bodyPr>
          <a:lstStyle/>
          <a:p>
            <a:pPr algn="l"/>
            <a:r>
              <a:rPr sz="1050" b="0">
                <a:solidFill>
                  <a:srgbClr val="C3C8BA"/>
                </a:solidFill>
                <a:latin typeface="Georgia"/>
              </a:rPr>
              <a:t>Ours. The unattended loop, thresholds, audit trail.</a:t>
            </a:r>
          </a:p>
        </p:txBody>
      </p:sp>
      <p:sp>
        <p:nvSpPr>
          <p:cNvPr id="80" name="Rectangle 79"/>
          <p:cNvSpPr/>
          <p:nvPr/>
        </p:nvSpPr>
        <p:spPr>
          <a:xfrm>
            <a:off x="9418320" y="4608576"/>
            <a:ext cx="1463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54896" y="4686300"/>
            <a:ext cx="1335024" cy="182880"/>
          </a:xfrm>
          <a:prstGeom prst="rect">
            <a:avLst/>
          </a:prstGeom>
          <a:noFill/>
        </p:spPr>
        <p:txBody>
          <a:bodyPr wrap="square" lIns="0" rIns="0" tIns="0" bIns="0">
            <a:spAutoFit/>
          </a:bodyPr>
          <a:lstStyle/>
          <a:p>
            <a:pPr algn="r"/>
            <a:r>
              <a:rPr sz="900" b="0">
                <a:solidFill>
                  <a:srgbClr val="C8A04A"/>
                </a:solidFill>
                <a:latin typeface="Consolas"/>
              </a:rPr>
              <a:t>daemon thread</a:t>
            </a:r>
          </a:p>
        </p:txBody>
      </p:sp>
      <p:sp>
        <p:nvSpPr>
          <p:cNvPr id="82" name="Rectangle 81"/>
          <p:cNvSpPr/>
          <p:nvPr/>
        </p:nvSpPr>
        <p:spPr>
          <a:xfrm>
            <a:off x="658368" y="4933188"/>
            <a:ext cx="45720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8368" y="5015484"/>
            <a:ext cx="457200" cy="182880"/>
          </a:xfrm>
          <a:prstGeom prst="rect">
            <a:avLst/>
          </a:prstGeom>
          <a:noFill/>
        </p:spPr>
        <p:txBody>
          <a:bodyPr wrap="square" lIns="0" rIns="0" tIns="0" bIns="0">
            <a:spAutoFit/>
          </a:bodyPr>
          <a:lstStyle/>
          <a:p>
            <a:pPr algn="ctr"/>
            <a:r>
              <a:rPr sz="800" b="0">
                <a:solidFill>
                  <a:srgbClr val="8D9486"/>
                </a:solidFill>
                <a:latin typeface="Consolas"/>
              </a:rPr>
              <a:t>B3</a:t>
            </a:r>
          </a:p>
        </p:txBody>
      </p:sp>
      <p:sp>
        <p:nvSpPr>
          <p:cNvPr id="84" name="Rectangle 83"/>
          <p:cNvSpPr/>
          <p:nvPr/>
        </p:nvSpPr>
        <p:spPr>
          <a:xfrm>
            <a:off x="1170432" y="4933188"/>
            <a:ext cx="210312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80160" y="5001768"/>
            <a:ext cx="1920240" cy="201168"/>
          </a:xfrm>
          <a:prstGeom prst="rect">
            <a:avLst/>
          </a:prstGeom>
          <a:noFill/>
        </p:spPr>
        <p:txBody>
          <a:bodyPr wrap="square" lIns="0" rIns="0" tIns="0" bIns="0">
            <a:spAutoFit/>
          </a:bodyPr>
          <a:lstStyle/>
          <a:p>
            <a:pPr algn="l"/>
            <a:r>
              <a:rPr sz="1000" b="0">
                <a:solidFill>
                  <a:srgbClr val="E3C483"/>
                </a:solidFill>
                <a:latin typeface="Consolas"/>
              </a:rPr>
              <a:t>narrate.py</a:t>
            </a:r>
          </a:p>
        </p:txBody>
      </p:sp>
      <p:sp>
        <p:nvSpPr>
          <p:cNvPr id="86" name="Rectangle 85"/>
          <p:cNvSpPr/>
          <p:nvPr/>
        </p:nvSpPr>
        <p:spPr>
          <a:xfrm>
            <a:off x="3328416" y="4933188"/>
            <a:ext cx="6035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438144" y="5006340"/>
            <a:ext cx="5852160" cy="201168"/>
          </a:xfrm>
          <a:prstGeom prst="rect">
            <a:avLst/>
          </a:prstGeom>
          <a:noFill/>
        </p:spPr>
        <p:txBody>
          <a:bodyPr wrap="square" lIns="0" rIns="0" tIns="0" bIns="0">
            <a:spAutoFit/>
          </a:bodyPr>
          <a:lstStyle/>
          <a:p>
            <a:pPr algn="l"/>
            <a:r>
              <a:rPr sz="1050" b="0">
                <a:solidFill>
                  <a:srgbClr val="C3C8BA"/>
                </a:solidFill>
                <a:latin typeface="Georgia"/>
              </a:rPr>
              <a:t>Ours. Sanitises, gates, falls back so text always arrives.</a:t>
            </a:r>
          </a:p>
        </p:txBody>
      </p:sp>
      <p:sp>
        <p:nvSpPr>
          <p:cNvPr id="88" name="Rectangle 87"/>
          <p:cNvSpPr/>
          <p:nvPr/>
        </p:nvSpPr>
        <p:spPr>
          <a:xfrm>
            <a:off x="9418320" y="4933188"/>
            <a:ext cx="1463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454896" y="5010912"/>
            <a:ext cx="1335024" cy="182880"/>
          </a:xfrm>
          <a:prstGeom prst="rect">
            <a:avLst/>
          </a:prstGeom>
          <a:noFill/>
        </p:spPr>
        <p:txBody>
          <a:bodyPr wrap="square" lIns="0" rIns="0" tIns="0" bIns="0">
            <a:spAutoFit/>
          </a:bodyPr>
          <a:lstStyle/>
          <a:p>
            <a:pPr algn="r"/>
            <a:r>
              <a:rPr sz="900" b="0">
                <a:solidFill>
                  <a:srgbClr val="C8A04A"/>
                </a:solidFill>
                <a:latin typeface="Consolas"/>
              </a:rPr>
              <a:t>in process</a:t>
            </a:r>
          </a:p>
        </p:txBody>
      </p:sp>
      <p:sp>
        <p:nvSpPr>
          <p:cNvPr id="90" name="Rectangle 89"/>
          <p:cNvSpPr/>
          <p:nvPr/>
        </p:nvSpPr>
        <p:spPr>
          <a:xfrm>
            <a:off x="658368" y="5257800"/>
            <a:ext cx="45720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58368" y="5340096"/>
            <a:ext cx="457200" cy="182880"/>
          </a:xfrm>
          <a:prstGeom prst="rect">
            <a:avLst/>
          </a:prstGeom>
          <a:noFill/>
        </p:spPr>
        <p:txBody>
          <a:bodyPr wrap="square" lIns="0" rIns="0" tIns="0" bIns="0">
            <a:spAutoFit/>
          </a:bodyPr>
          <a:lstStyle/>
          <a:p>
            <a:pPr algn="ctr"/>
            <a:r>
              <a:rPr sz="800" b="0">
                <a:solidFill>
                  <a:srgbClr val="8D9486"/>
                </a:solidFill>
                <a:latin typeface="Consolas"/>
              </a:rPr>
              <a:t>B4</a:t>
            </a:r>
          </a:p>
        </p:txBody>
      </p:sp>
      <p:sp>
        <p:nvSpPr>
          <p:cNvPr id="92" name="Rectangle 91"/>
          <p:cNvSpPr/>
          <p:nvPr/>
        </p:nvSpPr>
        <p:spPr>
          <a:xfrm>
            <a:off x="1170432" y="5257800"/>
            <a:ext cx="210312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80160" y="5326380"/>
            <a:ext cx="1920240" cy="201168"/>
          </a:xfrm>
          <a:prstGeom prst="rect">
            <a:avLst/>
          </a:prstGeom>
          <a:noFill/>
        </p:spPr>
        <p:txBody>
          <a:bodyPr wrap="square" lIns="0" rIns="0" tIns="0" bIns="0">
            <a:spAutoFit/>
          </a:bodyPr>
          <a:lstStyle/>
          <a:p>
            <a:pPr algn="l"/>
            <a:r>
              <a:rPr sz="1000" b="0">
                <a:solidFill>
                  <a:srgbClr val="E3C483"/>
                </a:solidFill>
                <a:latin typeface="Consolas"/>
              </a:rPr>
              <a:t>267 checks</a:t>
            </a:r>
          </a:p>
        </p:txBody>
      </p:sp>
      <p:sp>
        <p:nvSpPr>
          <p:cNvPr id="94" name="Rectangle 93"/>
          <p:cNvSpPr/>
          <p:nvPr/>
        </p:nvSpPr>
        <p:spPr>
          <a:xfrm>
            <a:off x="3328416" y="5257800"/>
            <a:ext cx="6035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438144" y="5330952"/>
            <a:ext cx="5852160" cy="201168"/>
          </a:xfrm>
          <a:prstGeom prst="rect">
            <a:avLst/>
          </a:prstGeom>
          <a:noFill/>
        </p:spPr>
        <p:txBody>
          <a:bodyPr wrap="square" lIns="0" rIns="0" tIns="0" bIns="0">
            <a:spAutoFit/>
          </a:bodyPr>
          <a:lstStyle/>
          <a:p>
            <a:pPr algn="l"/>
            <a:r>
              <a:rPr sz="1050" b="0">
                <a:solidFill>
                  <a:srgbClr val="C3C8BA"/>
                </a:solidFill>
                <a:latin typeface="Georgia"/>
              </a:rPr>
              <a:t>143 agent core · 77 end-to-end · 30 handoff · 17 frontend.</a:t>
            </a:r>
          </a:p>
        </p:txBody>
      </p:sp>
      <p:sp>
        <p:nvSpPr>
          <p:cNvPr id="96" name="Rectangle 95"/>
          <p:cNvSpPr/>
          <p:nvPr/>
        </p:nvSpPr>
        <p:spPr>
          <a:xfrm>
            <a:off x="9418320" y="5257800"/>
            <a:ext cx="1463040" cy="306612"/>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454896" y="5335524"/>
            <a:ext cx="1335024" cy="182880"/>
          </a:xfrm>
          <a:prstGeom prst="rect">
            <a:avLst/>
          </a:prstGeom>
          <a:noFill/>
        </p:spPr>
        <p:txBody>
          <a:bodyPr wrap="square" lIns="0" rIns="0" tIns="0" bIns="0">
            <a:spAutoFit/>
          </a:bodyPr>
          <a:lstStyle/>
          <a:p>
            <a:pPr algn="r"/>
            <a:r>
              <a:rPr sz="900" b="0">
                <a:solidFill>
                  <a:srgbClr val="C8A04A"/>
                </a:solidFill>
                <a:latin typeface="Consolas"/>
              </a:rPr>
              <a:t>green</a:t>
            </a:r>
          </a:p>
        </p:txBody>
      </p:sp>
      <p:sp>
        <p:nvSpPr>
          <p:cNvPr id="98" name="TextBox 97"/>
          <p:cNvSpPr txBox="1"/>
          <p:nvPr/>
        </p:nvSpPr>
        <p:spPr>
          <a:xfrm>
            <a:off x="658368" y="5692140"/>
            <a:ext cx="8686800" cy="365760"/>
          </a:xfrm>
          <a:prstGeom prst="rect">
            <a:avLst/>
          </a:prstGeom>
          <a:noFill/>
        </p:spPr>
        <p:txBody>
          <a:bodyPr wrap="square" lIns="0" rIns="0" tIns="0" bIns="0">
            <a:spAutoFit/>
          </a:bodyPr>
          <a:lstStyle/>
          <a:p>
            <a:pPr algn="l">
              <a:lnSpc>
                <a:spcPct val="135000"/>
              </a:lnSpc>
            </a:pPr>
            <a:r>
              <a:rPr sz="1250" b="0">
                <a:solidFill>
                  <a:srgbClr val="C3C8BA"/>
                </a:solidFill>
                <a:latin typeface="Georgia"/>
              </a:rPr>
              <a:t>Outbound internet connections required at run time: zero. The rows marked in brass are ours; the rest is off-the-shelf and stays on the machine.</a:t>
            </a:r>
          </a:p>
        </p:txBody>
      </p:sp>
      <p:sp>
        <p:nvSpPr>
          <p:cNvPr id="99" name="TextBox 98"/>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PORTS ARE LOOPBACK BINDINGS. A NON-LOCAL HOST FOR THE MODEL, THE GATEWAY OR THE DATABASE IS REFUSED BEFORE A SOCKET OPENS.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09   OPENCLAW, TWICE   / 11</a:t>
            </a:r>
          </a:p>
        </p:txBody>
      </p:sp>
      <p:sp>
        <p:nvSpPr>
          <p:cNvPr id="5" name="TextBox 4"/>
          <p:cNvSpPr txBox="1"/>
          <p:nvPr/>
        </p:nvSpPr>
        <p:spPr>
          <a:xfrm>
            <a:off x="658368" y="932688"/>
            <a:ext cx="10874959" cy="777240"/>
          </a:xfrm>
          <a:prstGeom prst="rect">
            <a:avLst/>
          </a:prstGeom>
          <a:noFill/>
        </p:spPr>
        <p:txBody>
          <a:bodyPr wrap="square" lIns="0" rIns="0" tIns="0" bIns="0">
            <a:spAutoFit/>
          </a:bodyPr>
          <a:lstStyle/>
          <a:p>
            <a:pPr algn="l">
              <a:lnSpc>
                <a:spcPct val="95000"/>
              </a:lnSpc>
            </a:pPr>
            <a:r>
              <a:rPr sz="3400" b="1">
                <a:solidFill>
                  <a:srgbClr val="E8EAE3"/>
                </a:solidFill>
                <a:latin typeface="Arial Narrow"/>
              </a:rPr>
              <a:t>ONE COMPONENT DOES THE TWO JOBS A LOCAL AGENT ACTUALLY NEEDS</a:t>
            </a:r>
          </a:p>
        </p:txBody>
      </p:sp>
      <p:sp>
        <p:nvSpPr>
          <p:cNvPr id="6" name="Rectangle 5"/>
          <p:cNvSpPr/>
          <p:nvPr/>
        </p:nvSpPr>
        <p:spPr>
          <a:xfrm>
            <a:off x="658368" y="1938528"/>
            <a:ext cx="5364327" cy="2340864"/>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38100" cy="2340864"/>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907127" cy="201168"/>
          </a:xfrm>
          <a:prstGeom prst="rect">
            <a:avLst/>
          </a:prstGeom>
          <a:noFill/>
        </p:spPr>
        <p:txBody>
          <a:bodyPr wrap="square" lIns="0" rIns="0" tIns="0" bIns="0">
            <a:spAutoFit/>
          </a:bodyPr>
          <a:lstStyle/>
          <a:p>
            <a:pPr algn="l"/>
            <a:r>
              <a:rPr sz="850" b="0" spc="150">
                <a:solidFill>
                  <a:srgbClr val="8E7133"/>
                </a:solidFill>
                <a:latin typeface="Consolas"/>
              </a:rPr>
              <a:t>JOB 01 — MODEL HARNESS</a:t>
            </a:r>
          </a:p>
        </p:txBody>
      </p:sp>
      <p:sp>
        <p:nvSpPr>
          <p:cNvPr id="9" name="TextBox 8"/>
          <p:cNvSpPr txBox="1"/>
          <p:nvPr/>
        </p:nvSpPr>
        <p:spPr>
          <a:xfrm>
            <a:off x="914400" y="2340864"/>
            <a:ext cx="4907127" cy="457200"/>
          </a:xfrm>
          <a:prstGeom prst="rect">
            <a:avLst/>
          </a:prstGeom>
          <a:noFill/>
        </p:spPr>
        <p:txBody>
          <a:bodyPr wrap="square" lIns="0" rIns="0" tIns="0" bIns="0">
            <a:spAutoFit/>
          </a:bodyPr>
          <a:lstStyle/>
          <a:p>
            <a:pPr algn="l">
              <a:lnSpc>
                <a:spcPct val="105000"/>
              </a:lnSpc>
            </a:pPr>
            <a:r>
              <a:rPr sz="1600" b="1">
                <a:solidFill>
                  <a:srgbClr val="E8EAE3"/>
                </a:solidFill>
                <a:latin typeface="Arial Narrow"/>
              </a:rPr>
              <a:t>THE MODEL BECOMES A PLUG, NOT A HARD-WIRE</a:t>
            </a:r>
          </a:p>
        </p:txBody>
      </p:sp>
      <p:sp>
        <p:nvSpPr>
          <p:cNvPr id="10" name="TextBox 9"/>
          <p:cNvSpPr txBox="1"/>
          <p:nvPr/>
        </p:nvSpPr>
        <p:spPr>
          <a:xfrm>
            <a:off x="914400" y="2816352"/>
            <a:ext cx="4907127" cy="548640"/>
          </a:xfrm>
          <a:prstGeom prst="rect">
            <a:avLst/>
          </a:prstGeom>
          <a:noFill/>
        </p:spPr>
        <p:txBody>
          <a:bodyPr wrap="square" lIns="0" rIns="0" tIns="0" bIns="0">
            <a:spAutoFit/>
          </a:bodyPr>
          <a:lstStyle/>
          <a:p>
            <a:pPr algn="l">
              <a:lnSpc>
                <a:spcPct val="135000"/>
              </a:lnSpc>
            </a:pPr>
            <a:r>
              <a:rPr sz="1150" b="0">
                <a:solidFill>
                  <a:srgbClr val="C3C8BA"/>
                </a:solidFill>
                <a:latin typeface="Georgia"/>
              </a:rPr>
              <a:t>We do not call the model directly. We post the prompt to the gateway's OpenAI-compatible endpoint and its agent resolves which model answers.</a:t>
            </a:r>
          </a:p>
        </p:txBody>
      </p:sp>
      <p:sp>
        <p:nvSpPr>
          <p:cNvPr id="11" name="Rectangle 10"/>
          <p:cNvSpPr/>
          <p:nvPr/>
        </p:nvSpPr>
        <p:spPr>
          <a:xfrm>
            <a:off x="914400" y="3456432"/>
            <a:ext cx="4852263" cy="27432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511296"/>
            <a:ext cx="4724247" cy="201168"/>
          </a:xfrm>
          <a:prstGeom prst="rect">
            <a:avLst/>
          </a:prstGeom>
          <a:noFill/>
        </p:spPr>
        <p:txBody>
          <a:bodyPr wrap="square" lIns="0" rIns="0" tIns="0" bIns="0">
            <a:spAutoFit/>
          </a:bodyPr>
          <a:lstStyle/>
          <a:p>
            <a:pPr algn="l"/>
            <a:r>
              <a:rPr sz="900" b="0">
                <a:solidFill>
                  <a:srgbClr val="C8A04A"/>
                </a:solidFill>
                <a:latin typeface="Consolas"/>
              </a:rPr>
              <a:t>POST /v1/chat/completions</a:t>
            </a:r>
          </a:p>
        </p:txBody>
      </p:sp>
      <p:sp>
        <p:nvSpPr>
          <p:cNvPr id="13" name="TextBox 12"/>
          <p:cNvSpPr txBox="1"/>
          <p:nvPr/>
        </p:nvSpPr>
        <p:spPr>
          <a:xfrm>
            <a:off x="914400" y="3803904"/>
            <a:ext cx="4907127" cy="548640"/>
          </a:xfrm>
          <a:prstGeom prst="rect">
            <a:avLst/>
          </a:prstGeom>
          <a:noFill/>
        </p:spPr>
        <p:txBody>
          <a:bodyPr wrap="square" lIns="0" rIns="0" tIns="0" bIns="0">
            <a:spAutoFit/>
          </a:bodyPr>
          <a:lstStyle/>
          <a:p>
            <a:pPr algn="l">
              <a:lnSpc>
                <a:spcPct val="135000"/>
              </a:lnSpc>
            </a:pPr>
            <a:r>
              <a:rPr sz="1150" b="0">
                <a:solidFill>
                  <a:srgbClr val="C3C8BA"/>
                </a:solidFill>
                <a:latin typeface="Georgia"/>
              </a:rPr>
              <a:t>Its config names the model: ollama/qwen3.6:35b. Swapping to a larger model, or a different one entirely, is a line of config — not a code change.</a:t>
            </a:r>
          </a:p>
        </p:txBody>
      </p:sp>
      <p:sp>
        <p:nvSpPr>
          <p:cNvPr id="14" name="Rectangle 13"/>
          <p:cNvSpPr/>
          <p:nvPr/>
        </p:nvSpPr>
        <p:spPr>
          <a:xfrm>
            <a:off x="6168999" y="1938528"/>
            <a:ext cx="5364327" cy="2340864"/>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8999" y="1938528"/>
            <a:ext cx="38100" cy="2340864"/>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5031" y="2103120"/>
            <a:ext cx="4907127" cy="201168"/>
          </a:xfrm>
          <a:prstGeom prst="rect">
            <a:avLst/>
          </a:prstGeom>
          <a:noFill/>
        </p:spPr>
        <p:txBody>
          <a:bodyPr wrap="square" lIns="0" rIns="0" tIns="0" bIns="0">
            <a:spAutoFit/>
          </a:bodyPr>
          <a:lstStyle/>
          <a:p>
            <a:pPr algn="l"/>
            <a:r>
              <a:rPr sz="850" b="0" spc="150">
                <a:solidFill>
                  <a:srgbClr val="8E7133"/>
                </a:solidFill>
                <a:latin typeface="Consolas"/>
              </a:rPr>
              <a:t>JOB 02 — APPROVAL CHANNEL</a:t>
            </a:r>
          </a:p>
        </p:txBody>
      </p:sp>
      <p:sp>
        <p:nvSpPr>
          <p:cNvPr id="17" name="TextBox 16"/>
          <p:cNvSpPr txBox="1"/>
          <p:nvPr/>
        </p:nvSpPr>
        <p:spPr>
          <a:xfrm>
            <a:off x="6425031" y="2340864"/>
            <a:ext cx="4907127" cy="457200"/>
          </a:xfrm>
          <a:prstGeom prst="rect">
            <a:avLst/>
          </a:prstGeom>
          <a:noFill/>
        </p:spPr>
        <p:txBody>
          <a:bodyPr wrap="square" lIns="0" rIns="0" tIns="0" bIns="0">
            <a:spAutoFit/>
          </a:bodyPr>
          <a:lstStyle/>
          <a:p>
            <a:pPr algn="l">
              <a:lnSpc>
                <a:spcPct val="105000"/>
              </a:lnSpc>
            </a:pPr>
            <a:r>
              <a:rPr sz="1600" b="1">
                <a:solidFill>
                  <a:srgbClr val="E8EAE3"/>
                </a:solidFill>
                <a:latin typeface="Arial Narrow"/>
              </a:rPr>
              <a:t>THE DRAFT REACHES A HUMAN WHERE THEY ALREADY ARE</a:t>
            </a:r>
          </a:p>
        </p:txBody>
      </p:sp>
      <p:sp>
        <p:nvSpPr>
          <p:cNvPr id="18" name="TextBox 17"/>
          <p:cNvSpPr txBox="1"/>
          <p:nvPr/>
        </p:nvSpPr>
        <p:spPr>
          <a:xfrm>
            <a:off x="6425031" y="2816352"/>
            <a:ext cx="4907127" cy="548640"/>
          </a:xfrm>
          <a:prstGeom prst="rect">
            <a:avLst/>
          </a:prstGeom>
          <a:noFill/>
        </p:spPr>
        <p:txBody>
          <a:bodyPr wrap="square" lIns="0" rIns="0" tIns="0" bIns="0">
            <a:spAutoFit/>
          </a:bodyPr>
          <a:lstStyle/>
          <a:p>
            <a:pPr algn="l">
              <a:lnSpc>
                <a:spcPct val="135000"/>
              </a:lnSpc>
            </a:pPr>
            <a:r>
              <a:rPr sz="1150" b="0">
                <a:solidFill>
                  <a:srgbClr val="C3C8BA"/>
                </a:solidFill>
                <a:latin typeface="Georgia"/>
              </a:rPr>
              <a:t>An agent that drafts a response for approval has to reach the person who approves. OpenClaw speaks Slack, Telegram, iMessage, Teams and more, from the box.</a:t>
            </a:r>
          </a:p>
        </p:txBody>
      </p:sp>
      <p:sp>
        <p:nvSpPr>
          <p:cNvPr id="19" name="Rectangle 18"/>
          <p:cNvSpPr/>
          <p:nvPr/>
        </p:nvSpPr>
        <p:spPr>
          <a:xfrm>
            <a:off x="6425031" y="3456432"/>
            <a:ext cx="4852263" cy="27432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8183" y="3511296"/>
            <a:ext cx="4724247" cy="201168"/>
          </a:xfrm>
          <a:prstGeom prst="rect">
            <a:avLst/>
          </a:prstGeom>
          <a:noFill/>
        </p:spPr>
        <p:txBody>
          <a:bodyPr wrap="square" lIns="0" rIns="0" tIns="0" bIns="0">
            <a:spAutoFit/>
          </a:bodyPr>
          <a:lstStyle/>
          <a:p>
            <a:pPr algn="l"/>
            <a:r>
              <a:rPr sz="900" b="0">
                <a:solidFill>
                  <a:srgbClr val="C8A04A"/>
                </a:solidFill>
                <a:latin typeface="Consolas"/>
              </a:rPr>
              <a:t>POST /tools/invoke   x-openclaw-message-channel: slack</a:t>
            </a:r>
          </a:p>
        </p:txBody>
      </p:sp>
      <p:sp>
        <p:nvSpPr>
          <p:cNvPr id="21" name="TextBox 20"/>
          <p:cNvSpPr txBox="1"/>
          <p:nvPr/>
        </p:nvSpPr>
        <p:spPr>
          <a:xfrm>
            <a:off x="6425031" y="3803904"/>
            <a:ext cx="4907127" cy="548640"/>
          </a:xfrm>
          <a:prstGeom prst="rect">
            <a:avLst/>
          </a:prstGeom>
          <a:noFill/>
        </p:spPr>
        <p:txBody>
          <a:bodyPr wrap="square" lIns="0" rIns="0" tIns="0" bIns="0">
            <a:spAutoFit/>
          </a:bodyPr>
          <a:lstStyle/>
          <a:p>
            <a:pPr algn="l">
              <a:lnSpc>
                <a:spcPct val="135000"/>
              </a:lnSpc>
            </a:pPr>
            <a:r>
              <a:rPr sz="1150" b="0">
                <a:solidFill>
                  <a:srgbClr val="C3C8BA"/>
                </a:solidFill>
                <a:latin typeface="Georgia"/>
              </a:rPr>
              <a:t>No inbox to check, no dashboard to remember. The exposure summary and the draft arrive in the thread they already work in.</a:t>
            </a:r>
          </a:p>
        </p:txBody>
      </p:sp>
      <p:sp>
        <p:nvSpPr>
          <p:cNvPr id="22" name="Rectangle 21"/>
          <p:cNvSpPr/>
          <p:nvPr/>
        </p:nvSpPr>
        <p:spPr>
          <a:xfrm>
            <a:off x="658368" y="4498848"/>
            <a:ext cx="10874959"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498848"/>
            <a:ext cx="38100" cy="100584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553712"/>
            <a:ext cx="10417759" cy="914400"/>
          </a:xfrm>
          <a:prstGeom prst="rect">
            <a:avLst/>
          </a:prstGeom>
          <a:noFill/>
        </p:spPr>
        <p:txBody>
          <a:bodyPr wrap="square" lIns="0" rIns="0" tIns="0" bIns="0">
            <a:spAutoFit/>
          </a:bodyPr>
          <a:lstStyle/>
          <a:p>
            <a:pPr algn="l">
              <a:lnSpc>
                <a:spcPct val="140000"/>
              </a:lnSpc>
            </a:pPr>
            <a:r>
              <a:rPr sz="1350" b="0">
                <a:solidFill>
                  <a:srgbClr val="E8EAE3"/>
                </a:solidFill>
                <a:latin typeface="Georgia"/>
              </a:rPr>
              <a:t>And it is layered, never depended on. The chain is OpenClaw → direct Ollama → deterministic template: if the gateway is off, unauthorised, or has that endpoint disabled, the assessment still arrives. Adding a gateway must not add a way to fail.</a:t>
            </a:r>
          </a:p>
        </p:txBody>
      </p:sp>
      <p:sp>
        <p:nvSpPr>
          <p:cNvPr id="25" name="TextBox 24"/>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GATEWAY ON 127.0.0.1:18789 · AUTH VIA BEARER TOKEN · A NON-LOCAL GATEWAY HOST IS REFUSED WITHOUT A SOCKET BEING OPENED</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10   WHAT IT SAVES   / 11</a:t>
            </a:r>
          </a:p>
        </p:txBody>
      </p:sp>
      <p:sp>
        <p:nvSpPr>
          <p:cNvPr id="5" name="TextBox 4"/>
          <p:cNvSpPr txBox="1"/>
          <p:nvPr/>
        </p:nvSpPr>
        <p:spPr>
          <a:xfrm>
            <a:off x="658368" y="932688"/>
            <a:ext cx="10874959" cy="1097280"/>
          </a:xfrm>
          <a:prstGeom prst="rect">
            <a:avLst/>
          </a:prstGeom>
          <a:noFill/>
        </p:spPr>
        <p:txBody>
          <a:bodyPr wrap="square" lIns="0" rIns="0" tIns="0" bIns="0">
            <a:spAutoFit/>
          </a:bodyPr>
          <a:lstStyle/>
          <a:p>
            <a:pPr algn="l">
              <a:lnSpc>
                <a:spcPct val="95000"/>
              </a:lnSpc>
            </a:pPr>
            <a:r>
              <a:rPr sz="3100" b="1">
                <a:solidFill>
                  <a:srgbClr val="E8EAE3"/>
                </a:solidFill>
                <a:latin typeface="Arial Narrow"/>
              </a:rPr>
              <a:t>WE DO NOT SHORTEN THE REPAIR. WE SHORTEN THE DISTANCE BETWEEN THE EVENT AND THE DECISION.</a:t>
            </a:r>
          </a:p>
        </p:txBody>
      </p:sp>
      <p:sp>
        <p:nvSpPr>
          <p:cNvPr id="6" name="Rectangle 5"/>
          <p:cNvSpPr/>
          <p:nvPr/>
        </p:nvSpPr>
        <p:spPr>
          <a:xfrm>
            <a:off x="658368" y="2157984"/>
            <a:ext cx="10874959" cy="1938528"/>
          </a:xfrm>
          <a:prstGeom prst="rect">
            <a:avLst/>
          </a:prstGeom>
          <a:solidFill>
            <a:srgbClr val="171B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340864"/>
            <a:ext cx="6766560" cy="274320"/>
          </a:xfrm>
          <a:prstGeom prst="rect">
            <a:avLst/>
          </a:prstGeom>
          <a:noFill/>
        </p:spPr>
        <p:txBody>
          <a:bodyPr wrap="square" lIns="0" rIns="0" tIns="0" bIns="0">
            <a:spAutoFit/>
          </a:bodyPr>
          <a:lstStyle/>
          <a:p>
            <a:pPr algn="l"/>
            <a:r>
              <a:rPr sz="1250" b="0">
                <a:solidFill>
                  <a:srgbClr val="C3C8BA"/>
                </a:solidFill>
                <a:latin typeface="Georgia"/>
              </a:rPr>
              <a:t>Rate while the plan is unexecutable</a:t>
            </a:r>
          </a:p>
        </p:txBody>
      </p:sp>
      <p:sp>
        <p:nvSpPr>
          <p:cNvPr id="8" name="TextBox 7"/>
          <p:cNvSpPr txBox="1"/>
          <p:nvPr/>
        </p:nvSpPr>
        <p:spPr>
          <a:xfrm>
            <a:off x="8881567" y="2340864"/>
            <a:ext cx="2377440" cy="310896"/>
          </a:xfrm>
          <a:prstGeom prst="rect">
            <a:avLst/>
          </a:prstGeom>
          <a:noFill/>
        </p:spPr>
        <p:txBody>
          <a:bodyPr wrap="square" lIns="0" rIns="0" tIns="0" bIns="0">
            <a:spAutoFit/>
          </a:bodyPr>
          <a:lstStyle/>
          <a:p>
            <a:pPr algn="r"/>
            <a:r>
              <a:rPr sz="1200" b="0">
                <a:solidFill>
                  <a:srgbClr val="E8EAE3"/>
                </a:solidFill>
                <a:latin typeface="Consolas"/>
              </a:rPr>
              <a:t>$33,000 / min</a:t>
            </a:r>
          </a:p>
        </p:txBody>
      </p:sp>
      <p:sp>
        <p:nvSpPr>
          <p:cNvPr id="9" name="TextBox 8"/>
          <p:cNvSpPr txBox="1"/>
          <p:nvPr/>
        </p:nvSpPr>
        <p:spPr>
          <a:xfrm>
            <a:off x="932688" y="2761488"/>
            <a:ext cx="6766560" cy="274320"/>
          </a:xfrm>
          <a:prstGeom prst="rect">
            <a:avLst/>
          </a:prstGeom>
          <a:noFill/>
        </p:spPr>
        <p:txBody>
          <a:bodyPr wrap="square" lIns="0" rIns="0" tIns="0" bIns="0">
            <a:spAutoFit/>
          </a:bodyPr>
          <a:lstStyle/>
          <a:p>
            <a:pPr algn="l"/>
            <a:r>
              <a:rPr sz="1250" b="0">
                <a:solidFill>
                  <a:srgbClr val="C3C8BA"/>
                </a:solidFill>
                <a:latin typeface="Georgia"/>
              </a:rPr>
              <a:t>Restoration window today, average</a:t>
            </a:r>
          </a:p>
        </p:txBody>
      </p:sp>
      <p:sp>
        <p:nvSpPr>
          <p:cNvPr id="10" name="TextBox 9"/>
          <p:cNvSpPr txBox="1"/>
          <p:nvPr/>
        </p:nvSpPr>
        <p:spPr>
          <a:xfrm>
            <a:off x="8881567" y="2761488"/>
            <a:ext cx="2377440" cy="310896"/>
          </a:xfrm>
          <a:prstGeom prst="rect">
            <a:avLst/>
          </a:prstGeom>
          <a:noFill/>
        </p:spPr>
        <p:txBody>
          <a:bodyPr wrap="square" lIns="0" rIns="0" tIns="0" bIns="0">
            <a:spAutoFit/>
          </a:bodyPr>
          <a:lstStyle/>
          <a:p>
            <a:pPr algn="r"/>
            <a:r>
              <a:rPr sz="1200" b="0">
                <a:solidFill>
                  <a:srgbClr val="E8EAE3"/>
                </a:solidFill>
                <a:latin typeface="Consolas"/>
              </a:rPr>
              <a:t>81 min</a:t>
            </a:r>
          </a:p>
        </p:txBody>
      </p:sp>
      <p:sp>
        <p:nvSpPr>
          <p:cNvPr id="11" name="TextBox 10"/>
          <p:cNvSpPr txBox="1"/>
          <p:nvPr/>
        </p:nvSpPr>
        <p:spPr>
          <a:xfrm>
            <a:off x="932688" y="3182112"/>
            <a:ext cx="6766560" cy="274320"/>
          </a:xfrm>
          <a:prstGeom prst="rect">
            <a:avLst/>
          </a:prstGeom>
          <a:noFill/>
        </p:spPr>
        <p:txBody>
          <a:bodyPr wrap="square" lIns="0" rIns="0" tIns="0" bIns="0">
            <a:spAutoFit/>
          </a:bodyPr>
          <a:lstStyle/>
          <a:p>
            <a:pPr algn="l"/>
            <a:r>
              <a:rPr sz="1250" b="0">
                <a:solidFill>
                  <a:srgbClr val="C3C8BA"/>
                </a:solidFill>
                <a:latin typeface="Georgia"/>
              </a:rPr>
              <a:t>Decision latency we remove — assumed, ~12% of the window</a:t>
            </a:r>
          </a:p>
        </p:txBody>
      </p:sp>
      <p:sp>
        <p:nvSpPr>
          <p:cNvPr id="12" name="TextBox 11"/>
          <p:cNvSpPr txBox="1"/>
          <p:nvPr/>
        </p:nvSpPr>
        <p:spPr>
          <a:xfrm>
            <a:off x="8881567" y="3182112"/>
            <a:ext cx="2377440" cy="310896"/>
          </a:xfrm>
          <a:prstGeom prst="rect">
            <a:avLst/>
          </a:prstGeom>
          <a:noFill/>
        </p:spPr>
        <p:txBody>
          <a:bodyPr wrap="square" lIns="0" rIns="0" tIns="0" bIns="0">
            <a:spAutoFit/>
          </a:bodyPr>
          <a:lstStyle/>
          <a:p>
            <a:pPr algn="r"/>
            <a:r>
              <a:rPr sz="1200" b="0">
                <a:solidFill>
                  <a:srgbClr val="E8EAE3"/>
                </a:solidFill>
                <a:latin typeface="Consolas"/>
              </a:rPr>
              <a:t>10 min</a:t>
            </a:r>
          </a:p>
        </p:txBody>
      </p:sp>
      <p:sp>
        <p:nvSpPr>
          <p:cNvPr id="13" name="Rectangle 12"/>
          <p:cNvSpPr/>
          <p:nvPr/>
        </p:nvSpPr>
        <p:spPr>
          <a:xfrm>
            <a:off x="932688" y="3547872"/>
            <a:ext cx="10326319" cy="25400"/>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694176"/>
            <a:ext cx="6766560" cy="274320"/>
          </a:xfrm>
          <a:prstGeom prst="rect">
            <a:avLst/>
          </a:prstGeom>
          <a:noFill/>
        </p:spPr>
        <p:txBody>
          <a:bodyPr wrap="square" lIns="0" rIns="0" tIns="0" bIns="0">
            <a:spAutoFit/>
          </a:bodyPr>
          <a:lstStyle/>
          <a:p>
            <a:pPr algn="l"/>
            <a:r>
              <a:rPr sz="1250" b="0">
                <a:solidFill>
                  <a:srgbClr val="E8EAE3"/>
                </a:solidFill>
                <a:latin typeface="Georgia"/>
              </a:rPr>
              <a:t>Avoided, per plan-invalidating event</a:t>
            </a:r>
          </a:p>
        </p:txBody>
      </p:sp>
      <p:sp>
        <p:nvSpPr>
          <p:cNvPr id="15" name="TextBox 14"/>
          <p:cNvSpPr txBox="1"/>
          <p:nvPr/>
        </p:nvSpPr>
        <p:spPr>
          <a:xfrm>
            <a:off x="8881567" y="3630168"/>
            <a:ext cx="2377440" cy="310896"/>
          </a:xfrm>
          <a:prstGeom prst="rect">
            <a:avLst/>
          </a:prstGeom>
          <a:noFill/>
        </p:spPr>
        <p:txBody>
          <a:bodyPr wrap="square" lIns="0" rIns="0" tIns="0" bIns="0">
            <a:spAutoFit/>
          </a:bodyPr>
          <a:lstStyle/>
          <a:p>
            <a:pPr algn="r"/>
            <a:r>
              <a:rPr sz="2000" b="1">
                <a:solidFill>
                  <a:srgbClr val="E3C483"/>
                </a:solidFill>
                <a:latin typeface="Arial Narrow"/>
              </a:rPr>
              <a:t>$330,000</a:t>
            </a:r>
          </a:p>
        </p:txBody>
      </p:sp>
      <p:sp>
        <p:nvSpPr>
          <p:cNvPr id="16" name="TextBox 15"/>
          <p:cNvSpPr txBox="1"/>
          <p:nvPr/>
        </p:nvSpPr>
        <p:spPr>
          <a:xfrm>
            <a:off x="932688" y="3675887"/>
            <a:ext cx="8412480" cy="365760"/>
          </a:xfrm>
          <a:prstGeom prst="rect">
            <a:avLst/>
          </a:prstGeom>
          <a:noFill/>
        </p:spPr>
        <p:txBody>
          <a:bodyPr wrap="square" lIns="0" rIns="0" tIns="0" bIns="0">
            <a:spAutoFit/>
          </a:bodyPr>
          <a:lstStyle/>
          <a:p>
            <a:pPr algn="l">
              <a:lnSpc>
                <a:spcPct val="135000"/>
              </a:lnSpc>
            </a:pPr>
            <a:r>
              <a:rPr sz="1100" b="0">
                <a:solidFill>
                  <a:srgbClr val="8D9486"/>
                </a:solidFill>
                <a:latin typeface="Georgia"/>
              </a:rPr>
              <a:t>Every input is on this slide so you can argue with the assumption rather than the total. Change the 10 minutes to 3 and it is $99,000. A single mid-size subcontractor seeing twelve such events a year, at ten minutes each, is $4.0M.</a:t>
            </a:r>
          </a:p>
        </p:txBody>
      </p:sp>
      <p:sp>
        <p:nvSpPr>
          <p:cNvPr id="17" name="Rectangle 16"/>
          <p:cNvSpPr/>
          <p:nvPr/>
        </p:nvSpPr>
        <p:spPr>
          <a:xfrm>
            <a:off x="658368" y="4261104"/>
            <a:ext cx="10874959" cy="1243584"/>
          </a:xfrm>
          <a:prstGeom prst="rect">
            <a:avLst/>
          </a:prstGeom>
          <a:solidFill>
            <a:srgbClr val="19120F"/>
          </a:solidFill>
          <a:ln w="12700">
            <a:solidFill>
              <a:srgbClr val="7D2F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389120"/>
            <a:ext cx="10417759" cy="219456"/>
          </a:xfrm>
          <a:prstGeom prst="rect">
            <a:avLst/>
          </a:prstGeom>
          <a:noFill/>
        </p:spPr>
        <p:txBody>
          <a:bodyPr wrap="square" lIns="0" rIns="0" tIns="0" bIns="0">
            <a:spAutoFit/>
          </a:bodyPr>
          <a:lstStyle/>
          <a:p>
            <a:pPr algn="l"/>
            <a:r>
              <a:rPr sz="1300" b="1" spc="120">
                <a:solidFill>
                  <a:srgbClr val="D4553F"/>
                </a:solidFill>
                <a:latin typeface="Arial Narrow"/>
              </a:rPr>
              <a:t>WHAT WE WILL NOT PUT ON THIS SLIDE</a:t>
            </a:r>
          </a:p>
        </p:txBody>
      </p:sp>
      <p:sp>
        <p:nvSpPr>
          <p:cNvPr id="19" name="TextBox 18"/>
          <p:cNvSpPr txBox="1"/>
          <p:nvPr/>
        </p:nvSpPr>
        <p:spPr>
          <a:xfrm>
            <a:off x="896112" y="4663440"/>
            <a:ext cx="10417759" cy="731520"/>
          </a:xfrm>
          <a:prstGeom prst="rect">
            <a:avLst/>
          </a:prstGeom>
          <a:noFill/>
        </p:spPr>
        <p:txBody>
          <a:bodyPr wrap="square" lIns="0" rIns="0" tIns="0" bIns="0">
            <a:spAutoFit/>
          </a:bodyPr>
          <a:lstStyle/>
          <a:p>
            <a:pPr algn="l">
              <a:lnSpc>
                <a:spcPct val="135000"/>
              </a:lnSpc>
            </a:pPr>
            <a:r>
              <a:rPr sz="1150" b="0">
                <a:solidFill>
                  <a:srgbClr val="C3C8BA"/>
                </a:solidFill>
                <a:latin typeface="Georgia"/>
              </a:rPr>
              <a:t>A national savings headline. The only defensible per-minute figure we can source is for a large plant; multiplying it across 12,000 small subcontractors would be arithmetic theatre, and you would be right to dismiss the rest of the deck for it. The macro anchor that IS sourced: 11% of revenue, up from 8% in five years. The national return is also schedule — and schedule slip on a fielded capability is measured in readiness, not dollars.</a:t>
            </a:r>
          </a:p>
        </p:txBody>
      </p:sp>
      <p:sp>
        <p:nvSpPr>
          <p:cNvPr id="20" name="TextBox 19"/>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RATE AND WINDOW: SIEMENS 2024. PER-EVENT TOTALS ARE MODELED FROM THOSE TWO INPUTS AND LABELED AS SUCH.</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7D2F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900" b="0" spc="160">
                <a:solidFill>
                  <a:srgbClr val="F4E6E2"/>
                </a:solidFill>
                <a:latin typeface="Consolas"/>
              </a:rPr>
              <a:t>UNCLASSIFIED  //  ILLUSTRATIVE FIGURES  //  CONTAINS NO CONTROLLED TECHNICAL DATA</a:t>
            </a:r>
          </a:p>
        </p:txBody>
      </p:sp>
      <p:sp>
        <p:nvSpPr>
          <p:cNvPr id="4" name="TextBox 3"/>
          <p:cNvSpPr txBox="1"/>
          <p:nvPr/>
        </p:nvSpPr>
        <p:spPr>
          <a:xfrm>
            <a:off x="658368" y="566928"/>
            <a:ext cx="10874959" cy="274320"/>
          </a:xfrm>
          <a:prstGeom prst="rect">
            <a:avLst/>
          </a:prstGeom>
          <a:noFill/>
        </p:spPr>
        <p:txBody>
          <a:bodyPr wrap="square" lIns="0" rIns="0" tIns="0" bIns="0">
            <a:spAutoFit/>
          </a:bodyPr>
          <a:lstStyle/>
          <a:p>
            <a:pPr algn="l"/>
            <a:r>
              <a:rPr sz="1050" b="0" spc="180">
                <a:solidFill>
                  <a:srgbClr val="C8A04A"/>
                </a:solidFill>
                <a:latin typeface="Consolas"/>
              </a:rPr>
              <a:t>11   BEYOND DEFENSE   / 11</a:t>
            </a:r>
          </a:p>
        </p:txBody>
      </p:sp>
      <p:sp>
        <p:nvSpPr>
          <p:cNvPr id="5" name="TextBox 4"/>
          <p:cNvSpPr txBox="1"/>
          <p:nvPr/>
        </p:nvSpPr>
        <p:spPr>
          <a:xfrm>
            <a:off x="658368" y="932688"/>
            <a:ext cx="10874959" cy="777240"/>
          </a:xfrm>
          <a:prstGeom prst="rect">
            <a:avLst/>
          </a:prstGeom>
          <a:noFill/>
        </p:spPr>
        <p:txBody>
          <a:bodyPr wrap="square" lIns="0" rIns="0" tIns="0" bIns="0">
            <a:spAutoFit/>
          </a:bodyPr>
          <a:lstStyle/>
          <a:p>
            <a:pPr algn="l">
              <a:lnSpc>
                <a:spcPct val="95000"/>
              </a:lnSpc>
            </a:pPr>
            <a:r>
              <a:rPr sz="3400" b="1">
                <a:solidFill>
                  <a:srgbClr val="E8EAE3"/>
                </a:solidFill>
                <a:latin typeface="Arial Narrow"/>
              </a:rPr>
              <a:t>THREE CONDITIONS. WHEREVER ALL THREE HOLD, THIS IS THE SAME PRODUCT.</a:t>
            </a:r>
          </a:p>
        </p:txBody>
      </p:sp>
      <p:sp>
        <p:nvSpPr>
          <p:cNvPr id="6" name="TextBox 5"/>
          <p:cNvSpPr txBox="1"/>
          <p:nvPr/>
        </p:nvSpPr>
        <p:spPr>
          <a:xfrm>
            <a:off x="658368" y="2011680"/>
            <a:ext cx="3442106" cy="274320"/>
          </a:xfrm>
          <a:prstGeom prst="rect">
            <a:avLst/>
          </a:prstGeom>
          <a:noFill/>
        </p:spPr>
        <p:txBody>
          <a:bodyPr wrap="square" lIns="0" rIns="0" tIns="0" bIns="0">
            <a:spAutoFit/>
          </a:bodyPr>
          <a:lstStyle/>
          <a:p>
            <a:pPr algn="l"/>
            <a:r>
              <a:rPr sz="1300" b="1" spc="140">
                <a:solidFill>
                  <a:srgbClr val="C8A04A"/>
                </a:solidFill>
                <a:latin typeface="Arial Narrow"/>
              </a:rPr>
              <a:t>01 · A DEPENDENCY GRAPH</a:t>
            </a:r>
          </a:p>
        </p:txBody>
      </p:sp>
      <p:sp>
        <p:nvSpPr>
          <p:cNvPr id="7" name="TextBox 6"/>
          <p:cNvSpPr txBox="1"/>
          <p:nvPr/>
        </p:nvSpPr>
        <p:spPr>
          <a:xfrm>
            <a:off x="658368" y="2359152"/>
            <a:ext cx="3442106" cy="1005840"/>
          </a:xfrm>
          <a:prstGeom prst="rect">
            <a:avLst/>
          </a:prstGeom>
          <a:noFill/>
        </p:spPr>
        <p:txBody>
          <a:bodyPr wrap="square" lIns="0" rIns="0" tIns="0" bIns="0">
            <a:spAutoFit/>
          </a:bodyPr>
          <a:lstStyle/>
          <a:p>
            <a:pPr algn="l">
              <a:lnSpc>
                <a:spcPct val="140000"/>
              </a:lnSpc>
            </a:pPr>
            <a:r>
              <a:rPr sz="1250" b="0">
                <a:solidFill>
                  <a:srgbClr val="C3C8BA"/>
                </a:solidFill>
                <a:latin typeface="Georgia"/>
              </a:rPr>
              <a:t>Things depend on things, more than one layer deep, and nobody can hold the whole graph in their head.</a:t>
            </a:r>
          </a:p>
        </p:txBody>
      </p:sp>
      <p:sp>
        <p:nvSpPr>
          <p:cNvPr id="8" name="TextBox 7"/>
          <p:cNvSpPr txBox="1"/>
          <p:nvPr/>
        </p:nvSpPr>
        <p:spPr>
          <a:xfrm>
            <a:off x="4374794" y="2011680"/>
            <a:ext cx="3442106" cy="274320"/>
          </a:xfrm>
          <a:prstGeom prst="rect">
            <a:avLst/>
          </a:prstGeom>
          <a:noFill/>
        </p:spPr>
        <p:txBody>
          <a:bodyPr wrap="square" lIns="0" rIns="0" tIns="0" bIns="0">
            <a:spAutoFit/>
          </a:bodyPr>
          <a:lstStyle/>
          <a:p>
            <a:pPr algn="l"/>
            <a:r>
              <a:rPr sz="1300" b="1" spc="140">
                <a:solidFill>
                  <a:srgbClr val="C8A04A"/>
                </a:solidFill>
                <a:latin typeface="Arial Narrow"/>
              </a:rPr>
              <a:t>02 · EVENTS THAT INVALIDATE PLANS</a:t>
            </a:r>
          </a:p>
        </p:txBody>
      </p:sp>
      <p:sp>
        <p:nvSpPr>
          <p:cNvPr id="9" name="TextBox 8"/>
          <p:cNvSpPr txBox="1"/>
          <p:nvPr/>
        </p:nvSpPr>
        <p:spPr>
          <a:xfrm>
            <a:off x="4374794" y="2359152"/>
            <a:ext cx="3442106" cy="1005840"/>
          </a:xfrm>
          <a:prstGeom prst="rect">
            <a:avLst/>
          </a:prstGeom>
          <a:noFill/>
        </p:spPr>
        <p:txBody>
          <a:bodyPr wrap="square" lIns="0" rIns="0" tIns="0" bIns="0">
            <a:spAutoFit/>
          </a:bodyPr>
          <a:lstStyle/>
          <a:p>
            <a:pPr algn="l">
              <a:lnSpc>
                <a:spcPct val="140000"/>
              </a:lnSpc>
            </a:pPr>
            <a:r>
              <a:rPr sz="1250" b="0">
                <a:solidFill>
                  <a:srgbClr val="C3C8BA"/>
                </a:solidFill>
                <a:latin typeface="Georgia"/>
              </a:rPr>
              <a:t>Something happens that makes the standing plan unexecutable, and a human must choose the replacement quickly.</a:t>
            </a:r>
          </a:p>
        </p:txBody>
      </p:sp>
      <p:sp>
        <p:nvSpPr>
          <p:cNvPr id="10" name="TextBox 9"/>
          <p:cNvSpPr txBox="1"/>
          <p:nvPr/>
        </p:nvSpPr>
        <p:spPr>
          <a:xfrm>
            <a:off x="8091220" y="2011680"/>
            <a:ext cx="3442106" cy="274320"/>
          </a:xfrm>
          <a:prstGeom prst="rect">
            <a:avLst/>
          </a:prstGeom>
          <a:noFill/>
        </p:spPr>
        <p:txBody>
          <a:bodyPr wrap="square" lIns="0" rIns="0" tIns="0" bIns="0">
            <a:spAutoFit/>
          </a:bodyPr>
          <a:lstStyle/>
          <a:p>
            <a:pPr algn="l"/>
            <a:r>
              <a:rPr sz="1300" b="1" spc="140">
                <a:solidFill>
                  <a:srgbClr val="C8A04A"/>
                </a:solidFill>
                <a:latin typeface="Arial Narrow"/>
              </a:rPr>
              <a:t>03 · DATA THAT CANNOT LEAVE</a:t>
            </a:r>
          </a:p>
        </p:txBody>
      </p:sp>
      <p:sp>
        <p:nvSpPr>
          <p:cNvPr id="11" name="TextBox 10"/>
          <p:cNvSpPr txBox="1"/>
          <p:nvPr/>
        </p:nvSpPr>
        <p:spPr>
          <a:xfrm>
            <a:off x="8091220" y="2359152"/>
            <a:ext cx="3442106" cy="1005840"/>
          </a:xfrm>
          <a:prstGeom prst="rect">
            <a:avLst/>
          </a:prstGeom>
          <a:noFill/>
        </p:spPr>
        <p:txBody>
          <a:bodyPr wrap="square" lIns="0" rIns="0" tIns="0" bIns="0">
            <a:spAutoFit/>
          </a:bodyPr>
          <a:lstStyle/>
          <a:p>
            <a:pPr algn="l">
              <a:lnSpc>
                <a:spcPct val="140000"/>
              </a:lnSpc>
            </a:pPr>
            <a:r>
              <a:rPr sz="1250" b="0">
                <a:solidFill>
                  <a:srgbClr val="C3C8BA"/>
                </a:solidFill>
                <a:latin typeface="Georgia"/>
              </a:rPr>
              <a:t>Law, contract, or plain commercial sense forbids sending the graph to a third party's model.</a:t>
            </a:r>
          </a:p>
        </p:txBody>
      </p:sp>
      <p:sp>
        <p:nvSpPr>
          <p:cNvPr id="12" name="Rectangle 11"/>
          <p:cNvSpPr/>
          <p:nvPr/>
        </p:nvSpPr>
        <p:spPr>
          <a:xfrm>
            <a:off x="658368" y="3566160"/>
            <a:ext cx="3266192" cy="310896"/>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639312"/>
            <a:ext cx="3083312" cy="182880"/>
          </a:xfrm>
          <a:prstGeom prst="rect">
            <a:avLst/>
          </a:prstGeom>
          <a:noFill/>
        </p:spPr>
        <p:txBody>
          <a:bodyPr wrap="square" lIns="0" rIns="0" tIns="0" bIns="0">
            <a:spAutoFit/>
          </a:bodyPr>
          <a:lstStyle/>
          <a:p>
            <a:pPr algn="l"/>
            <a:r>
              <a:rPr sz="900" b="0">
                <a:solidFill>
                  <a:srgbClr val="C3C8BA"/>
                </a:solidFill>
                <a:latin typeface="Consolas"/>
              </a:rPr>
              <a:t>Pharmaceutical · GxP, validated supply, sole-source APIs</a:t>
            </a:r>
          </a:p>
        </p:txBody>
      </p:sp>
      <p:sp>
        <p:nvSpPr>
          <p:cNvPr id="14" name="Rectangle 13"/>
          <p:cNvSpPr/>
          <p:nvPr/>
        </p:nvSpPr>
        <p:spPr>
          <a:xfrm>
            <a:off x="4016000" y="3566160"/>
            <a:ext cx="3209500" cy="310896"/>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5728" y="3639312"/>
            <a:ext cx="3026620" cy="182880"/>
          </a:xfrm>
          <a:prstGeom prst="rect">
            <a:avLst/>
          </a:prstGeom>
          <a:noFill/>
        </p:spPr>
        <p:txBody>
          <a:bodyPr wrap="square" lIns="0" rIns="0" tIns="0" bIns="0">
            <a:spAutoFit/>
          </a:bodyPr>
          <a:lstStyle/>
          <a:p>
            <a:pPr algn="l"/>
            <a:r>
              <a:rPr sz="900" b="0">
                <a:solidFill>
                  <a:srgbClr val="C3C8BA"/>
                </a:solidFill>
                <a:latin typeface="Consolas"/>
              </a:rPr>
              <a:t>Semiconductor · tool chains, allocation, export control</a:t>
            </a:r>
          </a:p>
        </p:txBody>
      </p:sp>
      <p:sp>
        <p:nvSpPr>
          <p:cNvPr id="16" name="Rectangle 15"/>
          <p:cNvSpPr/>
          <p:nvPr/>
        </p:nvSpPr>
        <p:spPr>
          <a:xfrm>
            <a:off x="7316940" y="3566160"/>
            <a:ext cx="2585888" cy="310896"/>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6668" y="3639312"/>
            <a:ext cx="2403008" cy="182880"/>
          </a:xfrm>
          <a:prstGeom prst="rect">
            <a:avLst/>
          </a:prstGeom>
          <a:noFill/>
        </p:spPr>
        <p:txBody>
          <a:bodyPr wrap="square" lIns="0" rIns="0" tIns="0" bIns="0">
            <a:spAutoFit/>
          </a:bodyPr>
          <a:lstStyle/>
          <a:p>
            <a:pPr algn="l"/>
            <a:r>
              <a:rPr sz="900" b="0">
                <a:solidFill>
                  <a:srgbClr val="C3C8BA"/>
                </a:solidFill>
                <a:latin typeface="Consolas"/>
              </a:rPr>
              <a:t>Energy · grid assets, long-lead transformers</a:t>
            </a:r>
          </a:p>
        </p:txBody>
      </p:sp>
      <p:sp>
        <p:nvSpPr>
          <p:cNvPr id="18" name="Rectangle 17"/>
          <p:cNvSpPr/>
          <p:nvPr/>
        </p:nvSpPr>
        <p:spPr>
          <a:xfrm>
            <a:off x="658368" y="3950208"/>
            <a:ext cx="2869348" cy="310896"/>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023360"/>
            <a:ext cx="2686468" cy="182880"/>
          </a:xfrm>
          <a:prstGeom prst="rect">
            <a:avLst/>
          </a:prstGeom>
          <a:noFill/>
        </p:spPr>
        <p:txBody>
          <a:bodyPr wrap="square" lIns="0" rIns="0" tIns="0" bIns="0">
            <a:spAutoFit/>
          </a:bodyPr>
          <a:lstStyle/>
          <a:p>
            <a:pPr algn="l"/>
            <a:r>
              <a:rPr sz="900" b="0">
                <a:solidFill>
                  <a:srgbClr val="C3C8BA"/>
                </a:solidFill>
                <a:latin typeface="Consolas"/>
              </a:rPr>
              <a:t>Hospital systems · PHI, single-source consumables</a:t>
            </a:r>
          </a:p>
        </p:txBody>
      </p:sp>
      <p:sp>
        <p:nvSpPr>
          <p:cNvPr id="20" name="Rectangle 19"/>
          <p:cNvSpPr/>
          <p:nvPr/>
        </p:nvSpPr>
        <p:spPr>
          <a:xfrm>
            <a:off x="3619156" y="3950208"/>
            <a:ext cx="2755964" cy="310896"/>
          </a:xfrm>
          <a:prstGeom prst="rect">
            <a:avLst/>
          </a:prstGeom>
          <a:solidFill>
            <a:srgbClr val="1E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28884" y="4023360"/>
            <a:ext cx="2573084" cy="182880"/>
          </a:xfrm>
          <a:prstGeom prst="rect">
            <a:avLst/>
          </a:prstGeom>
          <a:noFill/>
        </p:spPr>
        <p:txBody>
          <a:bodyPr wrap="square" lIns="0" rIns="0" tIns="0" bIns="0">
            <a:spAutoFit/>
          </a:bodyPr>
          <a:lstStyle/>
          <a:p>
            <a:pPr algn="l"/>
            <a:r>
              <a:rPr sz="900" b="0">
                <a:solidFill>
                  <a:srgbClr val="C3C8BA"/>
                </a:solidFill>
                <a:latin typeface="Consolas"/>
              </a:rPr>
              <a:t>Banking · vendor concentration under regulation</a:t>
            </a:r>
          </a:p>
        </p:txBody>
      </p:sp>
      <p:sp>
        <p:nvSpPr>
          <p:cNvPr id="22" name="TextBox 21"/>
          <p:cNvSpPr txBox="1"/>
          <p:nvPr/>
        </p:nvSpPr>
        <p:spPr>
          <a:xfrm>
            <a:off x="658368" y="4443984"/>
            <a:ext cx="8595360" cy="457200"/>
          </a:xfrm>
          <a:prstGeom prst="rect">
            <a:avLst/>
          </a:prstGeom>
          <a:noFill/>
        </p:spPr>
        <p:txBody>
          <a:bodyPr wrap="square" lIns="0" rIns="0" tIns="0" bIns="0">
            <a:spAutoFit/>
          </a:bodyPr>
          <a:lstStyle/>
          <a:p>
            <a:pPr algn="l">
              <a:lnSpc>
                <a:spcPct val="140000"/>
              </a:lnSpc>
            </a:pPr>
            <a:r>
              <a:rPr sz="1400" b="0">
                <a:solidFill>
                  <a:srgbClr val="C3C8BA"/>
                </a:solidFill>
                <a:latin typeface="Georgia"/>
              </a:rPr>
              <a:t>Defense is where the constraint is sharpest, which is why we built it there first. The architecture does not soften anywhere else — it simply stops being mandatory and starts being an advantage.</a:t>
            </a:r>
          </a:p>
        </p:txBody>
      </p:sp>
      <p:sp>
        <p:nvSpPr>
          <p:cNvPr id="23" name="Rectangle 22"/>
          <p:cNvSpPr/>
          <p:nvPr/>
        </p:nvSpPr>
        <p:spPr>
          <a:xfrm>
            <a:off x="658368" y="5120640"/>
            <a:ext cx="10874959"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5120640"/>
            <a:ext cx="38100" cy="566928"/>
          </a:xfrm>
          <a:prstGeom prst="rect">
            <a:avLst/>
          </a:prstGeom>
          <a:solidFill>
            <a:srgbClr val="C8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230368"/>
            <a:ext cx="10417759" cy="365760"/>
          </a:xfrm>
          <a:prstGeom prst="rect">
            <a:avLst/>
          </a:prstGeom>
          <a:noFill/>
        </p:spPr>
        <p:txBody>
          <a:bodyPr wrap="square" lIns="0" rIns="0" tIns="0" bIns="0">
            <a:spAutoFit/>
          </a:bodyPr>
          <a:lstStyle/>
          <a:p>
            <a:pPr algn="l">
              <a:lnSpc>
                <a:spcPct val="130000"/>
              </a:lnSpc>
            </a:pPr>
            <a:r>
              <a:rPr sz="1400" b="0">
                <a:solidFill>
                  <a:srgbClr val="E8EAE3"/>
                </a:solidFill>
                <a:latin typeface="Georgia"/>
              </a:rPr>
              <a:t>Ask: give us the stage, and we will run it live — insert an event into the database, touch nothing, and let the agent find it while you watch.</a:t>
            </a:r>
          </a:p>
        </p:txBody>
      </p:sp>
      <p:sp>
        <p:nvSpPr>
          <p:cNvPr id="26" name="TextBox 25"/>
          <p:cNvSpPr txBox="1"/>
          <p:nvPr/>
        </p:nvSpPr>
        <p:spPr>
          <a:xfrm>
            <a:off x="658368" y="6144768"/>
            <a:ext cx="10874959" cy="411480"/>
          </a:xfrm>
          <a:prstGeom prst="rect">
            <a:avLst/>
          </a:prstGeom>
          <a:noFill/>
        </p:spPr>
        <p:txBody>
          <a:bodyPr wrap="square" lIns="0" rIns="0" tIns="0" bIns="0">
            <a:spAutoFit/>
          </a:bodyPr>
          <a:lstStyle/>
          <a:p>
            <a:pPr algn="l">
              <a:lnSpc>
                <a:spcPct val="135000"/>
              </a:lnSpc>
            </a:pPr>
            <a:r>
              <a:rPr sz="850" b="0" spc="120">
                <a:solidFill>
                  <a:srgbClr val="8D9486"/>
                </a:solidFill>
                <a:latin typeface="Consolas"/>
              </a:rPr>
              <a:t>MARKOV · BUILT IN ONE DAY, ON ONE BOX, WITH NO CLOUD API CALL AT ANY POINT.</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